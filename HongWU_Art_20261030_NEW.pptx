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28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16603873" r:id="rId2"/>
    <p:sldId id="308" r:id="rId3"/>
    <p:sldId id="16603877" r:id="rId4"/>
    <p:sldId id="16603878" r:id="rId5"/>
    <p:sldId id="16603879" r:id="rId6"/>
    <p:sldId id="16603881" r:id="rId7"/>
    <p:sldId id="16603882" r:id="rId8"/>
    <p:sldId id="16603883" r:id="rId9"/>
    <p:sldId id="16603884" r:id="rId10"/>
    <p:sldId id="16603885" r:id="rId11"/>
    <p:sldId id="16603886" r:id="rId12"/>
    <p:sldId id="16603890" r:id="rId13"/>
    <p:sldId id="16603916" r:id="rId14"/>
    <p:sldId id="16603917" r:id="rId15"/>
    <p:sldId id="16603896" r:id="rId16"/>
    <p:sldId id="16603897" r:id="rId17"/>
    <p:sldId id="16603900" r:id="rId18"/>
    <p:sldId id="16603901" r:id="rId19"/>
    <p:sldId id="16603903" r:id="rId20"/>
    <p:sldId id="16603904" r:id="rId21"/>
    <p:sldId id="16603911" r:id="rId22"/>
    <p:sldId id="16603908" r:id="rId23"/>
    <p:sldId id="16603909" r:id="rId24"/>
    <p:sldId id="16603914" r:id="rId25"/>
    <p:sldId id="16603915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39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_1679281038" initials="W" lastIdx="0" clrIdx="0"/>
  <p:cmAuthor id="2" name="kechuying" initials="k" lastIdx="0" clrIdx="1"/>
  <p:cmAuthor id="3" name="作者" initials="A" lastIdx="0" clrIdx="2"/>
  <p:cmAuthor id="4" name="舒 鸿洋" initials="舒" lastIdx="0" clrIdx="3"/>
  <p:cmAuthor id="5" name="王雯" initials="王雯" lastIdx="0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CE2DD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93" autoAdjust="0"/>
    <p:restoredTop sz="94694"/>
  </p:normalViewPr>
  <p:slideViewPr>
    <p:cSldViewPr snapToGrid="0" showGuides="1">
      <p:cViewPr varScale="1">
        <p:scale>
          <a:sx n="59" d="100"/>
          <a:sy n="59" d="100"/>
        </p:scale>
        <p:origin x="1008" y="28"/>
      </p:cViewPr>
      <p:guideLst>
        <p:guide orient="horz" pos="2182"/>
        <p:guide pos="395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各位老师，今天交流HongWU大模型在艺术表现认知中的思考。大模型能够理解语言和组织任务，但艺术效用需要更高层次的感知、解释与持续协同。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就看上周，几件事情其实挤得非常近。9 月 2 日，《Nature》刚发表一篇综述，讨论 AI 怎样从给现成实验调参数，进一步走到实验装置本身的设计；9 月 4 日，Anthropic 公布了费马大定理证明的完整形式化；到了 9 月 8 日，一边是 Google DeepMind 发布 AlphaGenome Atlas，对大约 90 亿种可能的单碱基变异做大规模预测，另一边 OpenAI 又公布了关于 Navier–Stokes 开放问题的 AI 研究结果。【停】实验物理、三百多年前的数学问题、人类基因组，再加一个工程里天天在用的流体方程，这几件事情挤在同一周出现还是挺有意思的。AI 在里面到底分别做了什么？我们先从最耳熟的一件事开始。 当前页面本身就是用这四项近期进展作为全场入口。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物理实验说明，当目标、约束和验证办法相对明确时，AI可以有效搜索设计空间。我们借此引出艺术表现中更开放的评价问题。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数学证明能够经形式化系统逐步检验。艺术表现中的很多判断却没有这样完备的标准答案，这是后面要讨论的区别。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中文房间提醒我们：满足规则并不自动等于真正理解。动作清单能够核对旋转和落地，却不能穷尽美感、情感和音乐诠释。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符号匹配可以识别动作表象，但艺术表现认知需要把动作放回身体、空间、时间与情境中理解。</a:t>
            </a:r>
          </a:p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 err="1"/>
              <a:t>艺术认知首先要处理人体、器械和场馆的复杂物理耦合；其次存在难以形式化的艺术理解鸿沟</a:t>
            </a:r>
            <a:r>
              <a:rPr lang="zh-CN" altLang="en-US" dirty="0"/>
              <a:t>，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系统既要尽可能细致地描绘动作和状态，又不能简单以算法分数替代裁判、专家和艺术家的专业判断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</a:t>
            </a:r>
          </a:p>
          <a:p>
            <a:r>
              <a:rPr dirty="0"/>
              <a:t>；</a:t>
            </a:r>
            <a:r>
              <a:rPr dirty="0" err="1"/>
              <a:t>还必须面对运动员状态与临场表现的开放变化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沿用HongWU原来的五维思想，把Water Utility的应用目标延伸为Artistic Utility。大模型是基础桥梁，专家反馈与世界刻画才把它带向艺术认知。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物理事实层和AI认知层相互支撑：前者测量身体和场馆，后者结合教练、裁判及个体表现不断更新解释。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392B679-AE23-4750-8FB0-6513430B895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对可建模的物理世界进行精细刻画，对无法一次穷尽的艺术评价进行人机协商。两个方向相互传递证据与约束。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将感知、状态表征、任务组织、专项模型、评价与训练反馈连接起来。此图是方法架构，而不是已经实现的完整自动艺术评分系统。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dirty="0" err="1"/>
              <a:t>显性层次包括姿态、技术事件、难度和完整成套；隐性层次包括音乐、美感、风格、情感及裁判解释。分层不是把主观艺术简单变成机械分数</a:t>
            </a:r>
            <a:r>
              <a:rPr dirty="0"/>
              <a:t>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dirty="0"/>
              <a:t>有了原子能力，再看怎么组合。每个能力通过统一接口注册到“水利智能体广场”：空间维度上有大湾区河口、南沙水网、广州区域；业务维度上有风暴潮、水动力、咸潮、闸泵、水生态、风险校核。</a:t>
            </a:r>
          </a:p>
          <a:p>
            <a:r>
              <a:rPr lang="zh-CN" altLang="en-US" sz="1200" dirty="0"/>
              <a:t>输入工程任务与约束后，认知大模型中枢理解需求、自动规划任务图，通过MCP工具调用，串行或并行执行各子智能体，并负责状态管理和异常处理。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04119-3ABA-735F-AF11-61DD6722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5677C3E-E9A0-9FDA-9A0E-C3EB3D41E9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9AFD2C-7712-ED7C-7BB5-0CB4E7C97CBD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sz="1200" dirty="0"/>
              <a:t>第四个关键词是ON-demand，按需。工程态势持续变化，感知任务、模型配置和求解粒度也要随之调整。</a:t>
            </a:r>
          </a:p>
          <a:p>
            <a:r>
              <a:rPr lang="zh-CN" altLang="en-US" sz="1200" dirty="0"/>
              <a:t>比如在堤坝、库区、弱光等复杂工况下，我们按需组织高精度声呐、激光雷达、RGB-D相机等多源传感，做多模态对齐和特征融合，再由环境驱动的智能决策系统完成物探检测分析。</a:t>
            </a:r>
          </a:p>
        </p:txBody>
      </p:sp>
    </p:spTree>
    <p:extLst>
      <p:ext uri="{BB962C8B-B14F-4D97-AF65-F5344CB8AC3E}">
        <p14:creationId xmlns:p14="http://schemas.microsoft.com/office/powerpoint/2010/main" val="14182805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按需也包括专家的按需介入。我们不追求一次性输出方案，而是建立人在回路的闭环决策。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按当前任务调用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姿态、生理、节奏和规则</a:t>
            </a:r>
            <a:r>
              <a:rPr lang="zh-CN" altLang="en-US" dirty="0"/>
              <a:t>等子智能体；围绕多目标约束协同寻优；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表演者反馈身体不适，新增了硬约束；编导要求保留情绪高潮段；教练确定技术路线。系统随即定位受影响的动作段落，只重新分析这些部分，形成新版方案，再进入下一轮排练验证。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短期跟踪身体动态，中期形成个体化校准，长期在专家经验和真实场景中扩展艺术理解。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新动作、临场失误和超常发挥不能穷举。系统应在明确证据边界后提供解释，并接受人类纠正。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这一页保留原团队的认知计算与大模型研究历史。我们希望把其中可复用的思想进一步带入艺术表现研究。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不同任务的认知成本不同：规则问题可检索，姿态问题需模型，动态器械协同要时序融合，整套艺术编排则需要专家协同。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自然语言反馈能够承载专业评价理由和修改建议，但不意味着语言模型就具备完整的艺术鉴赏能力。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内省和反馈机制提供持续校准的可能。身体测量与人类精神体验应严格区分，不能把生理信号当作情绪真值。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将固定模型、固定评分和一次性建设转向按需配置、专家修订和持续演化。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四维智能性评价在这里是一种研究性框架。若要实时支持高水平运动表现，还必须共同考虑精度、延迟及算力成本。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t>Artistic World Utility把智能场馆、人体器械、动态生理状态的世界模型，与艺术效用这一开放问题衔接起来。评价需要人类持续协商。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Mind Bridge表达的是人类与AI在交互中共同进化。机器学习专家如何判断，运动员和教练也借助机器证据修订理解，逐步缩小认知鸿沟。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以上是我们从复杂系统求解走向艺术表现认知的一点思考。谢谢大家。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cxnSp>
        <p:nvCxnSpPr>
          <p:cNvPr id="7" name="直接连接符 6"/>
          <p:cNvCxnSpPr/>
          <p:nvPr userDrawn="1"/>
        </p:nvCxnSpPr>
        <p:spPr>
          <a:xfrm>
            <a:off x="1007435" y="833864"/>
            <a:ext cx="10465163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 userDrawn="1"/>
        </p:nvGrpSpPr>
        <p:grpSpPr>
          <a:xfrm>
            <a:off x="335360" y="277338"/>
            <a:ext cx="576064" cy="559375"/>
            <a:chOff x="298460" y="987574"/>
            <a:chExt cx="288032" cy="279687"/>
          </a:xfrm>
        </p:grpSpPr>
        <p:sp>
          <p:nvSpPr>
            <p:cNvPr id="9" name="矩形 8"/>
            <p:cNvSpPr/>
            <p:nvPr/>
          </p:nvSpPr>
          <p:spPr>
            <a:xfrm>
              <a:off x="298460" y="987574"/>
              <a:ext cx="216024" cy="216024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406472" y="1087241"/>
              <a:ext cx="180020" cy="18002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1219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24F12-EDBF-354B-BA24-DCC70C3AB5FB}" type="datetimeFigureOut">
              <a:rPr lang="en-US" smtClean="0"/>
              <a:t>10/30/2026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110198-7590-DC4D-B6B0-C004DA4AF55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457200"/>
            <a:fld id="{79F24F12-EDBF-354B-BA24-DCC70C3AB5F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t>10/30/2026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457200"/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457200"/>
            <a:fld id="{1B110198-7590-DC4D-B6B0-C004DA4AF551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内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lance-anderson-QdAAasrZhdk-unsplash"/>
          <p:cNvPicPr/>
          <p:nvPr userDrawn="1"/>
        </p:nvPicPr>
        <p:blipFill rotWithShape="1">
          <a:blip r:embed="rId2"/>
          <a:srcRect/>
          <a:stretch>
            <a:fillRect/>
          </a:stretch>
        </p:blipFill>
        <p:spPr>
          <a:xfrm>
            <a:off x="0" y="0"/>
            <a:ext cx="12191999" cy="800100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ang="0" scaled="0"/>
          </a:gradFill>
        </p:spPr>
      </p:pic>
      <p:grpSp>
        <p:nvGrpSpPr>
          <p:cNvPr id="7" name="组合 6"/>
          <p:cNvGrpSpPr/>
          <p:nvPr userDrawn="1"/>
        </p:nvGrpSpPr>
        <p:grpSpPr>
          <a:xfrm>
            <a:off x="10564791" y="17780"/>
            <a:ext cx="1678902" cy="944382"/>
            <a:chOff x="10363376" y="-86192"/>
            <a:chExt cx="1899129" cy="1068260"/>
          </a:xfrm>
        </p:grpSpPr>
        <p:pic>
          <p:nvPicPr>
            <p:cNvPr id="27" name="Picture 5_1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19" name="Picture 5_1_1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  <p:pic>
          <p:nvPicPr>
            <p:cNvPr id="20" name="Picture 5_1_2" descr="图片包含 建筑, 黑暗, 围栏, 大&#10;&#10;描述已自动生成"/>
            <p:cNvPicPr>
              <a:picLocks noChangeAspect="1"/>
            </p:cNvPicPr>
            <p:nvPr userDrawn="1"/>
          </p:nvPicPr>
          <p:blipFill>
            <a:blip r:embed="rId3" cstate="print">
              <a:duotone>
                <a:prstClr val="black"/>
                <a:schemeClr val="accent1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363376" y="-86192"/>
              <a:ext cx="1899129" cy="10682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7689" y="48685"/>
            <a:ext cx="10969200" cy="705600"/>
          </a:xfrm>
        </p:spPr>
        <p:txBody>
          <a:bodyPr>
            <a:normAutofit/>
          </a:bodyPr>
          <a:lstStyle>
            <a:lvl1pPr marL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3200" b="1" u="none" strike="noStrike" kern="1200" cap="none" spc="150" normalizeH="0" baseline="0" dirty="0">
                <a:gradFill>
                  <a:gsLst>
                    <a:gs pos="100000">
                      <a:schemeClr val="accent1">
                        <a:lumMod val="90000"/>
                      </a:schemeClr>
                    </a:gs>
                    <a:gs pos="20000">
                      <a:schemeClr val="accent1">
                        <a:lumMod val="50000"/>
                      </a:schemeClr>
                    </a:gs>
                  </a:gsLst>
                  <a:lin ang="2700000" scaled="0"/>
                </a:gradFill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1" y="800099"/>
            <a:ext cx="12192000" cy="81459"/>
          </a:xfrm>
          <a:prstGeom prst="rect">
            <a:avLst/>
          </a:prstGeom>
          <a:gradFill>
            <a:gsLst>
              <a:gs pos="100000">
                <a:srgbClr val="EEC988"/>
              </a:gs>
              <a:gs pos="0">
                <a:srgbClr val="CB954D"/>
              </a:gs>
            </a:gsLst>
            <a:lin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5" name="图片 4" descr="校徽1918（白底）圆框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065474" y="99664"/>
            <a:ext cx="677536" cy="645272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p14:dur="200">
        <p:wipe/>
      </p:transition>
    </mc:Choice>
    <mc:Fallback xmlns="">
      <p:transition>
        <p:wip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000" contrast="-5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t>2026/10/30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9.jp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notesSlide" Target="../notesSlides/notesSlide6.xml"/><Relationship Id="rId2" Type="http://schemas.openxmlformats.org/officeDocument/2006/relationships/tags" Target="../tags/tag2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1.jp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20.jp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jpg"/><Relationship Id="rId3" Type="http://schemas.openxmlformats.org/officeDocument/2006/relationships/image" Target="../media/image30.jp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jpg"/><Relationship Id="rId5" Type="http://schemas.openxmlformats.org/officeDocument/2006/relationships/image" Target="../media/image32.jpg"/><Relationship Id="rId4" Type="http://schemas.openxmlformats.org/officeDocument/2006/relationships/image" Target="../media/image31.jp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image" Target="../media/image46.png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45.png"/><Relationship Id="rId2" Type="http://schemas.openxmlformats.org/officeDocument/2006/relationships/tags" Target="../tags/tag21.xml"/><Relationship Id="rId16" Type="http://schemas.openxmlformats.org/officeDocument/2006/relationships/image" Target="../media/image49.png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44.png"/><Relationship Id="rId5" Type="http://schemas.openxmlformats.org/officeDocument/2006/relationships/tags" Target="../tags/tag24.xml"/><Relationship Id="rId15" Type="http://schemas.openxmlformats.org/officeDocument/2006/relationships/image" Target="../media/image48.png"/><Relationship Id="rId10" Type="http://schemas.openxmlformats.org/officeDocument/2006/relationships/notesSlide" Target="../notesSlides/notesSlide15.xml"/><Relationship Id="rId4" Type="http://schemas.openxmlformats.org/officeDocument/2006/relationships/tags" Target="../tags/tag23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58.png"/><Relationship Id="rId10" Type="http://schemas.openxmlformats.org/officeDocument/2006/relationships/image" Target="../media/image63.png"/><Relationship Id="rId4" Type="http://schemas.openxmlformats.org/officeDocument/2006/relationships/image" Target="../media/image57.png"/><Relationship Id="rId9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.xml"/><Relationship Id="rId4" Type="http://schemas.openxmlformats.org/officeDocument/2006/relationships/image" Target="../media/image6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10" Type="http://schemas.openxmlformats.org/officeDocument/2006/relationships/notesSlide" Target="../notesSlides/notesSlide21.xml"/><Relationship Id="rId4" Type="http://schemas.openxmlformats.org/officeDocument/2006/relationships/tags" Target="../tags/tag32.xml"/><Relationship Id="rId9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2409371" cy="2496457"/>
          </a:xfrm>
          <a:custGeom>
            <a:avLst/>
            <a:gdLst>
              <a:gd name="connsiteX0" fmla="*/ 0 w 2393156"/>
              <a:gd name="connsiteY0" fmla="*/ 0 h 2158466"/>
              <a:gd name="connsiteX1" fmla="*/ 2393156 w 2393156"/>
              <a:gd name="connsiteY1" fmla="*/ 0 h 2158466"/>
              <a:gd name="connsiteX2" fmla="*/ 2393156 w 2393156"/>
              <a:gd name="connsiteY2" fmla="*/ 2158466 h 2158466"/>
              <a:gd name="connsiteX3" fmla="*/ 0 w 2393156"/>
              <a:gd name="connsiteY3" fmla="*/ 2158466 h 2158466"/>
              <a:gd name="connsiteX4" fmla="*/ 0 w 2393156"/>
              <a:gd name="connsiteY4" fmla="*/ 0 h 2158466"/>
              <a:gd name="connsiteX0-1" fmla="*/ 0 w 2393156"/>
              <a:gd name="connsiteY0-2" fmla="*/ 0 h 2158466"/>
              <a:gd name="connsiteX1-3" fmla="*/ 2393156 w 2393156"/>
              <a:gd name="connsiteY1-4" fmla="*/ 0 h 2158466"/>
              <a:gd name="connsiteX2-5" fmla="*/ 0 w 2393156"/>
              <a:gd name="connsiteY2-6" fmla="*/ 2158466 h 2158466"/>
              <a:gd name="connsiteX3-7" fmla="*/ 0 w 2393156"/>
              <a:gd name="connsiteY3-8" fmla="*/ 0 h 2158466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2393156" h="2158466">
                <a:moveTo>
                  <a:pt x="0" y="0"/>
                </a:moveTo>
                <a:lnTo>
                  <a:pt x="2393156" y="0"/>
                </a:lnTo>
                <a:lnTo>
                  <a:pt x="0" y="2158466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4271797" y="164638"/>
            <a:ext cx="3456384" cy="319421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9" name="Picture 2" descr="E:\DISK-2014-11-PERSONAL\EPIC-LAB\LOGO&amp;WEB\epicjpg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39883" y="644691"/>
            <a:ext cx="1920000" cy="2379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12"/>
          <p:cNvSpPr txBox="1"/>
          <p:nvPr/>
        </p:nvSpPr>
        <p:spPr>
          <a:xfrm>
            <a:off x="1588770" y="3359150"/>
            <a:ext cx="9702165" cy="1131570"/>
          </a:xfrm>
          <a:prstGeom prst="rect">
            <a:avLst/>
          </a:prstGeom>
        </p:spPr>
        <p:txBody>
          <a:bodyPr vert="horz" lIns="0" tIns="60960" rIns="0" bIns="60960" rtlCol="0" anchor="ctr">
            <a:noAutofit/>
          </a:bodyPr>
          <a:lstStyle>
            <a:defPPr>
              <a:defRPr lang="zh-CN"/>
            </a:defPPr>
            <a:lvl1pPr marL="0" indent="0" algn="ctr" defTabSz="914400" rtl="0" eaLnBrk="1" latinLnBrk="0" hangingPunct="1">
              <a:buNone/>
              <a:defRPr sz="3000" b="0" kern="1200" baseline="0">
                <a:solidFill>
                  <a:schemeClr val="accent1"/>
                </a:solidFill>
                <a:latin typeface="U.S. 101" pitchFamily="2" charset="0"/>
                <a:ea typeface="Roboto" panose="02000000000000000000" pitchFamily="2" charset="0"/>
                <a:cs typeface="+mn-cs"/>
              </a:defRPr>
            </a:lvl1pPr>
            <a:lvl2pPr marL="3429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l" defTabSz="914400" rtl="0" eaLnBrk="1" latinLnBrk="0" hangingPunct="1"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2192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HongWU大模型及艺术表现认知智能体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TextBox 13"/>
          <p:cNvSpPr txBox="1"/>
          <p:nvPr/>
        </p:nvSpPr>
        <p:spPr>
          <a:xfrm>
            <a:off x="2064474" y="4627267"/>
            <a:ext cx="8155541" cy="1422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lnSpc>
                <a:spcPct val="150000"/>
              </a:lnSpc>
              <a:defRPr/>
            </a:pP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Min Chen, IEEE Fellow      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Google Scholar Citations: 57,800+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GB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指数 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106       </a:t>
            </a:r>
          </a:p>
          <a:p>
            <a:pPr lvl="0" algn="ctr">
              <a:lnSpc>
                <a:spcPct val="150000"/>
              </a:lnSpc>
              <a:defRPr/>
            </a:pP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全球高被引学者（</a:t>
            </a:r>
            <a:r>
              <a:rPr lang="en-US" altLang="zh-CN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2018-2026</a:t>
            </a:r>
            <a:r>
              <a:rPr lang="zh-CN" altLang="en-US" sz="2000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159563" y="4595984"/>
            <a:ext cx="7906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9"/>
          <p:cNvGrpSpPr/>
          <p:nvPr/>
        </p:nvGrpSpPr>
        <p:grpSpPr>
          <a:xfrm>
            <a:off x="563909" y="3055304"/>
            <a:ext cx="10973371" cy="3034346"/>
            <a:chOff x="959" y="5393"/>
            <a:chExt cx="17280" cy="5009"/>
          </a:xfrm>
        </p:grpSpPr>
        <p:sp>
          <p:nvSpPr>
            <p:cNvPr id="3" name="任意多边形: 形状 18"/>
            <p:cNvSpPr/>
            <p:nvPr/>
          </p:nvSpPr>
          <p:spPr>
            <a:xfrm>
              <a:off x="959" y="7983"/>
              <a:ext cx="4320" cy="2419"/>
            </a:xfrm>
            <a:custGeom>
              <a:avLst/>
              <a:gdLst>
                <a:gd name="connsiteX0" fmla="*/ 2716636 w 2716635"/>
                <a:gd name="connsiteY0" fmla="*/ 632788 h 1536050"/>
                <a:gd name="connsiteX1" fmla="*/ 2716636 w 2716635"/>
                <a:gd name="connsiteY1" fmla="*/ 1536051 h 1536050"/>
                <a:gd name="connsiteX2" fmla="*/ 0 w 2716635"/>
                <a:gd name="connsiteY2" fmla="*/ 1536051 h 1536050"/>
                <a:gd name="connsiteX3" fmla="*/ 0 w 2716635"/>
                <a:gd name="connsiteY3" fmla="*/ 281136 h 1536050"/>
                <a:gd name="connsiteX4" fmla="*/ 1575437 w 2716635"/>
                <a:gd name="connsiteY4" fmla="*/ 140093 h 1536050"/>
                <a:gd name="connsiteX5" fmla="*/ 2716636 w 2716635"/>
                <a:gd name="connsiteY5" fmla="*/ 632713 h 153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1536050">
                  <a:moveTo>
                    <a:pt x="2716636" y="632788"/>
                  </a:moveTo>
                  <a:lnTo>
                    <a:pt x="2716636" y="1536051"/>
                  </a:lnTo>
                  <a:lnTo>
                    <a:pt x="0" y="1536051"/>
                  </a:lnTo>
                  <a:lnTo>
                    <a:pt x="0" y="281136"/>
                  </a:lnTo>
                  <a:cubicBezTo>
                    <a:pt x="278735" y="102645"/>
                    <a:pt x="870075" y="-168098"/>
                    <a:pt x="1575437" y="140093"/>
                  </a:cubicBezTo>
                  <a:cubicBezTo>
                    <a:pt x="2080083" y="360600"/>
                    <a:pt x="2426484" y="571668"/>
                    <a:pt x="2716636" y="632713"/>
                  </a:cubicBezTo>
                  <a:close/>
                </a:path>
              </a:pathLst>
            </a:custGeom>
            <a:solidFill>
              <a:srgbClr val="72A9D9">
                <a:lumMod val="75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53975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4" name="任意多边形: 形状 19"/>
            <p:cNvSpPr/>
            <p:nvPr/>
          </p:nvSpPr>
          <p:spPr>
            <a:xfrm>
              <a:off x="5279" y="7321"/>
              <a:ext cx="4320" cy="3080"/>
            </a:xfrm>
            <a:custGeom>
              <a:avLst/>
              <a:gdLst>
                <a:gd name="connsiteX0" fmla="*/ 2716484 w 2716483"/>
                <a:gd name="connsiteY0" fmla="*/ 0 h 1956090"/>
                <a:gd name="connsiteX1" fmla="*/ 2716484 w 2716483"/>
                <a:gd name="connsiteY1" fmla="*/ 1956090 h 1956090"/>
                <a:gd name="connsiteX2" fmla="*/ 0 w 2716483"/>
                <a:gd name="connsiteY2" fmla="*/ 1956090 h 1956090"/>
                <a:gd name="connsiteX3" fmla="*/ 0 w 2716483"/>
                <a:gd name="connsiteY3" fmla="*/ 1052828 h 1956090"/>
                <a:gd name="connsiteX4" fmla="*/ 762524 w 2716483"/>
                <a:gd name="connsiteY4" fmla="*/ 698816 h 1956090"/>
                <a:gd name="connsiteX5" fmla="*/ 2524825 w 2716483"/>
                <a:gd name="connsiteY5" fmla="*/ 15223 h 1956090"/>
                <a:gd name="connsiteX6" fmla="*/ 2716484 w 2716483"/>
                <a:gd name="connsiteY6" fmla="*/ 0 h 195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483" h="1956090">
                  <a:moveTo>
                    <a:pt x="2716484" y="0"/>
                  </a:moveTo>
                  <a:lnTo>
                    <a:pt x="2716484" y="1956090"/>
                  </a:lnTo>
                  <a:lnTo>
                    <a:pt x="0" y="1956090"/>
                  </a:lnTo>
                  <a:lnTo>
                    <a:pt x="0" y="1052828"/>
                  </a:lnTo>
                  <a:cubicBezTo>
                    <a:pt x="275995" y="1110904"/>
                    <a:pt x="500916" y="1033267"/>
                    <a:pt x="762524" y="698816"/>
                  </a:cubicBezTo>
                  <a:cubicBezTo>
                    <a:pt x="1180322" y="164562"/>
                    <a:pt x="1407603" y="-61349"/>
                    <a:pt x="2524825" y="15223"/>
                  </a:cubicBezTo>
                  <a:cubicBezTo>
                    <a:pt x="2524825" y="15223"/>
                    <a:pt x="2599190" y="22226"/>
                    <a:pt x="2716484" y="0"/>
                  </a:cubicBezTo>
                  <a:close/>
                </a:path>
              </a:pathLst>
            </a:custGeom>
            <a:solidFill>
              <a:srgbClr val="72A9D9"/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93599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5" name="任意多边形: 形状 20"/>
            <p:cNvSpPr/>
            <p:nvPr/>
          </p:nvSpPr>
          <p:spPr>
            <a:xfrm>
              <a:off x="9599" y="6256"/>
              <a:ext cx="4320" cy="4146"/>
            </a:xfrm>
            <a:custGeom>
              <a:avLst/>
              <a:gdLst>
                <a:gd name="connsiteX0" fmla="*/ 2716484 w 2716559"/>
                <a:gd name="connsiteY0" fmla="*/ 809282 h 2632398"/>
                <a:gd name="connsiteX1" fmla="*/ 2716484 w 2716559"/>
                <a:gd name="connsiteY1" fmla="*/ 2632399 h 2632398"/>
                <a:gd name="connsiteX2" fmla="*/ 0 w 2716559"/>
                <a:gd name="connsiteY2" fmla="*/ 2632399 h 2632398"/>
                <a:gd name="connsiteX3" fmla="*/ 0 w 2716559"/>
                <a:gd name="connsiteY3" fmla="*/ 676308 h 2632398"/>
                <a:gd name="connsiteX4" fmla="*/ 702165 w 2716559"/>
                <a:gd name="connsiteY4" fmla="*/ 265970 h 2632398"/>
                <a:gd name="connsiteX5" fmla="*/ 2393754 w 2716559"/>
                <a:gd name="connsiteY5" fmla="*/ 624549 h 2632398"/>
                <a:gd name="connsiteX6" fmla="*/ 2716560 w 2716559"/>
                <a:gd name="connsiteY6" fmla="*/ 809282 h 263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559" h="2632398">
                  <a:moveTo>
                    <a:pt x="2716484" y="809282"/>
                  </a:moveTo>
                  <a:lnTo>
                    <a:pt x="2716484" y="2632399"/>
                  </a:lnTo>
                  <a:lnTo>
                    <a:pt x="0" y="2632399"/>
                  </a:lnTo>
                  <a:lnTo>
                    <a:pt x="0" y="676308"/>
                  </a:lnTo>
                  <a:cubicBezTo>
                    <a:pt x="174000" y="643274"/>
                    <a:pt x="442611" y="546074"/>
                    <a:pt x="702165" y="265970"/>
                  </a:cubicBezTo>
                  <a:cubicBezTo>
                    <a:pt x="1136327" y="-202445"/>
                    <a:pt x="1585408" y="-33164"/>
                    <a:pt x="2393754" y="624549"/>
                  </a:cubicBezTo>
                  <a:cubicBezTo>
                    <a:pt x="2505796" y="715812"/>
                    <a:pt x="2613271" y="775334"/>
                    <a:pt x="2716560" y="809282"/>
                  </a:cubicBezTo>
                  <a:close/>
                </a:path>
              </a:pathLst>
            </a:custGeom>
            <a:solidFill>
              <a:srgbClr val="72A9D9">
                <a:lumMod val="80000"/>
                <a:lumOff val="20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1619885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6" name="任意多边形: 形状 21"/>
            <p:cNvSpPr/>
            <p:nvPr/>
          </p:nvSpPr>
          <p:spPr>
            <a:xfrm>
              <a:off x="13919" y="5393"/>
              <a:ext cx="4320" cy="5008"/>
            </a:xfrm>
            <a:custGeom>
              <a:avLst/>
              <a:gdLst>
                <a:gd name="connsiteX0" fmla="*/ 2716636 w 2716635"/>
                <a:gd name="connsiteY0" fmla="*/ 748 h 3179860"/>
                <a:gd name="connsiteX1" fmla="*/ 2716636 w 2716635"/>
                <a:gd name="connsiteY1" fmla="*/ 3179861 h 3179860"/>
                <a:gd name="connsiteX2" fmla="*/ 0 w 2716635"/>
                <a:gd name="connsiteY2" fmla="*/ 3179861 h 3179860"/>
                <a:gd name="connsiteX3" fmla="*/ 0 w 2716635"/>
                <a:gd name="connsiteY3" fmla="*/ 1356744 h 3179860"/>
                <a:gd name="connsiteX4" fmla="*/ 1023219 w 2716635"/>
                <a:gd name="connsiteY4" fmla="*/ 979516 h 3179860"/>
                <a:gd name="connsiteX5" fmla="*/ 2716636 w 2716635"/>
                <a:gd name="connsiteY5" fmla="*/ 748 h 317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3179860">
                  <a:moveTo>
                    <a:pt x="2716636" y="748"/>
                  </a:moveTo>
                  <a:lnTo>
                    <a:pt x="2716636" y="3179861"/>
                  </a:lnTo>
                  <a:lnTo>
                    <a:pt x="0" y="3179861"/>
                  </a:lnTo>
                  <a:lnTo>
                    <a:pt x="0" y="1356744"/>
                  </a:lnTo>
                  <a:cubicBezTo>
                    <a:pt x="394506" y="1486825"/>
                    <a:pt x="727359" y="1244854"/>
                    <a:pt x="1023219" y="979516"/>
                  </a:cubicBezTo>
                  <a:cubicBezTo>
                    <a:pt x="1194708" y="825610"/>
                    <a:pt x="1740075" y="-28785"/>
                    <a:pt x="2716636" y="748"/>
                  </a:cubicBezTo>
                  <a:close/>
                </a:path>
              </a:pathLst>
            </a:custGeom>
            <a:solidFill>
              <a:srgbClr val="72A9D9">
                <a:lumMod val="60000"/>
                <a:lumOff val="40000"/>
              </a:srgbClr>
            </a:solid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216027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</p:grpSp>
      <p:cxnSp>
        <p:nvCxnSpPr>
          <p:cNvPr id="14" name="直接连接符 64"/>
          <p:cNvCxnSpPr/>
          <p:nvPr/>
        </p:nvCxnSpPr>
        <p:spPr>
          <a:xfrm>
            <a:off x="3307253" y="2499996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5" name="直接连接符 65"/>
          <p:cNvCxnSpPr/>
          <p:nvPr/>
        </p:nvCxnSpPr>
        <p:spPr>
          <a:xfrm>
            <a:off x="6051231" y="2075181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连接符 66"/>
          <p:cNvCxnSpPr/>
          <p:nvPr/>
        </p:nvCxnSpPr>
        <p:spPr>
          <a:xfrm>
            <a:off x="8794574" y="1650366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连接符 67"/>
          <p:cNvCxnSpPr/>
          <p:nvPr/>
        </p:nvCxnSpPr>
        <p:spPr>
          <a:xfrm>
            <a:off x="11537281" y="1225550"/>
            <a:ext cx="0" cy="2809875"/>
          </a:xfrm>
          <a:prstGeom prst="line">
            <a:avLst/>
          </a:prstGeom>
          <a:ln w="12700" cmpd="sng">
            <a:solidFill>
              <a:schemeClr val="tx1">
                <a:lumMod val="85000"/>
                <a:lumOff val="15000"/>
                <a:alpha val="21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标题"/>
          <p:cNvSpPr txBox="1"/>
          <p:nvPr/>
        </p:nvSpPr>
        <p:spPr>
          <a:xfrm>
            <a:off x="3515543" y="3744596"/>
            <a:ext cx="2357242" cy="3289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09.04</a:t>
            </a:r>
            <a:r>
              <a:rPr lang="en-US" altLang="zh-CN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|</a:t>
            </a:r>
            <a:r>
              <a:rPr lang="en-US" altLang="zh-CN" b="1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费马大定理证明的完整形式化</a:t>
            </a:r>
            <a:endParaRPr lang="zh-CN" altLang="en-US" sz="1600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9" name="标题"/>
          <p:cNvSpPr txBox="1"/>
          <p:nvPr/>
        </p:nvSpPr>
        <p:spPr>
          <a:xfrm>
            <a:off x="652814" y="3632200"/>
            <a:ext cx="2357242" cy="85788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09.02｜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Nature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综述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参与物理实验设计的新进展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0" name="标题"/>
          <p:cNvSpPr txBox="1"/>
          <p:nvPr/>
        </p:nvSpPr>
        <p:spPr>
          <a:xfrm>
            <a:off x="6285557" y="2499995"/>
            <a:ext cx="2466468" cy="1132205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</a:t>
            </a:r>
            <a:r>
              <a:rPr lang="en-US" altLang="zh-CN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 | 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AlphaGenome Atlas：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约90亿种单碱基变异效应预测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1" name="标题"/>
          <p:cNvSpPr txBox="1"/>
          <p:nvPr/>
        </p:nvSpPr>
        <p:spPr>
          <a:xfrm>
            <a:off x="8986989" y="3085465"/>
            <a:ext cx="2357242" cy="328930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just">
              <a:lnSpc>
                <a:spcPct val="120000"/>
              </a:lnSpc>
              <a:buClrTx/>
              <a:buSzTx/>
              <a:buFontTx/>
            </a:pPr>
            <a:r>
              <a:rPr lang="zh-CN" altLang="en-US" b="1">
                <a:solidFill>
                  <a:srgbClr val="4B6F8A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09.08｜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公布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Navier–Stokes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问题的</a:t>
            </a:r>
            <a:r>
              <a:rPr lang="en-US" altLang="zh-CN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AI</a:t>
            </a:r>
            <a:r>
              <a: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生成研究结果</a:t>
            </a:r>
            <a:endParaRPr lang="zh-CN" altLang="en-US" b="1" dirty="0">
              <a:solidFill>
                <a:srgbClr val="4B6F8A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22" name="组合 40"/>
          <p:cNvGrpSpPr/>
          <p:nvPr/>
        </p:nvGrpSpPr>
        <p:grpSpPr>
          <a:xfrm>
            <a:off x="563909" y="3414395"/>
            <a:ext cx="11002583" cy="2822179"/>
            <a:chOff x="889" y="5163"/>
            <a:chExt cx="17280" cy="4470"/>
          </a:xfrm>
        </p:grpSpPr>
        <p:sp>
          <p:nvSpPr>
            <p:cNvPr id="23" name="任意多边形: 形状 18"/>
            <p:cNvSpPr/>
            <p:nvPr/>
          </p:nvSpPr>
          <p:spPr>
            <a:xfrm>
              <a:off x="889" y="7435"/>
              <a:ext cx="4320" cy="2198"/>
            </a:xfrm>
            <a:custGeom>
              <a:avLst/>
              <a:gdLst>
                <a:gd name="connsiteX0" fmla="*/ 2716636 w 2716635"/>
                <a:gd name="connsiteY0" fmla="*/ 632788 h 1536050"/>
                <a:gd name="connsiteX1" fmla="*/ 2716636 w 2716635"/>
                <a:gd name="connsiteY1" fmla="*/ 1536051 h 1536050"/>
                <a:gd name="connsiteX2" fmla="*/ 0 w 2716635"/>
                <a:gd name="connsiteY2" fmla="*/ 1536051 h 1536050"/>
                <a:gd name="connsiteX3" fmla="*/ 0 w 2716635"/>
                <a:gd name="connsiteY3" fmla="*/ 281136 h 1536050"/>
                <a:gd name="connsiteX4" fmla="*/ 1575437 w 2716635"/>
                <a:gd name="connsiteY4" fmla="*/ 140093 h 1536050"/>
                <a:gd name="connsiteX5" fmla="*/ 2716636 w 2716635"/>
                <a:gd name="connsiteY5" fmla="*/ 632713 h 153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1536050">
                  <a:moveTo>
                    <a:pt x="2716636" y="632788"/>
                  </a:moveTo>
                  <a:lnTo>
                    <a:pt x="2716636" y="1536051"/>
                  </a:lnTo>
                  <a:lnTo>
                    <a:pt x="0" y="1536051"/>
                  </a:lnTo>
                  <a:lnTo>
                    <a:pt x="0" y="281136"/>
                  </a:lnTo>
                  <a:cubicBezTo>
                    <a:pt x="278735" y="102645"/>
                    <a:pt x="870075" y="-168098"/>
                    <a:pt x="1575437" y="140093"/>
                  </a:cubicBezTo>
                  <a:cubicBezTo>
                    <a:pt x="2080083" y="360600"/>
                    <a:pt x="2426484" y="571668"/>
                    <a:pt x="2716636" y="632713"/>
                  </a:cubicBezTo>
                  <a:close/>
                </a:path>
              </a:pathLst>
            </a:custGeom>
            <a:blipFill rotWithShape="1">
              <a:blip r:embed="rId3"/>
              <a:stretch>
                <a:fillRect l="-2000" r="-4000" b="2000"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53975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4" name="任意多边形: 形状 19"/>
            <p:cNvSpPr/>
            <p:nvPr/>
          </p:nvSpPr>
          <p:spPr>
            <a:xfrm>
              <a:off x="5209" y="6824"/>
              <a:ext cx="4320" cy="2764"/>
            </a:xfrm>
            <a:custGeom>
              <a:avLst/>
              <a:gdLst>
                <a:gd name="connsiteX0" fmla="*/ 2716484 w 2716483"/>
                <a:gd name="connsiteY0" fmla="*/ 0 h 1956090"/>
                <a:gd name="connsiteX1" fmla="*/ 2716484 w 2716483"/>
                <a:gd name="connsiteY1" fmla="*/ 1956090 h 1956090"/>
                <a:gd name="connsiteX2" fmla="*/ 0 w 2716483"/>
                <a:gd name="connsiteY2" fmla="*/ 1956090 h 1956090"/>
                <a:gd name="connsiteX3" fmla="*/ 0 w 2716483"/>
                <a:gd name="connsiteY3" fmla="*/ 1052828 h 1956090"/>
                <a:gd name="connsiteX4" fmla="*/ 762524 w 2716483"/>
                <a:gd name="connsiteY4" fmla="*/ 698816 h 1956090"/>
                <a:gd name="connsiteX5" fmla="*/ 2524825 w 2716483"/>
                <a:gd name="connsiteY5" fmla="*/ 15223 h 1956090"/>
                <a:gd name="connsiteX6" fmla="*/ 2716484 w 2716483"/>
                <a:gd name="connsiteY6" fmla="*/ 0 h 1956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483" h="1956090">
                  <a:moveTo>
                    <a:pt x="2716484" y="0"/>
                  </a:moveTo>
                  <a:lnTo>
                    <a:pt x="2716484" y="1956090"/>
                  </a:lnTo>
                  <a:lnTo>
                    <a:pt x="0" y="1956090"/>
                  </a:lnTo>
                  <a:lnTo>
                    <a:pt x="0" y="1052828"/>
                  </a:lnTo>
                  <a:cubicBezTo>
                    <a:pt x="275995" y="1110904"/>
                    <a:pt x="500916" y="1033267"/>
                    <a:pt x="762524" y="698816"/>
                  </a:cubicBezTo>
                  <a:cubicBezTo>
                    <a:pt x="1180322" y="164562"/>
                    <a:pt x="1407603" y="-61349"/>
                    <a:pt x="2524825" y="15223"/>
                  </a:cubicBezTo>
                  <a:cubicBezTo>
                    <a:pt x="2524825" y="15223"/>
                    <a:pt x="2599190" y="22226"/>
                    <a:pt x="2716484" y="0"/>
                  </a:cubicBezTo>
                  <a:close/>
                </a:path>
              </a:pathLst>
            </a:custGeom>
            <a:blipFill rotWithShape="1">
              <a:blip r:embed="rId4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93599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4B6F8A"/>
                </a:solidFill>
                <a:sym typeface="+mn-ea"/>
              </a:endParaRPr>
            </a:p>
          </p:txBody>
        </p:sp>
        <p:sp>
          <p:nvSpPr>
            <p:cNvPr id="25" name="任意多边形: 形状 20"/>
            <p:cNvSpPr/>
            <p:nvPr/>
          </p:nvSpPr>
          <p:spPr>
            <a:xfrm>
              <a:off x="9529" y="5866"/>
              <a:ext cx="4320" cy="3723"/>
            </a:xfrm>
            <a:custGeom>
              <a:avLst/>
              <a:gdLst>
                <a:gd name="connsiteX0" fmla="*/ 2716484 w 2716559"/>
                <a:gd name="connsiteY0" fmla="*/ 809282 h 2632398"/>
                <a:gd name="connsiteX1" fmla="*/ 2716484 w 2716559"/>
                <a:gd name="connsiteY1" fmla="*/ 2632399 h 2632398"/>
                <a:gd name="connsiteX2" fmla="*/ 0 w 2716559"/>
                <a:gd name="connsiteY2" fmla="*/ 2632399 h 2632398"/>
                <a:gd name="connsiteX3" fmla="*/ 0 w 2716559"/>
                <a:gd name="connsiteY3" fmla="*/ 676308 h 2632398"/>
                <a:gd name="connsiteX4" fmla="*/ 702165 w 2716559"/>
                <a:gd name="connsiteY4" fmla="*/ 265970 h 2632398"/>
                <a:gd name="connsiteX5" fmla="*/ 2393754 w 2716559"/>
                <a:gd name="connsiteY5" fmla="*/ 624549 h 2632398"/>
                <a:gd name="connsiteX6" fmla="*/ 2716560 w 2716559"/>
                <a:gd name="connsiteY6" fmla="*/ 809282 h 26323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16559" h="2632398">
                  <a:moveTo>
                    <a:pt x="2716484" y="809282"/>
                  </a:moveTo>
                  <a:lnTo>
                    <a:pt x="2716484" y="2632399"/>
                  </a:lnTo>
                  <a:lnTo>
                    <a:pt x="0" y="2632399"/>
                  </a:lnTo>
                  <a:lnTo>
                    <a:pt x="0" y="676308"/>
                  </a:lnTo>
                  <a:cubicBezTo>
                    <a:pt x="174000" y="643274"/>
                    <a:pt x="442611" y="546074"/>
                    <a:pt x="702165" y="265970"/>
                  </a:cubicBezTo>
                  <a:cubicBezTo>
                    <a:pt x="1136327" y="-202445"/>
                    <a:pt x="1585408" y="-33164"/>
                    <a:pt x="2393754" y="624549"/>
                  </a:cubicBezTo>
                  <a:cubicBezTo>
                    <a:pt x="2505796" y="715812"/>
                    <a:pt x="2613271" y="775334"/>
                    <a:pt x="2716560" y="809282"/>
                  </a:cubicBezTo>
                  <a:close/>
                </a:path>
              </a:pathLst>
            </a:custGeom>
            <a:blipFill rotWithShape="1">
              <a:blip r:embed="rId5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1619885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  <p:sp>
          <p:nvSpPr>
            <p:cNvPr id="26" name="任意多边形: 形状 21"/>
            <p:cNvSpPr/>
            <p:nvPr/>
          </p:nvSpPr>
          <p:spPr>
            <a:xfrm>
              <a:off x="13849" y="5163"/>
              <a:ext cx="4320" cy="4425"/>
            </a:xfrm>
            <a:custGeom>
              <a:avLst/>
              <a:gdLst>
                <a:gd name="connsiteX0" fmla="*/ 2716636 w 2716635"/>
                <a:gd name="connsiteY0" fmla="*/ 748 h 3179860"/>
                <a:gd name="connsiteX1" fmla="*/ 2716636 w 2716635"/>
                <a:gd name="connsiteY1" fmla="*/ 3179861 h 3179860"/>
                <a:gd name="connsiteX2" fmla="*/ 0 w 2716635"/>
                <a:gd name="connsiteY2" fmla="*/ 3179861 h 3179860"/>
                <a:gd name="connsiteX3" fmla="*/ 0 w 2716635"/>
                <a:gd name="connsiteY3" fmla="*/ 1356744 h 3179860"/>
                <a:gd name="connsiteX4" fmla="*/ 1023219 w 2716635"/>
                <a:gd name="connsiteY4" fmla="*/ 979516 h 3179860"/>
                <a:gd name="connsiteX5" fmla="*/ 2716636 w 2716635"/>
                <a:gd name="connsiteY5" fmla="*/ 748 h 3179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716635" h="3179860">
                  <a:moveTo>
                    <a:pt x="2716636" y="748"/>
                  </a:moveTo>
                  <a:lnTo>
                    <a:pt x="2716636" y="3179861"/>
                  </a:lnTo>
                  <a:lnTo>
                    <a:pt x="0" y="3179861"/>
                  </a:lnTo>
                  <a:lnTo>
                    <a:pt x="0" y="1356744"/>
                  </a:lnTo>
                  <a:cubicBezTo>
                    <a:pt x="394506" y="1486825"/>
                    <a:pt x="727359" y="1244854"/>
                    <a:pt x="1023219" y="979516"/>
                  </a:cubicBezTo>
                  <a:cubicBezTo>
                    <a:pt x="1194708" y="825610"/>
                    <a:pt x="1740075" y="-28785"/>
                    <a:pt x="2716636" y="748"/>
                  </a:cubicBezTo>
                  <a:close/>
                </a:path>
              </a:pathLst>
            </a:custGeom>
            <a:blipFill rotWithShape="1">
              <a:blip r:embed="rId6"/>
              <a:stretch>
                <a:fillRect/>
              </a:stretch>
            </a:blipFill>
            <a:ln w="7609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0" tIns="2160270" rIns="0" bIns="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algn="ctr">
                <a:buClrTx/>
                <a:buSzTx/>
                <a:buFontTx/>
              </a:pPr>
              <a:endParaRPr lang="en-US" altLang="zh-CN" sz="2200" b="1">
                <a:solidFill>
                  <a:srgbClr val="FFFFFF"/>
                </a:solidFill>
                <a:sym typeface="+mn-ea"/>
              </a:endParaRPr>
            </a:p>
          </p:txBody>
        </p:sp>
      </p:grpSp>
      <p:pic>
        <p:nvPicPr>
          <p:cNvPr id="27" name="图片 28" descr="ScreenShot_2026-09-11_202419_127"/>
          <p:cNvPicPr>
            <a:picLocks noChangeAspect="1"/>
          </p:cNvPicPr>
          <p:nvPr/>
        </p:nvPicPr>
        <p:blipFill>
          <a:blip r:embed="rId7"/>
          <a:srcRect l="35870" t="2821" r="11002" b="41554"/>
          <a:stretch>
            <a:fillRect/>
          </a:stretch>
        </p:blipFill>
        <p:spPr>
          <a:xfrm>
            <a:off x="3686366" y="1329690"/>
            <a:ext cx="2108309" cy="17557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28" name="图片 29" descr="ScreenShot_2026-09-11_203612_50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5788" y="1061085"/>
            <a:ext cx="1454225" cy="136715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29" name="图片 32" descr="ScreenShot_2026-09-11_204210_76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46" y="1649730"/>
            <a:ext cx="2596015" cy="15513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pic>
        <p:nvPicPr>
          <p:cNvPr id="30" name="图片 33" descr="ScreenShot_2026-09-11_204047_514"/>
          <p:cNvPicPr>
            <a:picLocks noChangeAspect="1"/>
          </p:cNvPicPr>
          <p:nvPr/>
        </p:nvPicPr>
        <p:blipFill>
          <a:blip r:embed="rId10"/>
          <a:srcRect l="23467" r="23547"/>
          <a:stretch>
            <a:fillRect/>
          </a:stretch>
        </p:blipFill>
        <p:spPr>
          <a:xfrm>
            <a:off x="9114629" y="1136015"/>
            <a:ext cx="2174988" cy="103314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  <a:prstDash val="dash"/>
          </a:ln>
        </p:spPr>
      </p:pic>
      <p:sp>
        <p:nvSpPr>
          <p:cNvPr id="31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8382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AI4Science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前沿：9月以来新进展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AI4Engineering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前沿：从求解科学问题走向设计物理实验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p3-surface-4"/>
          <p:cNvSpPr>
            <a:spLocks noGrp="1"/>
          </p:cNvSpPr>
          <p:nvPr/>
        </p:nvSpPr>
        <p:spPr>
          <a:xfrm>
            <a:off x="457200" y="1104900"/>
            <a:ext cx="7680960" cy="4800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3-surface-5"/>
          <p:cNvSpPr>
            <a:spLocks noGrp="1"/>
          </p:cNvSpPr>
          <p:nvPr/>
        </p:nvSpPr>
        <p:spPr>
          <a:xfrm>
            <a:off x="8305800" y="1104900"/>
            <a:ext cx="3429000" cy="58674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3-surface-6"/>
          <p:cNvSpPr>
            <a:spLocks noGrp="1"/>
          </p:cNvSpPr>
          <p:nvPr/>
        </p:nvSpPr>
        <p:spPr>
          <a:xfrm>
            <a:off x="8305800" y="179070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3-surface-7"/>
          <p:cNvSpPr>
            <a:spLocks noGrp="1"/>
          </p:cNvSpPr>
          <p:nvPr/>
        </p:nvSpPr>
        <p:spPr>
          <a:xfrm>
            <a:off x="8305800" y="318516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3-surface-8"/>
          <p:cNvSpPr>
            <a:spLocks noGrp="1"/>
          </p:cNvSpPr>
          <p:nvPr/>
        </p:nvSpPr>
        <p:spPr>
          <a:xfrm>
            <a:off x="8305800" y="4579620"/>
            <a:ext cx="3429000" cy="13258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" y="1216104"/>
            <a:ext cx="7467600" cy="676751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75" y="1892854"/>
            <a:ext cx="7049661" cy="3739521"/>
          </a:xfrm>
          <a:prstGeom prst="rect">
            <a:avLst/>
          </a:prstGeom>
        </p:spPr>
      </p:pic>
      <p:sp>
        <p:nvSpPr>
          <p:cNvPr id="18" name="p3-text-2"/>
          <p:cNvSpPr>
            <a:spLocks noGrp="1"/>
          </p:cNvSpPr>
          <p:nvPr/>
        </p:nvSpPr>
        <p:spPr>
          <a:xfrm>
            <a:off x="8427720" y="1234440"/>
            <a:ext cx="2184083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AI参与设计物理实验</a:t>
            </a:r>
          </a:p>
        </p:txBody>
      </p:sp>
      <p:sp>
        <p:nvSpPr>
          <p:cNvPr id="19" name="p3-text-3"/>
          <p:cNvSpPr>
            <a:spLocks noGrp="1"/>
          </p:cNvSpPr>
          <p:nvPr/>
        </p:nvSpPr>
        <p:spPr>
          <a:xfrm>
            <a:off x="8450580" y="1920240"/>
            <a:ext cx="3169624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传统方式：给定装置，优化参数</a:t>
            </a:r>
          </a:p>
        </p:txBody>
      </p:sp>
      <p:sp>
        <p:nvSpPr>
          <p:cNvPr id="20" name="p3-text-4"/>
          <p:cNvSpPr>
            <a:spLocks noGrp="1"/>
          </p:cNvSpPr>
          <p:nvPr/>
        </p:nvSpPr>
        <p:spPr>
          <a:xfrm>
            <a:off x="8450580" y="2288858"/>
            <a:ext cx="3078480" cy="69800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在预先确定的实验装置中，调整长度、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角度、位置等参数，寻找更好的实验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条件</a:t>
            </a:r>
          </a:p>
        </p:txBody>
      </p:sp>
      <p:sp>
        <p:nvSpPr>
          <p:cNvPr id="22" name="p3-text-6"/>
          <p:cNvSpPr>
            <a:spLocks noGrp="1"/>
          </p:cNvSpPr>
          <p:nvPr/>
        </p:nvSpPr>
        <p:spPr>
          <a:xfrm>
            <a:off x="8450580" y="3314700"/>
            <a:ext cx="187452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新的能力：搜索实验装置的结构</a:t>
            </a:r>
          </a:p>
        </p:txBody>
      </p:sp>
      <p:sp>
        <p:nvSpPr>
          <p:cNvPr id="23" name="p3-text-7"/>
          <p:cNvSpPr>
            <a:spLocks noGrp="1"/>
          </p:cNvSpPr>
          <p:nvPr/>
        </p:nvSpPr>
        <p:spPr>
          <a:xfrm>
            <a:off x="8450580" y="3683318"/>
            <a:ext cx="3284223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参与选择实验元件、设计连接关系，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并搜索不同的装置组合</a:t>
            </a: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p3-text-9"/>
          <p:cNvSpPr>
            <a:spLocks noGrp="1"/>
          </p:cNvSpPr>
          <p:nvPr/>
        </p:nvSpPr>
        <p:spPr>
          <a:xfrm>
            <a:off x="8450580" y="4709160"/>
            <a:ext cx="209550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4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从计算设计走向物理验证</a:t>
            </a:r>
          </a:p>
        </p:txBody>
      </p:sp>
      <p:sp>
        <p:nvSpPr>
          <p:cNvPr id="26" name="p3-text-10"/>
          <p:cNvSpPr>
            <a:spLocks noGrp="1"/>
          </p:cNvSpPr>
          <p:nvPr/>
        </p:nvSpPr>
        <p:spPr>
          <a:xfrm>
            <a:off x="8450580" y="5077778"/>
            <a:ext cx="3078480" cy="72113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候选设计不仅需要满足实验目标，还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需要满足物理约束，并接受真实实验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检验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algn="ctr" defTabSz="914400" hangingPunct="1">
              <a:lnSpc>
                <a:spcPct val="100000"/>
              </a:lnSpc>
              <a:defRPr sz="186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20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物理约束与验证准则较明确时，AI能够高效搜索可检验的解空间</a:t>
            </a:r>
            <a:endParaRPr lang="zh-CN" altLang="en-US" sz="2200">
              <a:solidFill>
                <a:srgbClr val="FFFFFF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在数学界掀起浪潮：费马大定理证明的完整形式化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4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3" name="图片 11" descr="ScreenShot_2026-09-11_212342_03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2715" y="1148080"/>
            <a:ext cx="6193477" cy="1308100"/>
          </a:xfrm>
          <a:prstGeom prst="rect">
            <a:avLst/>
          </a:prstGeom>
        </p:spPr>
      </p:pic>
      <p:pic>
        <p:nvPicPr>
          <p:cNvPr id="54" name="图片 12" descr="ScreenShot_2026-09-11_212421_17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7955" y="2541905"/>
            <a:ext cx="6253805" cy="3449320"/>
          </a:xfrm>
          <a:prstGeom prst="rect">
            <a:avLst/>
          </a:prstGeom>
        </p:spPr>
      </p:pic>
      <p:grpSp>
        <p:nvGrpSpPr>
          <p:cNvPr id="55" name="组合 17"/>
          <p:cNvGrpSpPr/>
          <p:nvPr/>
        </p:nvGrpSpPr>
        <p:grpSpPr>
          <a:xfrm>
            <a:off x="379749" y="1082040"/>
            <a:ext cx="4919601" cy="891540"/>
            <a:chOff x="598" y="2136"/>
            <a:chExt cx="7747" cy="1404"/>
          </a:xfrm>
        </p:grpSpPr>
        <p:sp>
          <p:nvSpPr>
            <p:cNvPr id="56" name="文本框 13"/>
            <p:cNvSpPr txBox="1"/>
            <p:nvPr/>
          </p:nvSpPr>
          <p:spPr>
            <a:xfrm>
              <a:off x="598" y="2136"/>
              <a:ext cx="3219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>
                  <a:solidFill>
                    <a:srgbClr val="CFA3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1995</a:t>
              </a:r>
            </a:p>
            <a:p>
              <a:pPr algn="ctr"/>
              <a:r>
                <a:rPr lang="en-US" altLang="zh-CN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Wiles / Taylor</a:t>
              </a:r>
            </a:p>
            <a:p>
              <a:pPr algn="ctr"/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完成人类可读证明</a:t>
              </a:r>
            </a:p>
          </p:txBody>
        </p:sp>
        <p:sp>
          <p:nvSpPr>
            <p:cNvPr id="57" name="文本框 14"/>
            <p:cNvSpPr txBox="1"/>
            <p:nvPr/>
          </p:nvSpPr>
          <p:spPr>
            <a:xfrm>
              <a:off x="4758" y="2136"/>
              <a:ext cx="3587" cy="14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>
                  <a:solidFill>
                    <a:srgbClr val="CFA328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2026</a:t>
              </a:r>
            </a:p>
            <a:p>
              <a:pPr algn="ctr"/>
              <a:r>
                <a:rPr lang="en-US" altLang="zh-CN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Claude+Lean:</a:t>
              </a:r>
              <a:endParaRPr lang="zh-CN" altLang="en-US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zh-CN" alt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完成机器可检验形式化</a:t>
              </a:r>
            </a:p>
          </p:txBody>
        </p:sp>
        <p:cxnSp>
          <p:nvCxnSpPr>
            <p:cNvPr id="58" name="直接箭头连接符 16"/>
            <p:cNvCxnSpPr/>
            <p:nvPr/>
          </p:nvCxnSpPr>
          <p:spPr>
            <a:xfrm>
              <a:off x="3817" y="2838"/>
              <a:ext cx="1069" cy="0"/>
            </a:xfrm>
            <a:prstGeom prst="straightConnector1">
              <a:avLst/>
            </a:prstGeom>
            <a:ln w="28575">
              <a:solidFill>
                <a:schemeClr val="bg2">
                  <a:lumMod val="50000"/>
                </a:schemeClr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59" name="组合 22"/>
          <p:cNvGrpSpPr/>
          <p:nvPr/>
        </p:nvGrpSpPr>
        <p:grpSpPr>
          <a:xfrm>
            <a:off x="293385" y="5163185"/>
            <a:ext cx="6129971" cy="1068070"/>
            <a:chOff x="501" y="8468"/>
            <a:chExt cx="9649" cy="1682"/>
          </a:xfrm>
        </p:grpSpPr>
        <p:sp>
          <p:nvSpPr>
            <p:cNvPr id="60" name="文本框 18"/>
            <p:cNvSpPr txBox="1"/>
            <p:nvPr/>
          </p:nvSpPr>
          <p:spPr>
            <a:xfrm>
              <a:off x="501" y="8468"/>
              <a:ext cx="2329" cy="96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11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天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大体自主完成</a:t>
              </a:r>
            </a:p>
          </p:txBody>
        </p:sp>
        <p:sp>
          <p:nvSpPr>
            <p:cNvPr id="61" name="文本框 19"/>
            <p:cNvSpPr txBox="1"/>
            <p:nvPr/>
          </p:nvSpPr>
          <p:spPr>
            <a:xfrm>
              <a:off x="2981" y="8468"/>
              <a:ext cx="2079" cy="97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1300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万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行</a:t>
              </a:r>
              <a:r>
                <a:rPr lang="en-US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Lean</a:t>
              </a:r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代码</a:t>
              </a:r>
            </a:p>
          </p:txBody>
        </p:sp>
        <p:sp>
          <p:nvSpPr>
            <p:cNvPr id="62" name="文本框 20"/>
            <p:cNvSpPr txBox="1"/>
            <p:nvPr/>
          </p:nvSpPr>
          <p:spPr>
            <a:xfrm>
              <a:off x="5399" y="8468"/>
              <a:ext cx="3219" cy="970"/>
            </a:xfrm>
            <a:prstGeom prst="rect">
              <a:avLst/>
            </a:prstGeom>
            <a:noFill/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txBody>
            <a:bodyPr wrap="square" rtlCol="0">
              <a:spAutoFit/>
            </a:bodyPr>
            <a:lstStyle/>
            <a:p>
              <a:r>
                <a:rPr lang="zh-CN" sz="1600" b="0">
                  <a:solidFill>
                    <a:schemeClr val="tx1">
                      <a:alpha val="10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约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29</a:t>
              </a:r>
              <a:r>
                <a:rPr lang="zh-CN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</a:t>
              </a:r>
              <a:r>
                <a:rPr lang="en-US" b="1">
                  <a:solidFill>
                    <a:srgbClr val="C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500</a:t>
              </a:r>
            </a:p>
            <a:p>
              <a:r>
                <a:rPr lang="zh-CN" sz="16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最终使用的中间定理</a:t>
              </a:r>
            </a:p>
          </p:txBody>
        </p:sp>
        <p:sp>
          <p:nvSpPr>
            <p:cNvPr id="63" name="文本框 38"/>
            <p:cNvSpPr txBox="1"/>
            <p:nvPr/>
          </p:nvSpPr>
          <p:spPr>
            <a:xfrm>
              <a:off x="693" y="9570"/>
              <a:ext cx="9457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>
                  <a:solidFill>
                    <a:srgbClr val="4B6F8A"/>
                  </a:solidFill>
                  <a:latin typeface="微软雅黑" panose="020B0503020204020204" charset="-122"/>
                  <a:ea typeface="微软雅黑" panose="020B0503020204020204" charset="-122"/>
                </a:rPr>
                <a:t>大型数学知识开始能够被机器组织并逐步检查</a:t>
              </a:r>
              <a:endParaRPr lang="zh-CN" altLang="en-US" sz="1600">
                <a:solidFill>
                  <a:srgbClr val="4B6F8A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4" name="组合 37"/>
          <p:cNvGrpSpPr/>
          <p:nvPr/>
        </p:nvGrpSpPr>
        <p:grpSpPr>
          <a:xfrm>
            <a:off x="761404" y="2181860"/>
            <a:ext cx="3839954" cy="2726690"/>
            <a:chOff x="739" y="3868"/>
            <a:chExt cx="6041" cy="4294"/>
          </a:xfrm>
        </p:grpSpPr>
        <p:grpSp>
          <p:nvGrpSpPr>
            <p:cNvPr id="65" name="组合 28"/>
            <p:cNvGrpSpPr/>
            <p:nvPr/>
          </p:nvGrpSpPr>
          <p:grpSpPr>
            <a:xfrm>
              <a:off x="739" y="5121"/>
              <a:ext cx="6042" cy="769"/>
              <a:chOff x="739" y="5121"/>
              <a:chExt cx="6042" cy="769"/>
            </a:xfrm>
          </p:grpSpPr>
          <p:sp>
            <p:nvSpPr>
              <p:cNvPr id="66" name="圆角矩形 25"/>
              <p:cNvSpPr/>
              <p:nvPr/>
            </p:nvSpPr>
            <p:spPr>
              <a:xfrm>
                <a:off x="4461" y="5121"/>
                <a:ext cx="2320" cy="769"/>
              </a:xfrm>
              <a:prstGeom prst="roundRect">
                <a:avLst/>
              </a:prstGeom>
              <a:solidFill>
                <a:srgbClr val="4B6F8A">
                  <a:alpha val="15000"/>
                </a:srgb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中间定理</a:t>
                </a:r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B</a:t>
                </a:r>
              </a:p>
            </p:txBody>
          </p:sp>
          <p:sp>
            <p:nvSpPr>
              <p:cNvPr id="67" name="圆角矩形 26"/>
              <p:cNvSpPr/>
              <p:nvPr/>
            </p:nvSpPr>
            <p:spPr>
              <a:xfrm>
                <a:off x="739" y="5121"/>
                <a:ext cx="2320" cy="769"/>
              </a:xfrm>
              <a:prstGeom prst="roundRect">
                <a:avLst/>
              </a:prstGeom>
              <a:solidFill>
                <a:srgbClr val="4B6F8A">
                  <a:alpha val="15000"/>
                </a:srgbClr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中间定理</a:t>
                </a:r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A</a:t>
                </a:r>
              </a:p>
            </p:txBody>
          </p:sp>
        </p:grpSp>
        <p:grpSp>
          <p:nvGrpSpPr>
            <p:cNvPr id="68" name="组合 29"/>
            <p:cNvGrpSpPr/>
            <p:nvPr/>
          </p:nvGrpSpPr>
          <p:grpSpPr>
            <a:xfrm>
              <a:off x="2579" y="3868"/>
              <a:ext cx="2320" cy="4294"/>
              <a:chOff x="2899" y="3868"/>
              <a:chExt cx="2320" cy="4294"/>
            </a:xfrm>
          </p:grpSpPr>
          <p:sp>
            <p:nvSpPr>
              <p:cNvPr id="69" name="圆角矩形 23"/>
              <p:cNvSpPr/>
              <p:nvPr/>
            </p:nvSpPr>
            <p:spPr>
              <a:xfrm>
                <a:off x="2899" y="3868"/>
                <a:ext cx="2320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概念定理</a:t>
                </a:r>
              </a:p>
            </p:txBody>
          </p:sp>
          <p:sp>
            <p:nvSpPr>
              <p:cNvPr id="70" name="圆角矩形 24"/>
              <p:cNvSpPr/>
              <p:nvPr/>
            </p:nvSpPr>
            <p:spPr>
              <a:xfrm>
                <a:off x="2899" y="6218"/>
                <a:ext cx="2320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CN" altLang="en-US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关键子定理</a:t>
                </a:r>
              </a:p>
            </p:txBody>
          </p:sp>
          <p:sp>
            <p:nvSpPr>
              <p:cNvPr id="71" name="圆角矩形 27"/>
              <p:cNvSpPr/>
              <p:nvPr/>
            </p:nvSpPr>
            <p:spPr>
              <a:xfrm>
                <a:off x="3248" y="7393"/>
                <a:ext cx="1623" cy="769"/>
              </a:xfrm>
              <a:prstGeom prst="roundRect">
                <a:avLst/>
              </a:prstGeom>
              <a:solidFill>
                <a:srgbClr val="FBF9F5"/>
              </a:solidFill>
              <a:ln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>
                    <a:solidFill>
                      <a:schemeClr val="tx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FLT</a:t>
                </a:r>
              </a:p>
            </p:txBody>
          </p:sp>
        </p:grpSp>
        <p:cxnSp>
          <p:nvCxnSpPr>
            <p:cNvPr id="72" name="曲线连接符 30"/>
            <p:cNvCxnSpPr>
              <a:stCxn id="69" idx="2"/>
              <a:endCxn id="66" idx="0"/>
            </p:cNvCxnSpPr>
            <p:nvPr/>
          </p:nvCxnSpPr>
          <p:spPr>
            <a:xfrm rot="5400000" flipV="1">
              <a:off x="4440" y="3942"/>
              <a:ext cx="480" cy="1880"/>
            </a:xfrm>
            <a:prstGeom prst="curvedConnector3">
              <a:avLst>
                <a:gd name="adj1" fmla="val 3750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3" name="曲线连接符 31"/>
            <p:cNvCxnSpPr>
              <a:stCxn id="69" idx="2"/>
              <a:endCxn id="67" idx="0"/>
            </p:cNvCxnSpPr>
            <p:nvPr/>
          </p:nvCxnSpPr>
          <p:spPr>
            <a:xfrm rot="5400000">
              <a:off x="2580" y="3962"/>
              <a:ext cx="480" cy="1840"/>
            </a:xfrm>
            <a:prstGeom prst="curvedConnector3">
              <a:avLst>
                <a:gd name="adj1" fmla="val 37499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4" name="曲线连接符 32"/>
            <p:cNvCxnSpPr>
              <a:stCxn id="67" idx="2"/>
              <a:endCxn id="70" idx="0"/>
            </p:cNvCxnSpPr>
            <p:nvPr/>
          </p:nvCxnSpPr>
          <p:spPr>
            <a:xfrm rot="5400000" flipV="1">
              <a:off x="2655" y="5137"/>
              <a:ext cx="330" cy="1840"/>
            </a:xfrm>
            <a:prstGeom prst="curvedConnector3">
              <a:avLst>
                <a:gd name="adj1" fmla="val 909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直接箭头连接符 34"/>
            <p:cNvCxnSpPr>
              <a:stCxn id="70" idx="2"/>
              <a:endCxn id="71" idx="0"/>
            </p:cNvCxnSpPr>
            <p:nvPr/>
          </p:nvCxnSpPr>
          <p:spPr>
            <a:xfrm>
              <a:off x="3739" y="6987"/>
              <a:ext cx="0" cy="406"/>
            </a:xfrm>
            <a:prstGeom prst="straightConnector1">
              <a:avLst/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6" name="曲线连接符 36"/>
            <p:cNvCxnSpPr>
              <a:stCxn id="66" idx="2"/>
              <a:endCxn id="70" idx="0"/>
            </p:cNvCxnSpPr>
            <p:nvPr/>
          </p:nvCxnSpPr>
          <p:spPr>
            <a:xfrm rot="5400000">
              <a:off x="4515" y="5117"/>
              <a:ext cx="330" cy="1880"/>
            </a:xfrm>
            <a:prstGeom prst="curvedConnector3">
              <a:avLst>
                <a:gd name="adj1" fmla="val 9090"/>
              </a:avLst>
            </a:prstGeom>
            <a:ln w="28575">
              <a:solidFill>
                <a:srgbClr val="4B6F8A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935" y="1502410"/>
            <a:ext cx="11607165" cy="4986020"/>
          </a:xfrm>
        </p:spPr>
        <p:txBody>
          <a:bodyPr>
            <a:normAutofit fontScale="82500" lnSpcReduction="20000"/>
          </a:bodyPr>
          <a:lstStyle/>
          <a:p>
            <a:pPr marL="0" indent="0">
              <a:buNone/>
            </a:pPr>
            <a:r>
              <a:rPr lang="zh-CN" altLang="en-US" sz="3110" dirty="0">
                <a:latin typeface="微软雅黑" panose="020B0503020204020204" charset="-122"/>
                <a:ea typeface="微软雅黑" panose="020B0503020204020204" charset="-122"/>
              </a:rPr>
              <a:t>计算机是否：</a:t>
            </a:r>
            <a:r>
              <a:rPr lang="en-US" sz="311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具有“智能”？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识别动作的“含义”？</a:t>
            </a:r>
          </a:p>
          <a:p>
            <a:pPr marL="0" indent="457200">
              <a:buNone/>
            </a:pP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- </a:t>
            </a:r>
            <a:r>
              <a:rPr lang="zh-CN" altLang="en-US" sz="2665" dirty="0">
                <a:latin typeface="微软雅黑" panose="020B0503020204020204" charset="-122"/>
                <a:ea typeface="微软雅黑" panose="020B0503020204020204" charset="-122"/>
              </a:rPr>
              <a:t>拥有“心智”并能“理解”</a:t>
            </a:r>
            <a:r>
              <a:rPr lang="en-US" sz="2665" dirty="0">
                <a:latin typeface="微软雅黑" panose="020B0503020204020204" charset="-122"/>
                <a:ea typeface="微软雅黑" panose="020B0503020204020204" charset="-122"/>
              </a:rPr>
              <a:t>? </a:t>
            </a:r>
            <a:endParaRPr lang="en-US" sz="2665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8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</a:rPr>
              <a:t>中文房间论证</a:t>
            </a:r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b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en-US" sz="2800" b="1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2400" dirty="0">
                <a:latin typeface="微软雅黑" panose="020B0503020204020204" charset="-122"/>
                <a:ea typeface="微软雅黑" panose="020B0503020204020204" charset="-122"/>
              </a:rPr>
              <a:t> ——John Rogers Searle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</a:rPr>
              <a:t>于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</a:rPr>
              <a:t>198</a:t>
            </a:r>
            <a:r>
              <a:rPr lang="en-US" altLang="zh-CN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年在</a:t>
            </a:r>
            <a:r>
              <a:rPr lang="en-US" sz="2400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Behavioral and Brain Sciences</a:t>
            </a:r>
            <a:r>
              <a:rPr 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提出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环境：一个只懂英文的人（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Tom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）被锁在一个小房间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工具：一本完整的规则手册</a:t>
            </a:r>
          </a:p>
          <a:p>
            <a:pPr marL="0" indent="0">
              <a:lnSpc>
                <a:spcPct val="140000"/>
              </a:lnSpc>
              <a:buNone/>
            </a:pP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过程：屋外有人递写有中文问题的纸条，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Tom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根据手册将问题与符号对比，然后递出看似正确答案的纸条</a:t>
            </a:r>
            <a:r>
              <a:rPr lang="en-US" altLang="zh-CN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 sz="2600" dirty="0">
                <a:solidFill>
                  <a:srgbClr val="0070C0"/>
                </a:solidFill>
                <a:latin typeface="微软雅黑" panose="020B0503020204020204" charset="-122"/>
                <a:ea typeface="微软雅黑" panose="020B0503020204020204" charset="-122"/>
              </a:rPr>
              <a:t>屋外有人提供反馈结果</a:t>
            </a:r>
            <a:endParaRPr lang="en-US" sz="2300" dirty="0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en-US" sz="23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7" name="Picture 3" descr="A person sitting at a desk&#10;&#10;Description automatically generated with low confiden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1548" y="1176273"/>
            <a:ext cx="4616356" cy="3022218"/>
          </a:xfrm>
          <a:prstGeom prst="rect">
            <a:avLst/>
          </a:prstGeom>
        </p:spPr>
      </p:pic>
      <p:sp>
        <p:nvSpPr>
          <p:cNvPr id="9" name="TextBox 1"/>
          <p:cNvSpPr txBox="1"/>
          <p:nvPr/>
        </p:nvSpPr>
        <p:spPr>
          <a:xfrm>
            <a:off x="4579744" y="6118801"/>
            <a:ext cx="68041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https://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garymarcus.substack.com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/p/agi-isnt-coming-in-2025-and-gpt-5</a:t>
            </a:r>
          </a:p>
        </p:txBody>
      </p:sp>
      <p:sp>
        <p:nvSpPr>
          <p:cNvPr id="10" name="Slide Number Placeholder 1"/>
          <p:cNvSpPr>
            <a:spLocks noGrp="1"/>
          </p:cNvSpPr>
          <p:nvPr/>
        </p:nvSpPr>
        <p:spPr>
          <a:xfrm>
            <a:off x="11264900" y="6540500"/>
            <a:ext cx="927100" cy="3175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algn="r" defTabSz="914400" rtl="0" eaLnBrk="1" latinLnBrk="0" hangingPunct="1">
              <a:defRPr sz="16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9A0DB2DC-4C9A-4742-B13C-FB6460FD3503}" type="slidenum"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AI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能力的边界：从强大求解能力到开放世界中的理解与决策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复杂艺术表现认知面临的三重根本挑战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6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3" name="p7-surface-4"/>
          <p:cNvSpPr>
            <a:spLocks noGrp="1"/>
          </p:cNvSpPr>
          <p:nvPr/>
        </p:nvSpPr>
        <p:spPr>
          <a:xfrm>
            <a:off x="457200" y="1097280"/>
            <a:ext cx="11277600" cy="609600"/>
          </a:xfrm>
          <a:prstGeom prst="rect">
            <a:avLst/>
          </a:prstGeom>
          <a:solidFill>
            <a:srgbClr val="FFF0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p7-surface-5"/>
          <p:cNvSpPr>
            <a:spLocks noGrp="1"/>
          </p:cNvSpPr>
          <p:nvPr/>
        </p:nvSpPr>
        <p:spPr>
          <a:xfrm>
            <a:off x="457200" y="1828800"/>
            <a:ext cx="5013960" cy="36499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7-surface-6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5638800" y="18288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7-surface-7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7391400" y="18288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" name="p7-surface-8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5638800" y="30861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" name="p7-surface-9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7391400" y="30861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p7-surface-10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5638800" y="4343400"/>
            <a:ext cx="1699260" cy="11353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p7-surface-1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7391400" y="4343400"/>
            <a:ext cx="4343400" cy="113538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9662" y="1828820"/>
            <a:ext cx="4129012" cy="1959854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0945" y="3840489"/>
            <a:ext cx="2090850" cy="156813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905163" y="3840489"/>
            <a:ext cx="2347455" cy="1568138"/>
          </a:xfrm>
          <a:prstGeom prst="rect">
            <a:avLst/>
          </a:prstGeom>
        </p:spPr>
      </p:pic>
      <p:sp>
        <p:nvSpPr>
          <p:cNvPr id="22" name="p7-text-1"/>
          <p:cNvSpPr>
            <a:spLocks noGrp="1"/>
          </p:cNvSpPr>
          <p:nvPr/>
        </p:nvSpPr>
        <p:spPr>
          <a:xfrm>
            <a:off x="1117585" y="1249680"/>
            <a:ext cx="8018557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200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艺术表现既有可测的运动事实，也面对主观审美与无法预先穷尽的临场变化</a:t>
            </a:r>
          </a:p>
        </p:txBody>
      </p:sp>
      <p:sp>
        <p:nvSpPr>
          <p:cNvPr id="26" name="p7-text-5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5916930" y="2081808"/>
            <a:ext cx="12496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复杂度极限</a:t>
            </a:r>
          </a:p>
        </p:txBody>
      </p:sp>
      <p:sp>
        <p:nvSpPr>
          <p:cNvPr id="27" name="p7-text-6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31230" y="2470428"/>
            <a:ext cx="102108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人—器—场馆</a:t>
            </a:r>
            <a:endParaRPr sz="1440" b="0" i="0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p7-text-9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5916930" y="3339108"/>
            <a:ext cx="12496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理解鸿沟</a:t>
            </a:r>
          </a:p>
        </p:txBody>
      </p:sp>
      <p:sp>
        <p:nvSpPr>
          <p:cNvPr id="31" name="p7-text-1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6122670" y="3727728"/>
            <a:ext cx="8382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艺术效用</a:t>
            </a:r>
          </a:p>
        </p:txBody>
      </p:sp>
      <p:sp>
        <p:nvSpPr>
          <p:cNvPr id="32" name="p7-text-11"/>
          <p:cNvSpPr>
            <a:spLocks noGrp="1"/>
          </p:cNvSpPr>
          <p:nvPr>
            <p:custDataLst>
              <p:tags r:id="rId11"/>
            </p:custDataLst>
          </p:nvPr>
        </p:nvSpPr>
        <p:spPr>
          <a:xfrm>
            <a:off x="7536180" y="3238500"/>
            <a:ext cx="4160520" cy="89833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美感与音乐诠释难以完全形式化，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专家、裁判和观众可能有不同理解。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p7-text-13"/>
          <p:cNvSpPr>
            <a:spLocks noGrp="1"/>
          </p:cNvSpPr>
          <p:nvPr>
            <p:custDataLst>
              <p:tags r:id="rId12"/>
            </p:custDataLst>
          </p:nvPr>
        </p:nvSpPr>
        <p:spPr>
          <a:xfrm>
            <a:off x="5802630" y="4596408"/>
            <a:ext cx="147828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ctr">
              <a:defRPr sz="18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 i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动态变化</a:t>
            </a:r>
            <a:endParaRPr lang="zh-CN" altLang="en-US" sz="1800" b="1" i="0">
              <a:solidFill>
                <a:schemeClr val="accent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p7-text-14"/>
          <p:cNvSpPr>
            <a:spLocks noGrp="1"/>
          </p:cNvSpPr>
          <p:nvPr>
            <p:custDataLst>
              <p:tags r:id="rId13"/>
            </p:custDataLst>
          </p:nvPr>
        </p:nvSpPr>
        <p:spPr>
          <a:xfrm>
            <a:off x="6122670" y="4985028"/>
            <a:ext cx="838200" cy="2362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40" b="0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临场状态</a:t>
            </a:r>
          </a:p>
        </p:txBody>
      </p:sp>
      <p:sp>
        <p:nvSpPr>
          <p:cNvPr id="36" name="p7-text-15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7536180" y="4504062"/>
            <a:ext cx="4160520" cy="90456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超越训练的突发表现、动作失误</a:t>
            </a:r>
            <a:r>
              <a:rPr lang="en-US" sz="1680" dirty="0">
                <a:latin typeface="微软雅黑" panose="020B0503020204020204" charset="-122"/>
              </a:rPr>
              <a:t>、</a:t>
            </a:r>
          </a:p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临场调整和观众反馈无法预先穷举</a:t>
            </a:r>
            <a:r>
              <a:rPr lang="zh-CN" altLang="en-US" sz="1680" dirty="0">
                <a:latin typeface="微软雅黑" panose="020B0503020204020204" charset="-122"/>
              </a:rPr>
              <a:t>，</a:t>
            </a:r>
            <a:endParaRPr lang="en-US" altLang="zh-CN" sz="1680" dirty="0">
              <a:latin typeface="微软雅黑" panose="020B0503020204020204" charset="-122"/>
            </a:endParaRPr>
          </a:p>
          <a:p>
            <a:pPr>
              <a:lnSpc>
                <a:spcPct val="10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680" dirty="0" err="1">
                <a:latin typeface="微软雅黑" panose="020B0503020204020204" charset="-122"/>
              </a:rPr>
              <a:t>固定模型难以覆盖所有未来状况</a:t>
            </a:r>
            <a:r>
              <a:rPr lang="en-US" sz="1680" dirty="0">
                <a:latin typeface="微软雅黑" panose="020B0503020204020204" charset="-122"/>
              </a:rPr>
              <a:t>。</a:t>
            </a:r>
          </a:p>
          <a:p>
            <a:pPr algn="l">
              <a:lnSpc>
                <a:spcPct val="110000"/>
              </a:lnSpc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 dirty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2" name="本页结论_红底黄字"/>
          <p:cNvSpPr/>
          <p:nvPr/>
        </p:nvSpPr>
        <p:spPr>
          <a:xfrm>
            <a:off x="310076" y="5858855"/>
            <a:ext cx="11424727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algn="ctr" defTabSz="914400" hangingPunct="1">
              <a:lnSpc>
                <a:spcPct val="100000"/>
              </a:lnSpc>
              <a:defRPr sz="186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rPr>
              <a:t>复杂性需要精准世界刻画，审美需要人机协商，动态变化需要持续认知演化</a:t>
            </a:r>
          </a:p>
        </p:txBody>
      </p:sp>
      <p:sp>
        <p:nvSpPr>
          <p:cNvPr id="5" name="p7-text-7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7536180" y="1981200"/>
            <a:ext cx="4160520" cy="8064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 dirty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人体姿态、器械轨迹与生理负荷耦合，</a:t>
            </a:r>
          </a:p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0" i="0" dirty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还需刻画场馆空间及互动关系。</a:t>
            </a:r>
          </a:p>
          <a:p>
            <a:pPr algn="l">
              <a:defRPr sz="168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80" b="0" i="0" dirty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76346" y="864980"/>
            <a:ext cx="12174709" cy="6085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5167328" y="2977465"/>
            <a:ext cx="2001027" cy="2001169"/>
            <a:chOff x="4969015" y="2841859"/>
            <a:chExt cx="2001027" cy="200116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4969015" y="2841859"/>
              <a:ext cx="1588724" cy="1873423"/>
            </a:xfrm>
            <a:custGeom>
              <a:avLst/>
              <a:gdLst>
                <a:gd name="csX0" fmla="*/ 1576622 w 1588724"/>
                <a:gd name="csY0" fmla="*/ 182470 h 1873423"/>
                <a:gd name="csX1" fmla="*/ 549219 w 1588724"/>
                <a:gd name="csY1" fmla="*/ 107622 h 1873423"/>
                <a:gd name="csX2" fmla="*/ 232 w 1588724"/>
                <a:gd name="csY2" fmla="*/ 979219 h 1873423"/>
                <a:gd name="csX3" fmla="*/ 511642 w 1588724"/>
                <a:gd name="csY3" fmla="*/ 1873423 h 1873423"/>
                <a:gd name="csX4" fmla="*/ 1576622 w 1588724"/>
                <a:gd name="csY4" fmla="*/ 182470 h 1873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88724" h="1873423">
                  <a:moveTo>
                    <a:pt x="1576622" y="182470"/>
                  </a:moveTo>
                  <a:cubicBezTo>
                    <a:pt x="1274175" y="-30464"/>
                    <a:pt x="879161" y="-59182"/>
                    <a:pt x="549219" y="107622"/>
                  </a:cubicBezTo>
                  <a:cubicBezTo>
                    <a:pt x="219277" y="274427"/>
                    <a:pt x="8175" y="609562"/>
                    <a:pt x="232" y="979219"/>
                  </a:cubicBezTo>
                  <a:cubicBezTo>
                    <a:pt x="-7711" y="1348877"/>
                    <a:pt x="189032" y="1692872"/>
                    <a:pt x="511642" y="1873423"/>
                  </a:cubicBezTo>
                  <a:cubicBezTo>
                    <a:pt x="1327332" y="1489407"/>
                    <a:pt x="1658496" y="799279"/>
                    <a:pt x="1576622" y="182470"/>
                  </a:cubicBezTo>
                  <a:close/>
                </a:path>
              </a:pathLst>
            </a:custGeom>
            <a:noFill/>
            <a:ln w="30480" cap="flat">
              <a:solidFill>
                <a:schemeClr val="bg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5480657" y="3024329"/>
              <a:ext cx="1489385" cy="1818699"/>
            </a:xfrm>
            <a:custGeom>
              <a:avLst/>
              <a:gdLst>
                <a:gd name="csX0" fmla="*/ 1064980 w 1489385"/>
                <a:gd name="csY0" fmla="*/ 0 h 1818699"/>
                <a:gd name="csX1" fmla="*/ 0 w 1489385"/>
                <a:gd name="csY1" fmla="*/ 1690953 h 1818699"/>
                <a:gd name="csX2" fmla="*/ 1335349 w 1489385"/>
                <a:gd name="csY2" fmla="*/ 1351235 h 1818699"/>
                <a:gd name="csX3" fmla="*/ 1064980 w 1489385"/>
                <a:gd name="csY3" fmla="*/ 0 h 181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89385" h="1818699">
                  <a:moveTo>
                    <a:pt x="1064980" y="0"/>
                  </a:moveTo>
                  <a:cubicBezTo>
                    <a:pt x="1146854" y="616808"/>
                    <a:pt x="815690" y="1306937"/>
                    <a:pt x="0" y="1690953"/>
                  </a:cubicBezTo>
                  <a:cubicBezTo>
                    <a:pt x="464668" y="1951241"/>
                    <a:pt x="1051537" y="1801850"/>
                    <a:pt x="1335349" y="1351235"/>
                  </a:cubicBezTo>
                  <a:cubicBezTo>
                    <a:pt x="1619160" y="900620"/>
                    <a:pt x="1500320" y="306724"/>
                    <a:pt x="106498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480" cap="flat">
              <a:solidFill>
                <a:schemeClr val="bg1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215787" y="3339912"/>
              <a:ext cx="501634" cy="501634"/>
            </a:xfrm>
            <a:custGeom>
              <a:avLst/>
              <a:gdLst>
                <a:gd name="csX0" fmla="*/ 501634 w 501634"/>
                <a:gd name="csY0" fmla="*/ 250817 h 501634"/>
                <a:gd name="csX1" fmla="*/ 250817 w 501634"/>
                <a:gd name="csY1" fmla="*/ 501634 h 501634"/>
                <a:gd name="csX2" fmla="*/ 0 w 501634"/>
                <a:gd name="csY2" fmla="*/ 250817 h 501634"/>
                <a:gd name="csX3" fmla="*/ 250817 w 501634"/>
                <a:gd name="csY3" fmla="*/ 0 h 501634"/>
                <a:gd name="csX4" fmla="*/ 501634 w 501634"/>
                <a:gd name="csY4" fmla="*/ 250817 h 501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1634" h="501634">
                  <a:moveTo>
                    <a:pt x="501634" y="250817"/>
                  </a:moveTo>
                  <a:cubicBezTo>
                    <a:pt x="501634" y="389209"/>
                    <a:pt x="389209" y="501634"/>
                    <a:pt x="250817" y="501634"/>
                  </a:cubicBezTo>
                  <a:cubicBezTo>
                    <a:pt x="112425" y="501634"/>
                    <a:pt x="0" y="389209"/>
                    <a:pt x="0" y="250817"/>
                  </a:cubicBezTo>
                  <a:cubicBezTo>
                    <a:pt x="0" y="112425"/>
                    <a:pt x="112425" y="0"/>
                    <a:pt x="250817" y="0"/>
                  </a:cubicBezTo>
                  <a:cubicBezTo>
                    <a:pt x="389209" y="0"/>
                    <a:pt x="501634" y="112425"/>
                    <a:pt x="501634" y="250817"/>
                  </a:cubicBezTo>
                  <a:close/>
                </a:path>
              </a:pathLst>
            </a:custGeom>
            <a:solidFill>
              <a:schemeClr val="bg1"/>
            </a:solidFill>
            <a:ln w="3048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802852" y="1357607"/>
            <a:ext cx="2729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H</a:t>
            </a:r>
            <a:r>
              <a:rPr lang="en-US" altLang="zh-CN" sz="2800" dirty="0">
                <a:latin typeface="Arial Black" panose="020B0A04020102020204" pitchFamily="34" charset="0"/>
              </a:rPr>
              <a:t>ierarchical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9058220" y="2583019"/>
            <a:ext cx="3102388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Artistic</a:t>
            </a:r>
            <a:r>
              <a:rPr lang="en-US" altLang="zh-CN" sz="2800" dirty="0">
                <a:latin typeface="Arial Black" panose="020B0A04020102020204" pitchFamily="34" charset="0"/>
              </a:rPr>
              <a:t> </a:t>
            </a:r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</a:rPr>
              <a:t>tility</a:t>
            </a:r>
          </a:p>
          <a:p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W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orld </a:t>
            </a:r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tility</a:t>
            </a:r>
            <a:endParaRPr lang="en-US" altLang="zh-CN" sz="32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7047831" y="5346434"/>
            <a:ext cx="29482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Big Model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964651" y="2996565"/>
            <a:ext cx="223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</a:t>
            </a:r>
            <a:r>
              <a:rPr lang="en-US" altLang="zh-CN" sz="4000" dirty="0" err="1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G</a:t>
            </a:r>
            <a:r>
              <a:rPr lang="en-US" altLang="zh-CN" sz="2800" dirty="0" err="1">
                <a:latin typeface="Arial Black" panose="020B0A04020102020204" pitchFamily="34" charset="0"/>
              </a:rPr>
              <a:t>nitive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453123" y="5292639"/>
            <a:ext cx="2714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</a:rPr>
              <a:t>-demand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>
            <a:stCxn id="18" idx="2"/>
            <a:endCxn id="36" idx="0"/>
          </p:cNvCxnSpPr>
          <p:nvPr/>
        </p:nvCxnSpPr>
        <p:spPr>
          <a:xfrm>
            <a:off x="6167841" y="2065493"/>
            <a:ext cx="2354112" cy="328094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8" idx="2"/>
            <a:endCxn id="39" idx="0"/>
          </p:cNvCxnSpPr>
          <p:nvPr/>
        </p:nvCxnSpPr>
        <p:spPr>
          <a:xfrm flipH="1">
            <a:off x="3810226" y="2065493"/>
            <a:ext cx="2357615" cy="322714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38" idx="3"/>
          </p:cNvCxnSpPr>
          <p:nvPr/>
        </p:nvCxnSpPr>
        <p:spPr>
          <a:xfrm flipV="1">
            <a:off x="3199216" y="2073854"/>
            <a:ext cx="2968681" cy="127665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38" idx="3"/>
            <a:endCxn id="39" idx="0"/>
          </p:cNvCxnSpPr>
          <p:nvPr/>
        </p:nvCxnSpPr>
        <p:spPr>
          <a:xfrm>
            <a:off x="3199216" y="3350508"/>
            <a:ext cx="611010" cy="194213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810225" y="3372392"/>
            <a:ext cx="5309462" cy="192024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18" idx="2"/>
          </p:cNvCxnSpPr>
          <p:nvPr/>
        </p:nvCxnSpPr>
        <p:spPr>
          <a:xfrm>
            <a:off x="6167841" y="2065493"/>
            <a:ext cx="2951846" cy="1306899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39" idx="0"/>
            <a:endCxn id="36" idx="0"/>
          </p:cNvCxnSpPr>
          <p:nvPr/>
        </p:nvCxnSpPr>
        <p:spPr>
          <a:xfrm>
            <a:off x="3810226" y="5292639"/>
            <a:ext cx="4711727" cy="53795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8" idx="3"/>
            <a:endCxn id="36" idx="0"/>
          </p:cNvCxnSpPr>
          <p:nvPr/>
        </p:nvCxnSpPr>
        <p:spPr>
          <a:xfrm>
            <a:off x="3199216" y="3350508"/>
            <a:ext cx="5322737" cy="199592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36" idx="0"/>
          </p:cNvCxnSpPr>
          <p:nvPr/>
        </p:nvCxnSpPr>
        <p:spPr>
          <a:xfrm flipH="1">
            <a:off x="8521953" y="3372392"/>
            <a:ext cx="597734" cy="1974042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8" idx="3"/>
          </p:cNvCxnSpPr>
          <p:nvPr/>
        </p:nvCxnSpPr>
        <p:spPr>
          <a:xfrm>
            <a:off x="3199216" y="3350508"/>
            <a:ext cx="5920471" cy="2188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639218" y="3423914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noProof="1">
                <a:effectLst>
                  <a:outerShdw blurRad="63500" sx="104000" sy="104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HongWU</a:t>
            </a:r>
            <a:endParaRPr lang="en-US" sz="3600" noProof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4000" sy="104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12"/>
          <p:cNvSpPr txBox="1"/>
          <p:nvPr/>
        </p:nvSpPr>
        <p:spPr>
          <a:xfrm>
            <a:off x="76200" y="254000"/>
            <a:ext cx="10922000" cy="609600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noAutofit/>
          </a:bodyPr>
          <a:lstStyle/>
          <a:p>
            <a:pPr lvl="0">
              <a:defRPr/>
            </a:pP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Hierarchical on-demand cognitive Big Model with Artistic Utility</a:t>
            </a:r>
            <a:endParaRPr lang="en-US" altLang="zh-CN" sz="2400" b="1" dirty="0">
              <a:solidFill>
                <a:srgbClr val="092D7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2" name="图片 1" descr="/Users/chenmin/Library/Containers/com.kingsoft.wpsoffice.mac/Data/tmp/picturecompress_20260417095053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5400" y="50800"/>
            <a:ext cx="660400" cy="6604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21505" y="968375"/>
            <a:ext cx="4349115" cy="474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运动世界分层刻画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48615" y="5938520"/>
            <a:ext cx="5915025" cy="5257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根据实时状态按需调整</a:t>
            </a:r>
            <a:endParaRPr lang="en-US" altLang="zh-CN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推演分析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37744" y="3736975"/>
            <a:ext cx="2834640" cy="7835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专家反馈持续演进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63640" y="5901055"/>
            <a:ext cx="5380990" cy="6064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en-US" altLang="zh-CN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大模型是交流与任务的基础</a:t>
            </a:r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70749" y="3780566"/>
            <a:ext cx="3246120" cy="47434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ctr"/>
            <a:r>
              <a:rPr lang="zh-CN" altLang="en-US" sz="2800" dirty="0">
                <a:solidFill>
                  <a:srgbClr val="203864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智能艺术空间与开放效用</a:t>
            </a:r>
          </a:p>
          <a:p>
            <a:pPr algn="ctr"/>
            <a:endParaRPr lang="zh-CN" altLang="en-US" sz="2800" dirty="0">
              <a:solidFill>
                <a:srgbClr val="203864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00" name="矩形 900"/>
          <p:cNvSpPr/>
          <p:nvPr/>
        </p:nvSpPr>
        <p:spPr>
          <a:xfrm flipV="1">
            <a:off x="0" y="765280"/>
            <a:ext cx="12192000" cy="45719"/>
          </a:xfrm>
          <a:prstGeom prst="rect">
            <a:avLst/>
          </a:prstGeom>
          <a:gradFill flip="none" rotWithShape="1">
            <a:gsLst>
              <a:gs pos="11000">
                <a:srgbClr val="092D7C"/>
              </a:gs>
              <a:gs pos="0">
                <a:schemeClr val="bg1">
                  <a:lumMod val="95000"/>
                </a:schemeClr>
              </a:gs>
              <a:gs pos="66000">
                <a:srgbClr val="092D7C"/>
              </a:gs>
              <a:gs pos="100000">
                <a:schemeClr val="bg1">
                  <a:lumMod val="95000"/>
                </a:schemeClr>
              </a:gs>
            </a:gsLst>
            <a:lin ang="0" scaled="1"/>
            <a:tileRect/>
          </a:gradFill>
          <a:ln>
            <a:noFill/>
          </a:ln>
        </p:spPr>
        <p:txBody>
          <a:bodyPr rtlCol="0" anchor="ctr"/>
          <a:lstStyle/>
          <a:p>
            <a:endParaRPr lang="zh-CN" sz="1800"/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7</a:t>
            </a:fld>
            <a:endParaRPr lang="en-US" dirty="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7145" y="875030"/>
            <a:ext cx="12174855" cy="59829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pSp>
        <p:nvGrpSpPr>
          <p:cNvPr id="17" name="组合 16"/>
          <p:cNvGrpSpPr/>
          <p:nvPr/>
        </p:nvGrpSpPr>
        <p:grpSpPr>
          <a:xfrm>
            <a:off x="5027628" y="2628215"/>
            <a:ext cx="2001027" cy="2001169"/>
            <a:chOff x="4969015" y="2841859"/>
            <a:chExt cx="2001027" cy="2001169"/>
          </a:xfrm>
        </p:grpSpPr>
        <p:sp>
          <p:nvSpPr>
            <p:cNvPr id="11" name="任意多边形: 形状 10"/>
            <p:cNvSpPr/>
            <p:nvPr/>
          </p:nvSpPr>
          <p:spPr>
            <a:xfrm>
              <a:off x="4969015" y="2841859"/>
              <a:ext cx="1588724" cy="1873423"/>
            </a:xfrm>
            <a:custGeom>
              <a:avLst/>
              <a:gdLst>
                <a:gd name="csX0" fmla="*/ 1576622 w 1588724"/>
                <a:gd name="csY0" fmla="*/ 182470 h 1873423"/>
                <a:gd name="csX1" fmla="*/ 549219 w 1588724"/>
                <a:gd name="csY1" fmla="*/ 107622 h 1873423"/>
                <a:gd name="csX2" fmla="*/ 232 w 1588724"/>
                <a:gd name="csY2" fmla="*/ 979219 h 1873423"/>
                <a:gd name="csX3" fmla="*/ 511642 w 1588724"/>
                <a:gd name="csY3" fmla="*/ 1873423 h 1873423"/>
                <a:gd name="csX4" fmla="*/ 1576622 w 1588724"/>
                <a:gd name="csY4" fmla="*/ 182470 h 187342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1588724" h="1873423">
                  <a:moveTo>
                    <a:pt x="1576622" y="182470"/>
                  </a:moveTo>
                  <a:cubicBezTo>
                    <a:pt x="1274175" y="-30464"/>
                    <a:pt x="879161" y="-59182"/>
                    <a:pt x="549219" y="107622"/>
                  </a:cubicBezTo>
                  <a:cubicBezTo>
                    <a:pt x="219277" y="274427"/>
                    <a:pt x="8175" y="609562"/>
                    <a:pt x="232" y="979219"/>
                  </a:cubicBezTo>
                  <a:cubicBezTo>
                    <a:pt x="-7711" y="1348877"/>
                    <a:pt x="189032" y="1692872"/>
                    <a:pt x="511642" y="1873423"/>
                  </a:cubicBezTo>
                  <a:cubicBezTo>
                    <a:pt x="1327332" y="1489407"/>
                    <a:pt x="1658496" y="799279"/>
                    <a:pt x="1576622" y="182470"/>
                  </a:cubicBezTo>
                  <a:close/>
                </a:path>
              </a:pathLst>
            </a:custGeom>
            <a:noFill/>
            <a:ln w="30480" cap="flat">
              <a:solidFill>
                <a:schemeClr val="accent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>
              <a:off x="5480657" y="3024329"/>
              <a:ext cx="1489385" cy="1818699"/>
            </a:xfrm>
            <a:custGeom>
              <a:avLst/>
              <a:gdLst>
                <a:gd name="csX0" fmla="*/ 1064980 w 1489385"/>
                <a:gd name="csY0" fmla="*/ 0 h 1818699"/>
                <a:gd name="csX1" fmla="*/ 0 w 1489385"/>
                <a:gd name="csY1" fmla="*/ 1690953 h 1818699"/>
                <a:gd name="csX2" fmla="*/ 1335349 w 1489385"/>
                <a:gd name="csY2" fmla="*/ 1351235 h 1818699"/>
                <a:gd name="csX3" fmla="*/ 1064980 w 1489385"/>
                <a:gd name="csY3" fmla="*/ 0 h 18186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89385" h="1818699">
                  <a:moveTo>
                    <a:pt x="1064980" y="0"/>
                  </a:moveTo>
                  <a:cubicBezTo>
                    <a:pt x="1146854" y="616808"/>
                    <a:pt x="815690" y="1306937"/>
                    <a:pt x="0" y="1690953"/>
                  </a:cubicBezTo>
                  <a:cubicBezTo>
                    <a:pt x="464668" y="1951241"/>
                    <a:pt x="1051537" y="1801850"/>
                    <a:pt x="1335349" y="1351235"/>
                  </a:cubicBezTo>
                  <a:cubicBezTo>
                    <a:pt x="1619160" y="900620"/>
                    <a:pt x="1500320" y="306724"/>
                    <a:pt x="1064980" y="0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30480" cap="flat">
              <a:solidFill>
                <a:schemeClr val="accent2">
                  <a:lumMod val="20000"/>
                  <a:lumOff val="80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任意多边形: 形状 12"/>
            <p:cNvSpPr/>
            <p:nvPr/>
          </p:nvSpPr>
          <p:spPr>
            <a:xfrm>
              <a:off x="5215787" y="3339912"/>
              <a:ext cx="501634" cy="501634"/>
            </a:xfrm>
            <a:custGeom>
              <a:avLst/>
              <a:gdLst>
                <a:gd name="csX0" fmla="*/ 501634 w 501634"/>
                <a:gd name="csY0" fmla="*/ 250817 h 501634"/>
                <a:gd name="csX1" fmla="*/ 250817 w 501634"/>
                <a:gd name="csY1" fmla="*/ 501634 h 501634"/>
                <a:gd name="csX2" fmla="*/ 0 w 501634"/>
                <a:gd name="csY2" fmla="*/ 250817 h 501634"/>
                <a:gd name="csX3" fmla="*/ 250817 w 501634"/>
                <a:gd name="csY3" fmla="*/ 0 h 501634"/>
                <a:gd name="csX4" fmla="*/ 501634 w 501634"/>
                <a:gd name="csY4" fmla="*/ 250817 h 5016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01634" h="501634">
                  <a:moveTo>
                    <a:pt x="501634" y="250817"/>
                  </a:moveTo>
                  <a:cubicBezTo>
                    <a:pt x="501634" y="389209"/>
                    <a:pt x="389209" y="501634"/>
                    <a:pt x="250817" y="501634"/>
                  </a:cubicBezTo>
                  <a:cubicBezTo>
                    <a:pt x="112425" y="501634"/>
                    <a:pt x="0" y="389209"/>
                    <a:pt x="0" y="250817"/>
                  </a:cubicBezTo>
                  <a:cubicBezTo>
                    <a:pt x="0" y="112425"/>
                    <a:pt x="112425" y="0"/>
                    <a:pt x="250817" y="0"/>
                  </a:cubicBezTo>
                  <a:cubicBezTo>
                    <a:pt x="389209" y="0"/>
                    <a:pt x="501634" y="112425"/>
                    <a:pt x="501634" y="250817"/>
                  </a:cubicBezTo>
                  <a:close/>
                </a:path>
              </a:pathLst>
            </a:custGeom>
            <a:solidFill>
              <a:schemeClr val="bg1"/>
            </a:solidFill>
            <a:ln w="30480" cap="flat">
              <a:solidFill>
                <a:schemeClr val="bg1">
                  <a:lumMod val="95000"/>
                </a:schemeClr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文本框 17"/>
          <p:cNvSpPr txBox="1"/>
          <p:nvPr/>
        </p:nvSpPr>
        <p:spPr>
          <a:xfrm>
            <a:off x="4663152" y="1008357"/>
            <a:ext cx="272997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H</a:t>
            </a:r>
            <a:r>
              <a:rPr lang="en-US" altLang="zh-CN" sz="2800" dirty="0">
                <a:latin typeface="Arial Black" panose="020B0A04020102020204" pitchFamily="34" charset="0"/>
              </a:rPr>
              <a:t>ierarchical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8961573" y="2669199"/>
            <a:ext cx="3102388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Artistic</a:t>
            </a:r>
            <a:r>
              <a:rPr lang="en-US" altLang="zh-CN" sz="2800" dirty="0">
                <a:latin typeface="Arial Black" panose="020B0A04020102020204" pitchFamily="34" charset="0"/>
              </a:rPr>
              <a:t> </a:t>
            </a:r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</a:rPr>
              <a:t>tility</a:t>
            </a:r>
          </a:p>
          <a:p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W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orld </a:t>
            </a:r>
            <a:r>
              <a:rPr lang="en-US" altLang="zh-CN" sz="3600" dirty="0">
                <a:solidFill>
                  <a:srgbClr val="C00000"/>
                </a:solidFill>
                <a:latin typeface="Arial Black" panose="020B0A04020102020204" pitchFamily="34" charset="0"/>
                <a:ea typeface="微软雅黑" panose="020B0503020204020204" charset="-122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  <a:ea typeface="微软雅黑" panose="020B0503020204020204" charset="-122"/>
              </a:rPr>
              <a:t>tility</a:t>
            </a:r>
          </a:p>
          <a:p>
            <a:endParaRPr lang="en-US" altLang="zh-CN" sz="16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908131" y="4997184"/>
            <a:ext cx="294824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Big Model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24951" y="2647315"/>
            <a:ext cx="22345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</a:t>
            </a:r>
            <a:r>
              <a:rPr lang="en-US" altLang="zh-CN" sz="4000" dirty="0" err="1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G</a:t>
            </a:r>
            <a:r>
              <a:rPr lang="en-US" altLang="zh-CN" sz="2800" dirty="0" err="1">
                <a:latin typeface="Arial Black" panose="020B0A04020102020204" pitchFamily="34" charset="0"/>
              </a:rPr>
              <a:t>nitive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2314058" y="4943389"/>
            <a:ext cx="271420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000" dirty="0">
                <a:solidFill>
                  <a:srgbClr val="C00000"/>
                </a:solidFill>
                <a:latin typeface="Arial Black" panose="020B0A04020102020204" pitchFamily="34" charset="0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</a:rPr>
              <a:t>-demand</a:t>
            </a:r>
            <a:endParaRPr lang="zh-CN" altLang="en-US" sz="2800" dirty="0"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cxnSp>
        <p:nvCxnSpPr>
          <p:cNvPr id="43" name="直接连接符 42"/>
          <p:cNvCxnSpPr>
            <a:stCxn id="18" idx="2"/>
            <a:endCxn id="36" idx="0"/>
          </p:cNvCxnSpPr>
          <p:nvPr/>
        </p:nvCxnSpPr>
        <p:spPr>
          <a:xfrm>
            <a:off x="6028141" y="1716243"/>
            <a:ext cx="2354112" cy="3280941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5" name="直接连接符 44"/>
          <p:cNvCxnSpPr>
            <a:stCxn id="18" idx="2"/>
            <a:endCxn id="39" idx="0"/>
          </p:cNvCxnSpPr>
          <p:nvPr/>
        </p:nvCxnSpPr>
        <p:spPr>
          <a:xfrm flipH="1">
            <a:off x="3671021" y="1716243"/>
            <a:ext cx="2357755" cy="322707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48" name="直接连接符 47"/>
          <p:cNvCxnSpPr>
            <a:stCxn id="38" idx="3"/>
          </p:cNvCxnSpPr>
          <p:nvPr/>
        </p:nvCxnSpPr>
        <p:spPr>
          <a:xfrm flipV="1">
            <a:off x="3059516" y="1724604"/>
            <a:ext cx="2968681" cy="127665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0" name="直接连接符 49"/>
          <p:cNvCxnSpPr>
            <a:stCxn id="38" idx="3"/>
            <a:endCxn id="39" idx="0"/>
          </p:cNvCxnSpPr>
          <p:nvPr/>
        </p:nvCxnSpPr>
        <p:spPr>
          <a:xfrm>
            <a:off x="3059516" y="3001893"/>
            <a:ext cx="611505" cy="1941830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3670525" y="3023142"/>
            <a:ext cx="5309462" cy="1920248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18" idx="2"/>
          </p:cNvCxnSpPr>
          <p:nvPr/>
        </p:nvCxnSpPr>
        <p:spPr>
          <a:xfrm>
            <a:off x="6028141" y="1716243"/>
            <a:ext cx="2951846" cy="1306899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7" name="直接连接符 56"/>
          <p:cNvCxnSpPr>
            <a:stCxn id="39" idx="0"/>
            <a:endCxn id="36" idx="0"/>
          </p:cNvCxnSpPr>
          <p:nvPr/>
        </p:nvCxnSpPr>
        <p:spPr>
          <a:xfrm>
            <a:off x="3671161" y="4943389"/>
            <a:ext cx="4711700" cy="53975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8" idx="3"/>
            <a:endCxn id="36" idx="0"/>
          </p:cNvCxnSpPr>
          <p:nvPr/>
        </p:nvCxnSpPr>
        <p:spPr>
          <a:xfrm>
            <a:off x="3059516" y="3001258"/>
            <a:ext cx="5322737" cy="1995926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1" name="直接连接符 60"/>
          <p:cNvCxnSpPr>
            <a:endCxn id="36" idx="0"/>
          </p:cNvCxnSpPr>
          <p:nvPr/>
        </p:nvCxnSpPr>
        <p:spPr>
          <a:xfrm flipH="1">
            <a:off x="8382253" y="3023142"/>
            <a:ext cx="597734" cy="1974042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63" name="直接连接符 62"/>
          <p:cNvCxnSpPr>
            <a:stCxn id="38" idx="3"/>
          </p:cNvCxnSpPr>
          <p:nvPr/>
        </p:nvCxnSpPr>
        <p:spPr>
          <a:xfrm>
            <a:off x="3059516" y="3001258"/>
            <a:ext cx="5920471" cy="21884"/>
          </a:xfrm>
          <a:prstGeom prst="line">
            <a:avLst/>
          </a:prstGeom>
          <a:ln cap="rnd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4499518" y="3074664"/>
            <a:ext cx="30572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noProof="1">
                <a:effectLst>
                  <a:outerShdw blurRad="63500" sx="104000" sy="104000" algn="ctr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HongWU</a:t>
            </a:r>
            <a:endParaRPr lang="en-US" sz="3600" noProof="1">
              <a:solidFill>
                <a:schemeClr val="tx1">
                  <a:lumMod val="75000"/>
                  <a:lumOff val="25000"/>
                </a:schemeClr>
              </a:solidFill>
              <a:effectLst>
                <a:outerShdw blurRad="63500" sx="104000" sy="104000" algn="ctr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  <a:ea typeface="微软雅黑" panose="020B0503020204020204" charset="-122"/>
            </a:endParaRPr>
          </a:p>
        </p:txBody>
      </p:sp>
      <p:sp>
        <p:nvSpPr>
          <p:cNvPr id="24" name="文本框 12"/>
          <p:cNvSpPr txBox="1"/>
          <p:nvPr/>
        </p:nvSpPr>
        <p:spPr>
          <a:xfrm>
            <a:off x="1016000" y="254000"/>
            <a:ext cx="10795000" cy="609600"/>
          </a:xfrm>
          <a:prstGeom prst="rect">
            <a:avLst/>
          </a:prstGeom>
          <a:noFill/>
        </p:spPr>
        <p:txBody>
          <a:bodyPr wrap="square" lIns="91440" tIns="0" rIns="91440" bIns="0" anchor="ctr" anchorCtr="0">
            <a:noAutofit/>
          </a:bodyPr>
          <a:lstStyle/>
          <a:p>
            <a:r>
              <a:rPr lang="en-US" altLang="zh-CN" sz="2800" b="1" dirty="0">
                <a:solidFill>
                  <a:schemeClr val="tx1">
                    <a:alpha val="10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HongWU：面向艺术表现的物理世界与开放认知体系</a:t>
            </a:r>
            <a:endParaRPr lang="zh-CN" altLang="en-US" sz="2800" b="1" dirty="0">
              <a:solidFill>
                <a:schemeClr val="tx1">
                  <a:alpha val="100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" name="图片 1" descr="/Users/chenmin/Library/Containers/com.kingsoft.wpsoffice.mac/Data/tmp/picturecompress_20260417095053/output_1.pngoutput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7285" y="27305"/>
            <a:ext cx="795655" cy="795655"/>
          </a:xfrm>
          <a:prstGeom prst="rect">
            <a:avLst/>
          </a:prstGeom>
        </p:spPr>
      </p:pic>
      <p:sp>
        <p:nvSpPr>
          <p:cNvPr id="5" name="弧形 4"/>
          <p:cNvSpPr/>
          <p:nvPr/>
        </p:nvSpPr>
        <p:spPr>
          <a:xfrm>
            <a:off x="4498975" y="1398270"/>
            <a:ext cx="5779770" cy="3102610"/>
          </a:xfrm>
          <a:prstGeom prst="arc">
            <a:avLst/>
          </a:prstGeom>
          <a:ln>
            <a:solidFill>
              <a:srgbClr val="2F6FBF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087360" y="1685290"/>
            <a:ext cx="3036570" cy="52197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zh-CN" sz="28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运动物理约束</a:t>
            </a:r>
            <a:endParaRPr lang="zh-CN" altLang="en-US" sz="2800" b="1" dirty="0">
              <a:solidFill>
                <a:schemeClr val="tx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弧形 6"/>
          <p:cNvSpPr/>
          <p:nvPr/>
        </p:nvSpPr>
        <p:spPr>
          <a:xfrm>
            <a:off x="1022350" y="749935"/>
            <a:ext cx="8021320" cy="5622290"/>
          </a:xfrm>
          <a:prstGeom prst="arc">
            <a:avLst>
              <a:gd name="adj1" fmla="val 2409714"/>
              <a:gd name="adj2" fmla="val 11050418"/>
            </a:avLst>
          </a:prstGeom>
          <a:ln>
            <a:solidFill>
              <a:srgbClr val="EA95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22350" y="5603875"/>
            <a:ext cx="1991995" cy="5219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en-US" sz="2800" b="1" dirty="0">
                <a:solidFill>
                  <a:srgbClr val="F58807"/>
                </a:solidFill>
                <a:latin typeface="微软雅黑" panose="020B0503020204020204" charset="-122"/>
                <a:ea typeface="微软雅黑" panose="020B0503020204020204" charset="-122"/>
              </a:rPr>
              <a:t>AI认知</a:t>
            </a:r>
            <a:endParaRPr lang="zh-CN" altLang="en-US" sz="2800" b="1" dirty="0">
              <a:solidFill>
                <a:srgbClr val="F58807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980170" y="3861435"/>
            <a:ext cx="281305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运动世界与艺术效用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5410200" y="942265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分层结构刻画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984885" y="3244850"/>
            <a:ext cx="2240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认知持续演化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58490" y="5523865"/>
            <a:ext cx="3383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按需感知与个体适配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914005" y="5603875"/>
            <a:ext cx="3840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运动任务与专业模型协同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8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HongWU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的核心哲学：已知世界的精准求解与未知问题的开放认知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9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961390" y="1023280"/>
            <a:ext cx="4235936" cy="54110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文本框 113"/>
          <p:cNvSpPr txBox="1"/>
          <p:nvPr>
            <p:custDataLst>
              <p:tags r:id="rId1"/>
            </p:custDataLst>
          </p:nvPr>
        </p:nvSpPr>
        <p:spPr>
          <a:xfrm>
            <a:off x="1805461" y="1180565"/>
            <a:ext cx="2678471" cy="443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物理世界精准刻画</a:t>
            </a:r>
            <a:endParaRPr lang="zh-CN" altLang="en-US" sz="22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5" name="文本框 94"/>
          <p:cNvSpPr txBox="1"/>
          <p:nvPr>
            <p:custDataLst>
              <p:tags r:id="rId2"/>
            </p:custDataLst>
          </p:nvPr>
        </p:nvSpPr>
        <p:spPr>
          <a:xfrm>
            <a:off x="2099310" y="1623817"/>
            <a:ext cx="1959461" cy="4914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 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WU</a:t>
            </a:r>
            <a:endParaRPr lang="zh-CN" altLang="en-US" sz="2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直接连接符 101"/>
          <p:cNvSpPr>
            <a:spLocks noGrp="1"/>
          </p:cNvSpPr>
          <p:nvPr/>
        </p:nvSpPr>
        <p:spPr>
          <a:xfrm>
            <a:off x="1149985" y="2183252"/>
            <a:ext cx="3838426" cy="8690"/>
          </a:xfrm>
          <a:prstGeom prst="line">
            <a:avLst/>
          </a:prstGeom>
          <a:noFill/>
          <a:ln w="19050" cmpd="sng">
            <a:solidFill>
              <a:schemeClr val="accent1">
                <a:lumMod val="60000"/>
                <a:lumOff val="40000"/>
                <a:alpha val="100000"/>
              </a:schemeClr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sp>
        <p:nvSpPr>
          <p:cNvPr id="9" name="矩形 8"/>
          <p:cNvSpPr/>
          <p:nvPr/>
        </p:nvSpPr>
        <p:spPr>
          <a:xfrm>
            <a:off x="6836151" y="1023280"/>
            <a:ext cx="4757052" cy="5411070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7054056" y="1180523"/>
            <a:ext cx="4191366" cy="4432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2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开放问题的认知适配与演化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7054215" y="1623695"/>
            <a:ext cx="4336415" cy="4610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H +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o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n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g </a:t>
            </a:r>
            <a:r>
              <a:rPr lang="zh-CN" altLang="en-US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+ </a:t>
            </a:r>
            <a:r>
              <a:rPr lang="en-US" altLang="zh-CN" sz="2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Big Model</a:t>
            </a:r>
            <a:endParaRPr lang="zh-CN" altLang="en-US" sz="2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直接连接符 11"/>
          <p:cNvSpPr>
            <a:spLocks noGrp="1"/>
          </p:cNvSpPr>
          <p:nvPr/>
        </p:nvSpPr>
        <p:spPr>
          <a:xfrm>
            <a:off x="7038244" y="2183511"/>
            <a:ext cx="4195704" cy="8690"/>
          </a:xfrm>
          <a:prstGeom prst="line">
            <a:avLst/>
          </a:prstGeom>
          <a:noFill/>
          <a:ln w="19050" cmpd="sng">
            <a:solidFill>
              <a:schemeClr val="tx2">
                <a:lumMod val="60000"/>
                <a:lumOff val="40000"/>
                <a:alpha val="100000"/>
              </a:schemeClr>
            </a:solidFill>
            <a:prstDash val="dashDot"/>
          </a:ln>
        </p:spPr>
        <p:txBody>
          <a:bodyPr/>
          <a:lstStyle/>
          <a:p>
            <a:endParaRPr lang="en-US"/>
          </a:p>
        </p:txBody>
      </p:sp>
      <p:grpSp>
        <p:nvGrpSpPr>
          <p:cNvPr id="44" name="组合 43"/>
          <p:cNvGrpSpPr/>
          <p:nvPr userDrawn="1"/>
        </p:nvGrpSpPr>
        <p:grpSpPr>
          <a:xfrm>
            <a:off x="1331630" y="2355986"/>
            <a:ext cx="3644900" cy="2998470"/>
            <a:chOff x="2095" y="4142"/>
            <a:chExt cx="5740" cy="4722"/>
          </a:xfrm>
        </p:grpSpPr>
        <p:sp>
          <p:nvSpPr>
            <p:cNvPr id="3" name="圆角矩形 2"/>
            <p:cNvSpPr/>
            <p:nvPr userDrawn="1"/>
          </p:nvSpPr>
          <p:spPr>
            <a:xfrm>
              <a:off x="2952" y="4265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多维分层结构</a:t>
              </a:r>
            </a:p>
          </p:txBody>
        </p:sp>
        <p:grpSp>
          <p:nvGrpSpPr>
            <p:cNvPr id="26" name="组合 25"/>
            <p:cNvGrpSpPr/>
            <p:nvPr userDrawn="1"/>
          </p:nvGrpSpPr>
          <p:grpSpPr>
            <a:xfrm>
              <a:off x="2095" y="4142"/>
              <a:ext cx="510" cy="4722"/>
              <a:chOff x="2437" y="4526"/>
              <a:chExt cx="510" cy="4722"/>
            </a:xfrm>
          </p:grpSpPr>
          <p:cxnSp>
            <p:nvCxnSpPr>
              <p:cNvPr id="19" name="直接连接符 18"/>
              <p:cNvCxnSpPr/>
              <p:nvPr userDrawn="1"/>
            </p:nvCxnSpPr>
            <p:spPr>
              <a:xfrm>
                <a:off x="2698" y="4526"/>
                <a:ext cx="0" cy="4722"/>
              </a:xfrm>
              <a:prstGeom prst="line">
                <a:avLst/>
              </a:prstGeom>
              <a:ln w="19050">
                <a:solidFill>
                  <a:schemeClr val="accent1">
                    <a:lumMod val="75000"/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04" name="椭圆 103"/>
              <p:cNvSpPr>
                <a:spLocks noGrp="1"/>
              </p:cNvSpPr>
              <p:nvPr/>
            </p:nvSpPr>
            <p:spPr>
              <a:xfrm>
                <a:off x="2437" y="4752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椭圆 19"/>
              <p:cNvSpPr>
                <a:spLocks noGrp="1"/>
              </p:cNvSpPr>
              <p:nvPr/>
            </p:nvSpPr>
            <p:spPr>
              <a:xfrm>
                <a:off x="2437" y="8409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椭圆 20"/>
              <p:cNvSpPr>
                <a:spLocks noGrp="1"/>
              </p:cNvSpPr>
              <p:nvPr/>
            </p:nvSpPr>
            <p:spPr>
              <a:xfrm>
                <a:off x="2437" y="5971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椭圆 21"/>
              <p:cNvSpPr>
                <a:spLocks noGrp="1"/>
              </p:cNvSpPr>
              <p:nvPr/>
            </p:nvSpPr>
            <p:spPr>
              <a:xfrm>
                <a:off x="2437" y="7190"/>
                <a:ext cx="510" cy="510"/>
              </a:xfrm>
              <a:prstGeom prst="ellipse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" name="圆角矩形 22"/>
            <p:cNvSpPr/>
            <p:nvPr userDrawn="1"/>
          </p:nvSpPr>
          <p:spPr>
            <a:xfrm>
              <a:off x="2952" y="7922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仿真、优化与结果验证</a:t>
              </a:r>
            </a:p>
          </p:txBody>
        </p:sp>
        <p:sp>
          <p:nvSpPr>
            <p:cNvPr id="24" name="圆角矩形 23"/>
            <p:cNvSpPr/>
            <p:nvPr userDrawn="1"/>
          </p:nvSpPr>
          <p:spPr>
            <a:xfrm>
              <a:off x="2884" y="5484"/>
              <a:ext cx="4951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人体—器械—场馆对象化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5" name="圆角矩形 24"/>
            <p:cNvSpPr/>
            <p:nvPr userDrawn="1"/>
          </p:nvSpPr>
          <p:spPr>
            <a:xfrm>
              <a:off x="2952" y="6703"/>
              <a:ext cx="4699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模型 /方程 /规则组织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27" name="下箭头 26"/>
          <p:cNvSpPr/>
          <p:nvPr/>
        </p:nvSpPr>
        <p:spPr>
          <a:xfrm rot="16200000">
            <a:off x="5601394" y="3474815"/>
            <a:ext cx="830726" cy="163882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 userDrawn="1"/>
        </p:nvSpPr>
        <p:spPr>
          <a:xfrm>
            <a:off x="5197343" y="4097284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证据与边界</a:t>
            </a:r>
          </a:p>
        </p:txBody>
      </p:sp>
      <p:sp>
        <p:nvSpPr>
          <p:cNvPr id="29" name="下箭头 28"/>
          <p:cNvSpPr/>
          <p:nvPr/>
        </p:nvSpPr>
        <p:spPr>
          <a:xfrm rot="5400000">
            <a:off x="5600858" y="1797679"/>
            <a:ext cx="831797" cy="1638828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tx2">
                  <a:lumMod val="20000"/>
                  <a:lumOff val="80000"/>
                </a:schemeClr>
              </a:gs>
              <a:gs pos="83000">
                <a:srgbClr val="74A3DD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 userDrawn="1"/>
        </p:nvSpPr>
        <p:spPr>
          <a:xfrm>
            <a:off x="5355102" y="2420133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2000" b="1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任务与约束</a:t>
            </a:r>
            <a:endParaRPr lang="zh-CN" altLang="en-US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3" name="组合 42"/>
          <p:cNvGrpSpPr/>
          <p:nvPr userDrawn="1"/>
        </p:nvGrpSpPr>
        <p:grpSpPr>
          <a:xfrm>
            <a:off x="7141068" y="2355703"/>
            <a:ext cx="4365625" cy="2998470"/>
            <a:chOff x="11203" y="4141"/>
            <a:chExt cx="6875" cy="4722"/>
          </a:xfrm>
        </p:grpSpPr>
        <p:grpSp>
          <p:nvGrpSpPr>
            <p:cNvPr id="31" name="组合 30"/>
            <p:cNvGrpSpPr/>
            <p:nvPr userDrawn="1"/>
          </p:nvGrpSpPr>
          <p:grpSpPr>
            <a:xfrm>
              <a:off x="11203" y="4141"/>
              <a:ext cx="510" cy="4722"/>
              <a:chOff x="2437" y="4526"/>
              <a:chExt cx="510" cy="4722"/>
            </a:xfrm>
          </p:grpSpPr>
          <p:cxnSp>
            <p:nvCxnSpPr>
              <p:cNvPr id="32" name="直接连接符 31"/>
              <p:cNvCxnSpPr/>
              <p:nvPr userDrawn="1"/>
            </p:nvCxnSpPr>
            <p:spPr>
              <a:xfrm>
                <a:off x="2698" y="4526"/>
                <a:ext cx="0" cy="4722"/>
              </a:xfrm>
              <a:prstGeom prst="line">
                <a:avLst/>
              </a:prstGeom>
              <a:ln w="19050">
                <a:solidFill>
                  <a:schemeClr val="tx2">
                    <a:lumMod val="75000"/>
                    <a:alpha val="100000"/>
                  </a:schemeClr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33" name="椭圆 32"/>
              <p:cNvSpPr>
                <a:spLocks noGrp="1"/>
              </p:cNvSpPr>
              <p:nvPr/>
            </p:nvSpPr>
            <p:spPr>
              <a:xfrm>
                <a:off x="2437" y="4752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椭圆 33"/>
              <p:cNvSpPr>
                <a:spLocks noGrp="1"/>
              </p:cNvSpPr>
              <p:nvPr/>
            </p:nvSpPr>
            <p:spPr>
              <a:xfrm>
                <a:off x="2437" y="8409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椭圆 34"/>
              <p:cNvSpPr>
                <a:spLocks noGrp="1"/>
              </p:cNvSpPr>
              <p:nvPr/>
            </p:nvSpPr>
            <p:spPr>
              <a:xfrm>
                <a:off x="2437" y="5971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椭圆 35"/>
              <p:cNvSpPr>
                <a:spLocks noGrp="1"/>
              </p:cNvSpPr>
              <p:nvPr/>
            </p:nvSpPr>
            <p:spPr>
              <a:xfrm>
                <a:off x="2437" y="7190"/>
                <a:ext cx="510" cy="510"/>
              </a:xfrm>
              <a:prstGeom prst="ellipse">
                <a:avLst/>
              </a:prstGeom>
              <a:solidFill>
                <a:schemeClr val="tx2">
                  <a:lumMod val="60000"/>
                  <a:lumOff val="40000"/>
                  <a:alpha val="100000"/>
                </a:schemeClr>
              </a:solidFill>
              <a:ln w="19050">
                <a:solidFill>
                  <a:srgbClr val="FFFFFF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圆角矩形 36"/>
            <p:cNvSpPr/>
            <p:nvPr userDrawn="1"/>
          </p:nvSpPr>
          <p:spPr>
            <a:xfrm>
              <a:off x="12116" y="4316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运动项目拆分与</a:t>
              </a:r>
              <a:r>
                <a:rPr lang="zh-CN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任务拆解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8" name="圆角矩形 37"/>
            <p:cNvSpPr/>
            <p:nvPr userDrawn="1"/>
          </p:nvSpPr>
          <p:spPr>
            <a:xfrm>
              <a:off x="11980" y="7922"/>
              <a:ext cx="6098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引入裁判与教练反馈，持续演化</a:t>
              </a:r>
              <a:endPara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9" name="圆角矩形 38"/>
            <p:cNvSpPr/>
            <p:nvPr userDrawn="1"/>
          </p:nvSpPr>
          <p:spPr>
            <a:xfrm>
              <a:off x="12116" y="5536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按需融合与动态编排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40" name="圆角矩形 39"/>
            <p:cNvSpPr/>
            <p:nvPr userDrawn="1"/>
          </p:nvSpPr>
          <p:spPr>
            <a:xfrm>
              <a:off x="12116" y="6755"/>
              <a:ext cx="5780" cy="715"/>
            </a:xfrm>
            <a:prstGeom prst="roundRect">
              <a:avLst>
                <a:gd name="adj" fmla="val 30802"/>
              </a:avLst>
            </a:prstGeom>
            <a:solidFill>
              <a:schemeClr val="bg1">
                <a:alpha val="100000"/>
              </a:schemeClr>
            </a:solidFill>
            <a:ln w="25400" cmpd="sng">
              <a:noFill/>
              <a:prstDash val="solid"/>
              <a:miter lim="800000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r>
                <a:rPr lang="zh-CN" altLang="en-US" sz="20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识别新态势与发现缺口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sp>
        <p:nvSpPr>
          <p:cNvPr id="41" name="文本框 40"/>
          <p:cNvSpPr txBox="1"/>
          <p:nvPr userDrawn="1"/>
        </p:nvSpPr>
        <p:spPr>
          <a:xfrm>
            <a:off x="5275850" y="3232031"/>
            <a:ext cx="1481727" cy="3939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双向</a:t>
            </a:r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耦合</a:t>
            </a:r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圆角矩形 41"/>
          <p:cNvSpPr/>
          <p:nvPr userDrawn="1"/>
        </p:nvSpPr>
        <p:spPr>
          <a:xfrm>
            <a:off x="1202288" y="5519347"/>
            <a:ext cx="3786149" cy="722117"/>
          </a:xfrm>
          <a:prstGeom prst="roundRect">
            <a:avLst>
              <a:gd name="adj" fmla="val 12581"/>
            </a:avLst>
          </a:prstGeom>
          <a:solidFill>
            <a:srgbClr val="F29A0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刻画场馆、人体与器械的可测事实，</a:t>
            </a:r>
          </a:p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建立可靠的运动学基础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圆角矩形 44"/>
          <p:cNvSpPr/>
          <p:nvPr userDrawn="1"/>
        </p:nvSpPr>
        <p:spPr>
          <a:xfrm>
            <a:off x="7306555" y="5519573"/>
            <a:ext cx="3786149" cy="722117"/>
          </a:xfrm>
          <a:prstGeom prst="roundRect">
            <a:avLst>
              <a:gd name="adj" fmla="val 12581"/>
            </a:avLst>
          </a:prstGeom>
          <a:solidFill>
            <a:srgbClr val="0070C0">
              <a:alpha val="100000"/>
            </a:srgb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面向审美、个体体验与临场变化，
在专家反馈中拓展认知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Hierarchical：从多源运动观测到艺术表现分层认知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10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986227" y="5659480"/>
            <a:ext cx="7142782" cy="7734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600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多源运动数据层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视频数据 | 姿态数据 | 生理数据 | 音乐数据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构建经校准的多模态观测与数据基础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endParaRPr lang="en-US" altLang="zh-CN" sz="1600" dirty="0">
              <a:solidFill>
                <a:srgbClr val="C00000"/>
              </a:solidFill>
            </a:endParaRPr>
          </a:p>
        </p:txBody>
      </p:sp>
      <p:sp>
        <p:nvSpPr>
          <p:cNvPr id="4" name="矩形: 圆角 5"/>
          <p:cNvSpPr/>
          <p:nvPr/>
        </p:nvSpPr>
        <p:spPr>
          <a:xfrm>
            <a:off x="1986227" y="4660530"/>
            <a:ext cx="7142782" cy="876924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人体、器械与场馆状态表征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时空对齐 | 多视角融合 | 体征监测 | 质量控制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形成可追踪、可更新的运动状态空间</a:t>
            </a:r>
          </a:p>
        </p:txBody>
      </p:sp>
      <p:sp>
        <p:nvSpPr>
          <p:cNvPr id="8" name="矩形: 圆角 6"/>
          <p:cNvSpPr/>
          <p:nvPr/>
        </p:nvSpPr>
        <p:spPr>
          <a:xfrm>
            <a:off x="1986227" y="3661580"/>
            <a:ext cx="7142782" cy="8769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认知与任务编排系统</a:t>
            </a:r>
            <a:endParaRPr lang="en-US" altLang="zh-CN" sz="1600" b="1" dirty="0">
              <a:solidFill>
                <a:schemeClr val="tx1"/>
              </a:solidFill>
            </a:endParaRPr>
          </a:p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World model | Individual adaptation | Human feedback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组织运动事实、审美目标与动态任务</a:t>
            </a:r>
          </a:p>
        </p:txBody>
      </p:sp>
      <p:sp>
        <p:nvSpPr>
          <p:cNvPr id="9" name="矩形: 圆角 7"/>
          <p:cNvSpPr/>
          <p:nvPr/>
        </p:nvSpPr>
        <p:spPr>
          <a:xfrm>
            <a:off x="1986227" y="2658704"/>
            <a:ext cx="7142782" cy="87692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专项运动模型与规则工具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姿态跟踪 | 器械轨迹 | 动作事件 | 音乐分析</a:t>
            </a: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按任务调用专业能力，并报告适用边界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矩形: 圆角 8"/>
          <p:cNvSpPr/>
          <p:nvPr/>
        </p:nvSpPr>
        <p:spPr>
          <a:xfrm>
            <a:off x="1986227" y="1774109"/>
            <a:ext cx="7142782" cy="77344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600" b="1" dirty="0" err="1">
                <a:solidFill>
                  <a:prstClr val="black"/>
                </a:solidFill>
                <a:latin typeface="Arial" panose="020B0604020202020204"/>
                <a:ea typeface="微软雅黑" panose="020B0503020204020204" charset="-122"/>
              </a:rPr>
              <a:t>HongWU辅助艺术评价与编排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候选比较 | 完成质量 | 艺术解释 | 人机协同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给出证据与选择理由，最终由专家判断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: 圆角 9"/>
          <p:cNvSpPr/>
          <p:nvPr/>
        </p:nvSpPr>
        <p:spPr>
          <a:xfrm>
            <a:off x="1986227" y="896451"/>
            <a:ext cx="7142782" cy="77344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现场训练与评价反馈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试排记录 | 教练修订 | 裁判解释 | 场馆应用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algn="ctr"/>
            <a:r>
              <a:rPr lang="en-US" altLang="zh-CN" sz="160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形成可复核的反馈与优化依据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V="1">
            <a:off x="1734736" y="963350"/>
            <a:ext cx="0" cy="5396459"/>
          </a:xfrm>
          <a:prstGeom prst="straightConnector1">
            <a:avLst/>
          </a:prstGeom>
          <a:ln w="762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: 圆角 21"/>
          <p:cNvSpPr/>
          <p:nvPr/>
        </p:nvSpPr>
        <p:spPr>
          <a:xfrm>
            <a:off x="9613265" y="2952115"/>
            <a:ext cx="2488565" cy="15367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b="1" dirty="0" err="1">
                <a:solidFill>
                  <a:schemeClr val="tx1"/>
                </a:solidFill>
              </a:rPr>
              <a:t>运动专项能力协同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动作识别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规则核验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艺术评价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持续校准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24" name="连接符: 肘形 23"/>
          <p:cNvCxnSpPr>
            <a:stCxn id="11" idx="3"/>
            <a:endCxn id="22" idx="0"/>
          </p:cNvCxnSpPr>
          <p:nvPr/>
        </p:nvCxnSpPr>
        <p:spPr>
          <a:xfrm>
            <a:off x="9128760" y="1283335"/>
            <a:ext cx="1729105" cy="1668780"/>
          </a:xfrm>
          <a:prstGeom prst="bentConnector2">
            <a:avLst/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连接符: 肘形 24"/>
          <p:cNvCxnSpPr>
            <a:stCxn id="22" idx="2"/>
            <a:endCxn id="5" idx="3"/>
          </p:cNvCxnSpPr>
          <p:nvPr/>
        </p:nvCxnSpPr>
        <p:spPr>
          <a:xfrm rot="5400000">
            <a:off x="9214485" y="4403090"/>
            <a:ext cx="1557655" cy="1729105"/>
          </a:xfrm>
          <a:prstGeom prst="bentConnector2">
            <a:avLst/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22" idx="1"/>
            <a:endCxn id="4" idx="3"/>
          </p:cNvCxnSpPr>
          <p:nvPr/>
        </p:nvCxnSpPr>
        <p:spPr>
          <a:xfrm rot="10800000" flipV="1">
            <a:off x="9128760" y="3720465"/>
            <a:ext cx="484505" cy="1378585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连接符: 肘形 32"/>
          <p:cNvCxnSpPr>
            <a:stCxn id="22" idx="1"/>
            <a:endCxn id="10" idx="3"/>
          </p:cNvCxnSpPr>
          <p:nvPr/>
        </p:nvCxnSpPr>
        <p:spPr>
          <a:xfrm rot="10800000">
            <a:off x="9128760" y="2160905"/>
            <a:ext cx="484505" cy="1559560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5"/>
          <p:cNvCxnSpPr>
            <a:stCxn id="22" idx="1"/>
            <a:endCxn id="8" idx="3"/>
          </p:cNvCxnSpPr>
          <p:nvPr/>
        </p:nvCxnSpPr>
        <p:spPr>
          <a:xfrm rot="10800000" flipV="1">
            <a:off x="9128760" y="3720465"/>
            <a:ext cx="484505" cy="379730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连接符: 肘形 19"/>
          <p:cNvCxnSpPr>
            <a:stCxn id="22" idx="1"/>
            <a:endCxn id="9" idx="3"/>
          </p:cNvCxnSpPr>
          <p:nvPr/>
        </p:nvCxnSpPr>
        <p:spPr>
          <a:xfrm rot="10800000">
            <a:off x="9128760" y="3097530"/>
            <a:ext cx="484505" cy="622935"/>
          </a:xfrm>
          <a:prstGeom prst="bentConnector3">
            <a:avLst>
              <a:gd name="adj1" fmla="val 49934"/>
            </a:avLst>
          </a:prstGeom>
          <a:ln w="38100">
            <a:solidFill>
              <a:srgbClr val="20386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>
            <a:off x="311061" y="109428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价值输出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311061" y="58615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数据输入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311061" y="291279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智能演算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311061" y="48980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多源聚合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11061" y="3897181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认知编排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311061" y="197433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rgbClr val="20386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动态决策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2068657" y="6476847"/>
            <a:ext cx="6977922" cy="36287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构建“感知—理解—编排—评价—反馈—优化”的认知闭环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5421630" y="1000125"/>
            <a:ext cx="6092825" cy="33280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Hierarchical：从显性动作到隐性艺术表现的分层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11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433070" y="5490845"/>
            <a:ext cx="48653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</a:rPr>
              <a:t>显性：动作—技术事件—完整成套</a:t>
            </a:r>
          </a:p>
        </p:txBody>
      </p:sp>
      <p:sp>
        <p:nvSpPr>
          <p:cNvPr id="26" name="矩形 25"/>
          <p:cNvSpPr/>
          <p:nvPr/>
        </p:nvSpPr>
        <p:spPr>
          <a:xfrm>
            <a:off x="5421630" y="4462236"/>
            <a:ext cx="6092825" cy="13862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591175" y="4511675"/>
            <a:ext cx="1452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rPr>
              <a:t>隐性分层：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6385560" y="4862195"/>
            <a:ext cx="81153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音乐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美感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风格</a:t>
            </a:r>
          </a:p>
        </p:txBody>
      </p:sp>
      <p:sp>
        <p:nvSpPr>
          <p:cNvPr id="31" name="文本框 30"/>
          <p:cNvSpPr txBox="1"/>
          <p:nvPr/>
        </p:nvSpPr>
        <p:spPr>
          <a:xfrm>
            <a:off x="7807325" y="4862195"/>
            <a:ext cx="12811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情感表达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专家感受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现场氛围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显性运动事实与隐性审美解释分层刻画，并由运动员、教练和裁判持续关联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9839325" y="5122545"/>
            <a:ext cx="72644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23959AE6-C52B-9829-8A93-C7A464C594E9}"/>
              </a:ext>
            </a:extLst>
          </p:cNvPr>
          <p:cNvGrpSpPr/>
          <p:nvPr/>
        </p:nvGrpSpPr>
        <p:grpSpPr>
          <a:xfrm>
            <a:off x="5456933" y="1073785"/>
            <a:ext cx="5740719" cy="2818635"/>
            <a:chOff x="5456933" y="1073785"/>
            <a:chExt cx="5740719" cy="2818635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3D67B45-75A8-2503-CE67-C538D3623391}"/>
                </a:ext>
              </a:extLst>
            </p:cNvPr>
            <p:cNvSpPr txBox="1"/>
            <p:nvPr/>
          </p:nvSpPr>
          <p:spPr>
            <a:xfrm>
              <a:off x="5482373" y="3227943"/>
              <a:ext cx="5715279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综合完整性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综合完成质量、整体协调、音乐节奏、空间组织与稳定性、加权评分。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F3A9BA8-8D82-38F0-173C-3E3D901584DD}"/>
                </a:ext>
              </a:extLst>
            </p:cNvPr>
            <p:cNvSpPr txBox="1"/>
            <p:nvPr/>
          </p:nvSpPr>
          <p:spPr>
            <a:xfrm>
              <a:off x="5456933" y="2409382"/>
              <a:ext cx="5740719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lang="zh-CN" altLang="en-US" b="1" dirty="0">
                  <a:solidFill>
                    <a:prstClr val="black"/>
                  </a:solidFill>
                  <a:latin typeface="微软雅黑" panose="020B0503020204020204" charset="-122"/>
                  <a:ea typeface="微软雅黑" panose="020B0503020204020204" charset="-122"/>
                </a:rPr>
                <a:t>技术完成度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推按专项规则核查难度系数、单项得分、动作边界、衔接与失误</a:t>
              </a:r>
              <a:endPara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3B266C1E-6A23-7897-80E4-1F89221231EE}"/>
                </a:ext>
              </a:extLst>
            </p:cNvPr>
            <p:cNvSpPr txBox="1"/>
            <p:nvPr/>
          </p:nvSpPr>
          <p:spPr>
            <a:xfrm>
              <a:off x="5490766" y="1565117"/>
              <a:ext cx="5588763" cy="6644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marR="0" lvl="0" indent="-342900" algn="l" defTabSz="1217930" rtl="0" eaLnBrk="0" fontAlgn="base" latinLnBrk="0" hangingPunct="0">
                <a:lnSpc>
                  <a:spcPct val="11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Wingdings" panose="05000000000000000000" pitchFamily="2" charset="2"/>
                <a:buChar char="l"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动作与姿态</a:t>
              </a: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：</a:t>
              </a: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  <a:cs typeface="+mn-cs"/>
                </a:rPr>
                <a:t>以</a:t>
              </a:r>
              <a:r>
                <a:rPr lang="zh-CN" altLang="en-US" dirty="0">
                  <a:solidFill>
                    <a:prstClr val="black"/>
                  </a:solidFill>
                  <a:latin typeface="楷体" panose="02010609060101010101" pitchFamily="49" charset="-122"/>
                  <a:ea typeface="楷体" panose="02010609060101010101" pitchFamily="49" charset="-122"/>
                </a:rPr>
                <a:t>记录关节运动、器械轨迹、旋转次数与落地稳定性等。</a:t>
              </a: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endParaRP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27C03896-3017-61CD-9AC1-D052C3E7597C}"/>
                </a:ext>
              </a:extLst>
            </p:cNvPr>
            <p:cNvSpPr txBox="1"/>
            <p:nvPr/>
          </p:nvSpPr>
          <p:spPr>
            <a:xfrm>
              <a:off x="5591175" y="1073785"/>
              <a:ext cx="1452880" cy="39878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/>
                  </a:solidFill>
                  <a:latin typeface="微软雅黑" panose="020B0503020204020204" charset="-122"/>
                  <a:ea typeface="微软雅黑" panose="020B0503020204020204" charset="-122"/>
                </a:rPr>
                <a:t>显性分层：</a:t>
              </a:r>
            </a:p>
          </p:txBody>
        </p:sp>
      </p:grpSp>
      <p:pic>
        <p:nvPicPr>
          <p:cNvPr id="12" name="图片 11" descr="从显性动作到隐性艺术表现的分层示意">
            <a:extLst>
              <a:ext uri="{FF2B5EF4-FFF2-40B4-BE49-F238E27FC236}">
                <a16:creationId xmlns:a16="http://schemas.microsoft.com/office/drawing/2014/main" id="{79A8872C-93E1-061E-268E-4A4F2125C9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95" b="1395"/>
          <a:stretch>
            <a:fillRect/>
          </a:stretch>
        </p:blipFill>
        <p:spPr>
          <a:xfrm>
            <a:off x="433070" y="1472565"/>
            <a:ext cx="4688929" cy="4018279"/>
          </a:xfrm>
          <a:prstGeom prst="rect">
            <a:avLst/>
          </a:prstGeom>
        </p:spPr>
      </p:pic>
      <p:sp>
        <p:nvSpPr>
          <p:cNvPr id="14" name="TextBox 242">
            <a:extLst>
              <a:ext uri="{FF2B5EF4-FFF2-40B4-BE49-F238E27FC236}">
                <a16:creationId xmlns:a16="http://schemas.microsoft.com/office/drawing/2014/main" id="{67CF641C-6D4D-74E6-4FA5-052A1B2AD178}"/>
              </a:ext>
            </a:extLst>
          </p:cNvPr>
          <p:cNvSpPr txBox="1"/>
          <p:nvPr/>
        </p:nvSpPr>
        <p:spPr>
          <a:xfrm>
            <a:off x="548640" y="1617594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Emotion·atmosphere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18" name="TextBox 243">
            <a:extLst>
              <a:ext uri="{FF2B5EF4-FFF2-40B4-BE49-F238E27FC236}">
                <a16:creationId xmlns:a16="http://schemas.microsoft.com/office/drawing/2014/main" id="{87C06FED-E4E5-FA5F-CF95-9568915AA84B}"/>
              </a:ext>
            </a:extLst>
          </p:cNvPr>
          <p:cNvSpPr txBox="1"/>
          <p:nvPr/>
        </p:nvSpPr>
        <p:spPr>
          <a:xfrm>
            <a:off x="548640" y="2504563"/>
            <a:ext cx="1783080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Music·Style·Aesthetic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0" name="TextBox 244">
            <a:extLst>
              <a:ext uri="{FF2B5EF4-FFF2-40B4-BE49-F238E27FC236}">
                <a16:creationId xmlns:a16="http://schemas.microsoft.com/office/drawing/2014/main" id="{CB7927F8-8E2F-2731-7CBF-313308A4E354}"/>
              </a:ext>
            </a:extLst>
          </p:cNvPr>
          <p:cNvSpPr txBox="1"/>
          <p:nvPr/>
        </p:nvSpPr>
        <p:spPr>
          <a:xfrm>
            <a:off x="548640" y="3210044"/>
            <a:ext cx="1900646" cy="18466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200" b="1" i="1" dirty="0" err="1">
                <a:solidFill>
                  <a:srgbClr val="123F63"/>
                </a:solidFill>
                <a:latin typeface="微软雅黑"/>
              </a:rPr>
              <a:t>Integrety</a:t>
            </a:r>
            <a:r>
              <a:rPr lang="en-US" altLang="zh-CN" sz="1200" b="1" i="1" dirty="0">
                <a:solidFill>
                  <a:srgbClr val="123F63"/>
                </a:solidFill>
                <a:latin typeface="微软雅黑"/>
              </a:rPr>
              <a:t> ·Coordination</a:t>
            </a:r>
            <a:endParaRPr lang="zh-CN" altLang="en-US" sz="12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2" name="TextBox 245">
            <a:extLst>
              <a:ext uri="{FF2B5EF4-FFF2-40B4-BE49-F238E27FC236}">
                <a16:creationId xmlns:a16="http://schemas.microsoft.com/office/drawing/2014/main" id="{04D98518-B6A6-C13D-FDE1-45E1EE7EF299}"/>
              </a:ext>
            </a:extLst>
          </p:cNvPr>
          <p:cNvSpPr txBox="1"/>
          <p:nvPr/>
        </p:nvSpPr>
        <p:spPr>
          <a:xfrm>
            <a:off x="548640" y="4025366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123F63"/>
                </a:solidFill>
                <a:latin typeface="微软雅黑"/>
              </a:rPr>
              <a:t>Technical Difficulty</a:t>
            </a:r>
            <a:endParaRPr lang="zh-CN" altLang="en-US" sz="14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5" name="TextBox 246">
            <a:extLst>
              <a:ext uri="{FF2B5EF4-FFF2-40B4-BE49-F238E27FC236}">
                <a16:creationId xmlns:a16="http://schemas.microsoft.com/office/drawing/2014/main" id="{843424FF-AA99-B427-6A7C-CBDED3E5E3A6}"/>
              </a:ext>
            </a:extLst>
          </p:cNvPr>
          <p:cNvSpPr txBox="1"/>
          <p:nvPr/>
        </p:nvSpPr>
        <p:spPr>
          <a:xfrm>
            <a:off x="548640" y="4912334"/>
            <a:ext cx="1783080" cy="2154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altLang="zh-CN" sz="1400" b="1" i="1" dirty="0">
                <a:solidFill>
                  <a:srgbClr val="123F63"/>
                </a:solidFill>
                <a:latin typeface="微软雅黑"/>
              </a:rPr>
              <a:t>Action Postures</a:t>
            </a:r>
            <a:endParaRPr lang="zh-CN" altLang="en-US" sz="1400" b="1" i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30" name="Up Arrow 247">
            <a:extLst>
              <a:ext uri="{FF2B5EF4-FFF2-40B4-BE49-F238E27FC236}">
                <a16:creationId xmlns:a16="http://schemas.microsoft.com/office/drawing/2014/main" id="{0D322260-5C26-BC95-6D8F-AD9888C24819}"/>
              </a:ext>
            </a:extLst>
          </p:cNvPr>
          <p:cNvSpPr/>
          <p:nvPr/>
        </p:nvSpPr>
        <p:spPr>
          <a:xfrm>
            <a:off x="1280160" y="4443984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Up Arrow 248">
            <a:extLst>
              <a:ext uri="{FF2B5EF4-FFF2-40B4-BE49-F238E27FC236}">
                <a16:creationId xmlns:a16="http://schemas.microsoft.com/office/drawing/2014/main" id="{145F84A5-9F6A-B137-72CF-2FD1AA2054AD}"/>
              </a:ext>
            </a:extLst>
          </p:cNvPr>
          <p:cNvSpPr/>
          <p:nvPr/>
        </p:nvSpPr>
        <p:spPr>
          <a:xfrm>
            <a:off x="1280160" y="3602736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Up Arrow 250">
            <a:extLst>
              <a:ext uri="{FF2B5EF4-FFF2-40B4-BE49-F238E27FC236}">
                <a16:creationId xmlns:a16="http://schemas.microsoft.com/office/drawing/2014/main" id="{65E97F51-CA8B-0302-664E-60C6C56F6C17}"/>
              </a:ext>
            </a:extLst>
          </p:cNvPr>
          <p:cNvSpPr/>
          <p:nvPr/>
        </p:nvSpPr>
        <p:spPr>
          <a:xfrm>
            <a:off x="1280160" y="2029967"/>
            <a:ext cx="274320" cy="256032"/>
          </a:xfrm>
          <a:prstGeom prst="upArrow">
            <a:avLst/>
          </a:prstGeom>
          <a:solidFill>
            <a:srgbClr val="29A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>
                <a:solidFill>
                  <a:srgbClr val="C00000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  <a:sym typeface="+mn-ea"/>
              </a:rPr>
              <a:t>A</a:t>
            </a:r>
            <a:r>
              <a:rPr lang="en-US" altLang="zh-CN" sz="280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  <a:sym typeface="+mn-ea"/>
              </a:rPr>
              <a:t>rtistic </a:t>
            </a:r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  <a:sym typeface="+mn-ea"/>
              </a:rPr>
              <a:t>U</a:t>
            </a:r>
            <a:r>
              <a:rPr lang="en-US" altLang="zh-CN" sz="2800" dirty="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  <a:sym typeface="+mn-ea"/>
              </a:rPr>
              <a:t>tility</a:t>
            </a:r>
            <a:r>
              <a:rPr lang="en-US" altLang="zh-CN" sz="2800" b="1" dirty="0">
                <a:latin typeface="Arial Black" panose="020B0A04020102020204" pitchFamily="34" charset="0"/>
                <a:ea typeface="Arial Black" panose="020B0A04020102020204" pitchFamily="34" charset="0"/>
                <a:cs typeface="Arial Black" panose="020B0A04020102020204" pitchFamily="34" charset="0"/>
                <a:sym typeface="+mn-ea"/>
              </a:rPr>
              <a:t>：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艺术表现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智能体广场与多模型协同编排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fld>
            <a:endParaRPr lang="en-US">
              <a:solidFill>
                <a:schemeClr val="tx1">
                  <a:tint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51" name="组合 150"/>
          <p:cNvGrpSpPr/>
          <p:nvPr userDrawn="1"/>
        </p:nvGrpSpPr>
        <p:grpSpPr>
          <a:xfrm>
            <a:off x="850012" y="1081954"/>
            <a:ext cx="10412970" cy="4574271"/>
            <a:chOff x="887" y="2306"/>
            <a:chExt cx="14563" cy="6403"/>
          </a:xfrm>
        </p:grpSpPr>
        <p:sp>
          <p:nvSpPr>
            <p:cNvPr id="57" name="圆角矩形 56"/>
            <p:cNvSpPr/>
            <p:nvPr/>
          </p:nvSpPr>
          <p:spPr>
            <a:xfrm>
              <a:off x="887" y="2306"/>
              <a:ext cx="4703" cy="6283"/>
            </a:xfrm>
            <a:prstGeom prst="roundRect">
              <a:avLst>
                <a:gd name="adj" fmla="val 5145"/>
              </a:avLst>
            </a:prstGeom>
            <a:solidFill>
              <a:schemeClr val="bg1"/>
            </a:solidFill>
            <a:ln w="19050">
              <a:solidFill>
                <a:schemeClr val="tx2">
                  <a:lumMod val="60000"/>
                  <a:lumOff val="40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8" name="同侧圆角矩形 57"/>
            <p:cNvSpPr/>
            <p:nvPr/>
          </p:nvSpPr>
          <p:spPr>
            <a:xfrm>
              <a:off x="887" y="2306"/>
              <a:ext cx="4703" cy="717"/>
            </a:xfrm>
            <a:prstGeom prst="round2SameRect">
              <a:avLst>
                <a:gd name="adj1" fmla="val 23249"/>
                <a:gd name="adj2" fmla="val 0"/>
              </a:avLst>
            </a:prstGeom>
            <a:solidFill>
              <a:schemeClr val="tx2">
                <a:lumMod val="60000"/>
                <a:lumOff val="40000"/>
                <a:alpha val="100000"/>
              </a:schemeClr>
            </a:solidFill>
            <a:ln w="19050">
              <a:solidFill>
                <a:schemeClr val="tx2">
                  <a:lumMod val="60000"/>
                  <a:lumOff val="40000"/>
                  <a:alpha val="10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艺术表现原子能力封装</a:t>
              </a:r>
            </a:p>
          </p:txBody>
        </p:sp>
        <p:sp>
          <p:nvSpPr>
            <p:cNvPr id="59" name="圆角矩形 58"/>
            <p:cNvSpPr/>
            <p:nvPr/>
          </p:nvSpPr>
          <p:spPr>
            <a:xfrm>
              <a:off x="6125" y="2306"/>
              <a:ext cx="3475" cy="6283"/>
            </a:xfrm>
            <a:prstGeom prst="roundRect">
              <a:avLst>
                <a:gd name="adj" fmla="val 5145"/>
              </a:avLst>
            </a:prstGeom>
            <a:solidFill>
              <a:schemeClr val="bg1"/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0" name="同侧圆角矩形 59"/>
            <p:cNvSpPr/>
            <p:nvPr/>
          </p:nvSpPr>
          <p:spPr>
            <a:xfrm>
              <a:off x="6125" y="2306"/>
              <a:ext cx="3475" cy="717"/>
            </a:xfrm>
            <a:prstGeom prst="round2SameRect">
              <a:avLst>
                <a:gd name="adj1" fmla="val 23249"/>
                <a:gd name="adj2" fmla="val 0"/>
              </a:avLst>
            </a:prstGeom>
            <a:solidFill>
              <a:schemeClr val="bg2">
                <a:lumMod val="50000"/>
              </a:schemeClr>
            </a:solidFill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统一接口与能力注册</a:t>
              </a:r>
            </a:p>
          </p:txBody>
        </p:sp>
        <p:sp>
          <p:nvSpPr>
            <p:cNvPr id="61" name="圆角矩形 60"/>
            <p:cNvSpPr/>
            <p:nvPr/>
          </p:nvSpPr>
          <p:spPr>
            <a:xfrm>
              <a:off x="10123" y="2306"/>
              <a:ext cx="5327" cy="6283"/>
            </a:xfrm>
            <a:prstGeom prst="roundRect">
              <a:avLst>
                <a:gd name="adj" fmla="val 5145"/>
              </a:avLst>
            </a:prstGeom>
            <a:solidFill>
              <a:schemeClr val="bg1"/>
            </a:solidFill>
            <a:ln w="19050">
              <a:solidFill>
                <a:srgbClr val="248C5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2" name="同侧圆角矩形 61"/>
            <p:cNvSpPr/>
            <p:nvPr/>
          </p:nvSpPr>
          <p:spPr>
            <a:xfrm>
              <a:off x="10123" y="2306"/>
              <a:ext cx="5327" cy="717"/>
            </a:xfrm>
            <a:prstGeom prst="round2SameRect">
              <a:avLst>
                <a:gd name="adj1" fmla="val 23249"/>
                <a:gd name="adj2" fmla="val 0"/>
              </a:avLst>
            </a:prstGeom>
            <a:solidFill>
              <a:srgbClr val="248C5F"/>
            </a:solidFill>
            <a:ln w="19050">
              <a:solidFill>
                <a:srgbClr val="248C5F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认知大模型中枢</a:t>
              </a:r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+</a:t>
              </a:r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任务图编排</a:t>
              </a: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1160" y="8022"/>
              <a:ext cx="4188" cy="687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zh-CN" altLang="en-US" sz="1400" b="1">
                  <a:solidFill>
                    <a:schemeClr val="tx2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可注册、可调用的艺术能力单元</a:t>
              </a: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6479" y="3324"/>
              <a:ext cx="2672" cy="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MCP</a:t>
              </a:r>
              <a:r>
                <a:rPr lang="zh-CN" altLang="en-US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工具调用</a:t>
              </a:r>
            </a:p>
          </p:txBody>
        </p:sp>
        <p:cxnSp>
          <p:nvCxnSpPr>
            <p:cNvPr id="112" name="直接连接符 111"/>
            <p:cNvCxnSpPr/>
            <p:nvPr/>
          </p:nvCxnSpPr>
          <p:spPr>
            <a:xfrm>
              <a:off x="6194" y="4159"/>
              <a:ext cx="3245" cy="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3" name="直接连接符 112"/>
            <p:cNvCxnSpPr/>
            <p:nvPr/>
          </p:nvCxnSpPr>
          <p:spPr>
            <a:xfrm>
              <a:off x="6215" y="5690"/>
              <a:ext cx="3245" cy="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5" name="文本框 114"/>
            <p:cNvSpPr txBox="1"/>
            <p:nvPr/>
          </p:nvSpPr>
          <p:spPr>
            <a:xfrm>
              <a:off x="6525" y="6095"/>
              <a:ext cx="2616" cy="4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标准化输入输出</a:t>
              </a:r>
            </a:p>
          </p:txBody>
        </p:sp>
        <p:cxnSp>
          <p:nvCxnSpPr>
            <p:cNvPr id="116" name="直接连接符 115"/>
            <p:cNvCxnSpPr/>
            <p:nvPr/>
          </p:nvCxnSpPr>
          <p:spPr>
            <a:xfrm>
              <a:off x="6307" y="6930"/>
              <a:ext cx="3245" cy="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sysDash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7" name="文本框 116"/>
            <p:cNvSpPr txBox="1"/>
            <p:nvPr/>
          </p:nvSpPr>
          <p:spPr>
            <a:xfrm>
              <a:off x="6689" y="7335"/>
              <a:ext cx="2181" cy="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状态管理与</a:t>
              </a:r>
            </a:p>
            <a:p>
              <a:pPr algn="ctr"/>
              <a:r>
                <a:rPr 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异常处理</a:t>
              </a:r>
            </a:p>
          </p:txBody>
        </p:sp>
        <p:sp>
          <p:nvSpPr>
            <p:cNvPr id="118" name="右箭头 117"/>
            <p:cNvSpPr/>
            <p:nvPr/>
          </p:nvSpPr>
          <p:spPr>
            <a:xfrm>
              <a:off x="5624" y="5184"/>
              <a:ext cx="480" cy="576"/>
            </a:xfrm>
            <a:prstGeom prst="rightArrow">
              <a:avLst/>
            </a:prstGeom>
            <a:solidFill>
              <a:schemeClr val="tx2">
                <a:lumMod val="60000"/>
                <a:lumOff val="40000"/>
                <a:alpha val="10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9" name="右箭头 118"/>
            <p:cNvSpPr/>
            <p:nvPr/>
          </p:nvSpPr>
          <p:spPr>
            <a:xfrm>
              <a:off x="9643" y="5184"/>
              <a:ext cx="480" cy="576"/>
            </a:xfrm>
            <a:prstGeom prst="rightArrow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7" name="文本框 146"/>
            <p:cNvSpPr txBox="1"/>
            <p:nvPr/>
          </p:nvSpPr>
          <p:spPr>
            <a:xfrm>
              <a:off x="6785" y="4564"/>
              <a:ext cx="2155" cy="81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服务注册与</a:t>
              </a:r>
            </a:p>
            <a:p>
              <a:pPr algn="ctr"/>
              <a:r>
                <a:rPr lang="zh-CN" sz="1600" b="1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能力描述</a:t>
              </a:r>
            </a:p>
          </p:txBody>
        </p:sp>
      </p:grpSp>
      <p:sp>
        <p:nvSpPr>
          <p:cNvPr id="221" name="本页结论_红底黄字"/>
          <p:cNvSpPr/>
          <p:nvPr/>
        </p:nvSpPr>
        <p:spPr>
          <a:xfrm>
            <a:off x="288439" y="5871803"/>
            <a:ext cx="1149339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从专业能力原子化到任务驱动的动态组合，构建可复用、可扩展的艺术表现智能体协同认知体系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60120" y="1681424"/>
            <a:ext cx="3145536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dirty="0" err="1">
                <a:solidFill>
                  <a:srgbClr val="3D78C6"/>
                </a:solidFill>
                <a:latin typeface="微软雅黑"/>
              </a:rPr>
              <a:t>感知类</a:t>
            </a:r>
            <a:r>
              <a:rPr sz="1200" b="1" dirty="0">
                <a:solidFill>
                  <a:srgbClr val="3D78C6"/>
                </a:solidFill>
                <a:latin typeface="微软雅黑"/>
              </a:rPr>
              <a:t> 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960120" y="1938528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5" name="Picture 244" descr="icon-person-walking-07fa108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764" y="2002536"/>
            <a:ext cx="365760" cy="365760"/>
          </a:xfrm>
          <a:prstGeom prst="rect">
            <a:avLst/>
          </a:prstGeom>
        </p:spPr>
      </p:pic>
      <p:sp>
        <p:nvSpPr>
          <p:cNvPr id="246" name="TextBox 245"/>
          <p:cNvSpPr txBox="1"/>
          <p:nvPr/>
        </p:nvSpPr>
        <p:spPr>
          <a:xfrm>
            <a:off x="996696" y="2395728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姿态与轨迹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2578608" y="1938528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8" name="Picture 247" descr="icon-heart-pulse-e364cab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9252" y="2002536"/>
            <a:ext cx="365760" cy="365760"/>
          </a:xfrm>
          <a:prstGeom prst="rect">
            <a:avLst/>
          </a:prstGeom>
        </p:spPr>
      </p:pic>
      <p:sp>
        <p:nvSpPr>
          <p:cNvPr id="249" name="TextBox 248"/>
          <p:cNvSpPr txBox="1"/>
          <p:nvPr/>
        </p:nvSpPr>
        <p:spPr>
          <a:xfrm>
            <a:off x="2615184" y="2395728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生理状态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60120" y="2825496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1" name="Picture 250" descr="icon-music-note2-play-92b7c26f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0764" y="2889503"/>
            <a:ext cx="365760" cy="365760"/>
          </a:xfrm>
          <a:prstGeom prst="rect">
            <a:avLst/>
          </a:prstGeom>
        </p:spPr>
      </p:pic>
      <p:sp>
        <p:nvSpPr>
          <p:cNvPr id="252" name="TextBox 251"/>
          <p:cNvSpPr txBox="1"/>
          <p:nvPr/>
        </p:nvSpPr>
        <p:spPr>
          <a:xfrm>
            <a:off x="996696" y="3282696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节奏与音乐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2578608" y="2825496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4" name="Picture 253" descr="icon-building-af7d47e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9252" y="2889503"/>
            <a:ext cx="365760" cy="365760"/>
          </a:xfrm>
          <a:prstGeom prst="rect">
            <a:avLst/>
          </a:prstGeom>
        </p:spPr>
      </p:pic>
      <p:sp>
        <p:nvSpPr>
          <p:cNvPr id="255" name="TextBox 254"/>
          <p:cNvSpPr txBox="1"/>
          <p:nvPr/>
        </p:nvSpPr>
        <p:spPr>
          <a:xfrm>
            <a:off x="2615184" y="3282696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空间与场馆</a:t>
            </a:r>
          </a:p>
        </p:txBody>
      </p:sp>
      <p:sp>
        <p:nvSpPr>
          <p:cNvPr id="256" name="TextBox 255"/>
          <p:cNvSpPr txBox="1"/>
          <p:nvPr/>
        </p:nvSpPr>
        <p:spPr>
          <a:xfrm>
            <a:off x="960120" y="3729679"/>
            <a:ext cx="3145536" cy="221599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l"/>
            <a:r>
              <a:rPr sz="1200" b="1" dirty="0" err="1">
                <a:solidFill>
                  <a:srgbClr val="3D78C6"/>
                </a:solidFill>
                <a:latin typeface="微软雅黑"/>
              </a:rPr>
              <a:t>知识类</a:t>
            </a:r>
            <a:r>
              <a:rPr sz="1200" b="1" dirty="0">
                <a:solidFill>
                  <a:srgbClr val="3D78C6"/>
                </a:solidFill>
                <a:latin typeface="微软雅黑"/>
              </a:rPr>
              <a:t> 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960120" y="3986784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8" name="Picture 257" descr="icon-gavel-4931820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0764" y="4050792"/>
            <a:ext cx="365760" cy="365760"/>
          </a:xfrm>
          <a:prstGeom prst="rect">
            <a:avLst/>
          </a:prstGeom>
        </p:spPr>
      </p:pic>
      <p:sp>
        <p:nvSpPr>
          <p:cNvPr id="259" name="TextBox 258"/>
          <p:cNvSpPr txBox="1"/>
          <p:nvPr/>
        </p:nvSpPr>
        <p:spPr>
          <a:xfrm>
            <a:off x="996696" y="4443984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规则与评分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2578608" y="3986784"/>
            <a:ext cx="1527048" cy="804672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9DBD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1" name="Picture 260" descr="icon-lightbulb-c8fc6ef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59252" y="4050792"/>
            <a:ext cx="365760" cy="365760"/>
          </a:xfrm>
          <a:prstGeom prst="rect">
            <a:avLst/>
          </a:prstGeom>
        </p:spPr>
      </p:pic>
      <p:sp>
        <p:nvSpPr>
          <p:cNvPr id="262" name="TextBox 261"/>
          <p:cNvSpPr txBox="1"/>
          <p:nvPr/>
        </p:nvSpPr>
        <p:spPr>
          <a:xfrm>
            <a:off x="2615184" y="4443984"/>
            <a:ext cx="1453895" cy="292608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作品意图</a:t>
            </a:r>
          </a:p>
        </p:txBody>
      </p:sp>
      <p:sp>
        <p:nvSpPr>
          <p:cNvPr id="263" name="Rounded Rectangle 262"/>
          <p:cNvSpPr/>
          <p:nvPr/>
        </p:nvSpPr>
        <p:spPr>
          <a:xfrm>
            <a:off x="7589520" y="1700784"/>
            <a:ext cx="3538728" cy="347472"/>
          </a:xfrm>
          <a:prstGeom prst="roundRect">
            <a:avLst>
              <a:gd name="adj" fmla="val 18000"/>
            </a:avLst>
          </a:prstGeom>
          <a:solidFill>
            <a:srgbClr val="E8F5EF"/>
          </a:solidFill>
          <a:ln w="1587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23F63"/>
                </a:solidFill>
                <a:latin typeface="微软雅黑"/>
              </a:rPr>
              <a:t>时间与空间对齐</a:t>
            </a:r>
            <a:endParaRPr sz="1300" b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64" name="Down Arrow 263"/>
          <p:cNvSpPr/>
          <p:nvPr/>
        </p:nvSpPr>
        <p:spPr>
          <a:xfrm>
            <a:off x="9267444" y="2066543"/>
            <a:ext cx="182880" cy="146304"/>
          </a:xfrm>
          <a:prstGeom prst="downArrow">
            <a:avLst/>
          </a:prstGeom>
          <a:solidFill>
            <a:srgbClr val="E8F5EF"/>
          </a:solidFill>
          <a:ln w="952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ounded Rectangle 264"/>
          <p:cNvSpPr/>
          <p:nvPr/>
        </p:nvSpPr>
        <p:spPr>
          <a:xfrm>
            <a:off x="7589520" y="2231136"/>
            <a:ext cx="3538728" cy="841248"/>
          </a:xfrm>
          <a:prstGeom prst="roundRect">
            <a:avLst>
              <a:gd name="adj" fmla="val 10000"/>
            </a:avLst>
          </a:prstGeom>
          <a:noFill/>
          <a:ln w="1587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Rounded Rectangle 266"/>
          <p:cNvSpPr/>
          <p:nvPr/>
        </p:nvSpPr>
        <p:spPr>
          <a:xfrm>
            <a:off x="7699248" y="2444061"/>
            <a:ext cx="1033271" cy="420624"/>
          </a:xfrm>
          <a:prstGeom prst="roundRect">
            <a:avLst>
              <a:gd name="adj" fmla="val 20000"/>
            </a:avLst>
          </a:prstGeom>
          <a:solidFill>
            <a:srgbClr val="24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微软雅黑"/>
              </a:rPr>
              <a:t>姿态</a:t>
            </a:r>
            <a:endParaRPr sz="1300" b="1" dirty="0">
              <a:solidFill>
                <a:srgbClr val="FFFFFF"/>
              </a:solidFill>
              <a:latin typeface="微软雅黑"/>
            </a:endParaRPr>
          </a:p>
        </p:txBody>
      </p:sp>
      <p:sp>
        <p:nvSpPr>
          <p:cNvPr id="268" name="Rounded Rectangle 267"/>
          <p:cNvSpPr/>
          <p:nvPr/>
        </p:nvSpPr>
        <p:spPr>
          <a:xfrm>
            <a:off x="8823960" y="2444061"/>
            <a:ext cx="1033271" cy="420624"/>
          </a:xfrm>
          <a:prstGeom prst="roundRect">
            <a:avLst>
              <a:gd name="adj" fmla="val 20000"/>
            </a:avLst>
          </a:prstGeom>
          <a:solidFill>
            <a:srgbClr val="24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生理</a:t>
            </a:r>
          </a:p>
        </p:txBody>
      </p:sp>
      <p:sp>
        <p:nvSpPr>
          <p:cNvPr id="269" name="Rounded Rectangle 268"/>
          <p:cNvSpPr/>
          <p:nvPr/>
        </p:nvSpPr>
        <p:spPr>
          <a:xfrm>
            <a:off x="9948672" y="2444061"/>
            <a:ext cx="1033271" cy="420624"/>
          </a:xfrm>
          <a:prstGeom prst="roundRect">
            <a:avLst>
              <a:gd name="adj" fmla="val 20000"/>
            </a:avLst>
          </a:prstGeom>
          <a:solidFill>
            <a:srgbClr val="24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节奏</a:t>
            </a:r>
          </a:p>
        </p:txBody>
      </p:sp>
      <p:sp>
        <p:nvSpPr>
          <p:cNvPr id="270" name="Down Arrow 269"/>
          <p:cNvSpPr/>
          <p:nvPr/>
        </p:nvSpPr>
        <p:spPr>
          <a:xfrm>
            <a:off x="9267444" y="3090672"/>
            <a:ext cx="182880" cy="146304"/>
          </a:xfrm>
          <a:prstGeom prst="downArrow">
            <a:avLst/>
          </a:prstGeom>
          <a:solidFill>
            <a:srgbClr val="E8F5EF"/>
          </a:solidFill>
          <a:ln w="952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Rounded Rectangle 270"/>
          <p:cNvSpPr/>
          <p:nvPr/>
        </p:nvSpPr>
        <p:spPr>
          <a:xfrm>
            <a:off x="7589520" y="3255264"/>
            <a:ext cx="3538728" cy="347472"/>
          </a:xfrm>
          <a:prstGeom prst="roundRect">
            <a:avLst>
              <a:gd name="adj" fmla="val 18000"/>
            </a:avLst>
          </a:prstGeom>
          <a:solidFill>
            <a:srgbClr val="E8F5EF"/>
          </a:solidFill>
          <a:ln w="1587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 dirty="0" err="1">
                <a:solidFill>
                  <a:srgbClr val="123F63"/>
                </a:solidFill>
                <a:latin typeface="微软雅黑"/>
              </a:rPr>
              <a:t>规则与评分归类</a:t>
            </a:r>
            <a:endParaRPr sz="1300" b="1" dirty="0">
              <a:solidFill>
                <a:srgbClr val="123F63"/>
              </a:solidFill>
              <a:latin typeface="微软雅黑"/>
            </a:endParaRPr>
          </a:p>
        </p:txBody>
      </p:sp>
      <p:sp>
        <p:nvSpPr>
          <p:cNvPr id="272" name="Down Arrow 271"/>
          <p:cNvSpPr/>
          <p:nvPr/>
        </p:nvSpPr>
        <p:spPr>
          <a:xfrm>
            <a:off x="9267444" y="3621024"/>
            <a:ext cx="182880" cy="146304"/>
          </a:xfrm>
          <a:prstGeom prst="downArrow">
            <a:avLst/>
          </a:prstGeom>
          <a:solidFill>
            <a:srgbClr val="E8F5EF"/>
          </a:solidFill>
          <a:ln w="952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Rounded Rectangle 272"/>
          <p:cNvSpPr/>
          <p:nvPr/>
        </p:nvSpPr>
        <p:spPr>
          <a:xfrm>
            <a:off x="7589520" y="3785615"/>
            <a:ext cx="3538728" cy="384048"/>
          </a:xfrm>
          <a:prstGeom prst="roundRect">
            <a:avLst>
              <a:gd name="adj" fmla="val 18000"/>
            </a:avLst>
          </a:prstGeom>
          <a:solidFill>
            <a:srgbClr val="E7E6E6"/>
          </a:solidFill>
          <a:ln w="1587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123F63"/>
                </a:solidFill>
                <a:latin typeface="微软雅黑"/>
              </a:rPr>
              <a:t>大模型综合解释</a:t>
            </a:r>
          </a:p>
        </p:txBody>
      </p:sp>
      <p:sp>
        <p:nvSpPr>
          <p:cNvPr id="274" name="Down Arrow 273"/>
          <p:cNvSpPr/>
          <p:nvPr/>
        </p:nvSpPr>
        <p:spPr>
          <a:xfrm>
            <a:off x="9267444" y="4187952"/>
            <a:ext cx="182880" cy="146304"/>
          </a:xfrm>
          <a:prstGeom prst="downArrow">
            <a:avLst/>
          </a:prstGeom>
          <a:solidFill>
            <a:srgbClr val="E8F5EF"/>
          </a:solidFill>
          <a:ln w="952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Rounded Rectangle 274"/>
          <p:cNvSpPr/>
          <p:nvPr/>
        </p:nvSpPr>
        <p:spPr>
          <a:xfrm>
            <a:off x="7589520" y="4352544"/>
            <a:ext cx="3538728" cy="384048"/>
          </a:xfrm>
          <a:prstGeom prst="roundRect">
            <a:avLst>
              <a:gd name="adj" fmla="val 18000"/>
            </a:avLst>
          </a:prstGeom>
          <a:solidFill>
            <a:srgbClr val="248C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tIns="18288" rIns="45720" bIns="18288"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微软雅黑"/>
              </a:rPr>
              <a:t>输出：原因分析 + 证据片段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7589520" y="4828032"/>
            <a:ext cx="1737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ctr"/>
            <a:r>
              <a:rPr sz="1200" b="1">
                <a:solidFill>
                  <a:srgbClr val="248C5F"/>
                </a:solidFill>
                <a:latin typeface="微软雅黑"/>
              </a:rPr>
              <a:t>并行执行</a:t>
            </a:r>
          </a:p>
          <a:p>
            <a:pPr algn="ctr"/>
            <a:r>
              <a:rPr sz="1050" b="0">
                <a:solidFill>
                  <a:srgbClr val="404040"/>
                </a:solidFill>
                <a:latin typeface="微软雅黑"/>
              </a:rPr>
              <a:t>姿态、生理、节奏三个智能体同时分析同一时间段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9390888" y="4828032"/>
            <a:ext cx="1737360" cy="6949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48C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18288" rIns="64008" bIns="18288" rtlCol="0" anchor="ctr"/>
          <a:lstStyle/>
          <a:p>
            <a:pPr algn="ctr"/>
            <a:r>
              <a:rPr sz="1200" b="1">
                <a:solidFill>
                  <a:srgbClr val="248C5F"/>
                </a:solidFill>
                <a:latin typeface="微软雅黑"/>
              </a:rPr>
              <a:t>串行执行</a:t>
            </a:r>
          </a:p>
          <a:p>
            <a:pPr algn="ctr"/>
            <a:r>
              <a:rPr sz="1050" b="0">
                <a:solidFill>
                  <a:srgbClr val="404040"/>
                </a:solidFill>
                <a:latin typeface="微软雅黑"/>
              </a:rPr>
              <a:t>先完成对齐，感知结果出来后才能做规则归类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B89E-8742-0327-9D6E-CEE150D18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AD8C489-BE79-AC46-07C8-C8D81D187D62}"/>
              </a:ext>
            </a:extLst>
          </p:cNvPr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A63785CD-F0DF-5365-F09A-17054974B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  <a:sym typeface="+mn-ea"/>
              </a:rPr>
              <a:t>-demand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面向实时艺术表现的按需感知与建模</a:t>
            </a:r>
          </a:p>
        </p:txBody>
      </p:sp>
      <p:sp>
        <p:nvSpPr>
          <p:cNvPr id="242" name="Slide Number Placeholder 1">
            <a:extLst>
              <a:ext uri="{FF2B5EF4-FFF2-40B4-BE49-F238E27FC236}">
                <a16:creationId xmlns:a16="http://schemas.microsoft.com/office/drawing/2014/main" id="{2A19E368-33F5-31FC-A78E-F17598FF4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4FC8891D-5FB4-F98C-1903-20CFB86FEA38}"/>
              </a:ext>
            </a:extLst>
          </p:cNvPr>
          <p:cNvGrpSpPr/>
          <p:nvPr userDrawn="1"/>
        </p:nvGrpSpPr>
        <p:grpSpPr>
          <a:xfrm>
            <a:off x="182245" y="937591"/>
            <a:ext cx="12009755" cy="5227498"/>
            <a:chOff x="287" y="1727"/>
            <a:chExt cx="18913" cy="8423"/>
          </a:xfrm>
        </p:grpSpPr>
        <p:pic>
          <p:nvPicPr>
            <p:cNvPr id="75" name="图片 74" descr="动态任务编排流程示意">
              <a:extLst>
                <a:ext uri="{FF2B5EF4-FFF2-40B4-BE49-F238E27FC236}">
                  <a16:creationId xmlns:a16="http://schemas.microsoft.com/office/drawing/2014/main" id="{6D90C612-D0BD-6B18-92A2-F8B89A310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96" r="1196"/>
            <a:stretch>
              <a:fillRect/>
            </a:stretch>
          </p:blipFill>
          <p:spPr>
            <a:xfrm>
              <a:off x="14647" y="5049"/>
              <a:ext cx="3423" cy="4382"/>
            </a:xfrm>
            <a:prstGeom prst="rect">
              <a:avLst/>
            </a:prstGeom>
          </p:spPr>
        </p:pic>
        <p:sp>
          <p:nvSpPr>
            <p:cNvPr id="76" name="矩形 37">
              <a:extLst>
                <a:ext uri="{FF2B5EF4-FFF2-40B4-BE49-F238E27FC236}">
                  <a16:creationId xmlns:a16="http://schemas.microsoft.com/office/drawing/2014/main" id="{6CBA8F02-1C34-BC2B-081A-2AC822575EB2}"/>
                </a:ext>
              </a:extLst>
            </p:cNvPr>
            <p:cNvSpPr/>
            <p:nvPr/>
          </p:nvSpPr>
          <p:spPr>
            <a:xfrm>
              <a:off x="287" y="1741"/>
              <a:ext cx="5866" cy="751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多传感配置捕捉运动信息</a:t>
              </a:r>
            </a:p>
          </p:txBody>
        </p:sp>
        <p:sp>
          <p:nvSpPr>
            <p:cNvPr id="77" name="矩形 38">
              <a:extLst>
                <a:ext uri="{FF2B5EF4-FFF2-40B4-BE49-F238E27FC236}">
                  <a16:creationId xmlns:a16="http://schemas.microsoft.com/office/drawing/2014/main" id="{04D47A64-F057-A1C8-B1DB-C8387CCEE61E}"/>
                </a:ext>
              </a:extLst>
            </p:cNvPr>
            <p:cNvSpPr/>
            <p:nvPr/>
          </p:nvSpPr>
          <p:spPr>
            <a:xfrm>
              <a:off x="6791" y="1740"/>
              <a:ext cx="6003" cy="751"/>
            </a:xfrm>
            <a:prstGeom prst="rect">
              <a:avLst/>
            </a:prstGeom>
            <a:solidFill>
              <a:srgbClr val="002060"/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场馆空间与人体状态感知</a:t>
              </a:r>
            </a:p>
          </p:txBody>
        </p:sp>
        <p:sp>
          <p:nvSpPr>
            <p:cNvPr id="79" name="Rounded Rectangle 14">
              <a:extLst>
                <a:ext uri="{FF2B5EF4-FFF2-40B4-BE49-F238E27FC236}">
                  <a16:creationId xmlns:a16="http://schemas.microsoft.com/office/drawing/2014/main" id="{48D288DF-A4AD-8186-486A-59F843C1D567}"/>
                </a:ext>
              </a:extLst>
            </p:cNvPr>
            <p:cNvSpPr/>
            <p:nvPr/>
          </p:nvSpPr>
          <p:spPr>
            <a:xfrm>
              <a:off x="287" y="2669"/>
              <a:ext cx="6024" cy="7379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6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Rounded Rectangle 86">
              <a:extLst>
                <a:ext uri="{FF2B5EF4-FFF2-40B4-BE49-F238E27FC236}">
                  <a16:creationId xmlns:a16="http://schemas.microsoft.com/office/drawing/2014/main" id="{B2C400B0-7338-1247-3987-59345E3F23BC}"/>
                </a:ext>
              </a:extLst>
            </p:cNvPr>
            <p:cNvSpPr/>
            <p:nvPr/>
          </p:nvSpPr>
          <p:spPr>
            <a:xfrm>
              <a:off x="6861" y="2631"/>
              <a:ext cx="6074" cy="7379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Rounded Rectangle 86">
              <a:extLst>
                <a:ext uri="{FF2B5EF4-FFF2-40B4-BE49-F238E27FC236}">
                  <a16:creationId xmlns:a16="http://schemas.microsoft.com/office/drawing/2014/main" id="{DC9B9DA4-20C0-1B0D-6280-DD9C7DA80CB1}"/>
                </a:ext>
              </a:extLst>
            </p:cNvPr>
            <p:cNvSpPr/>
            <p:nvPr/>
          </p:nvSpPr>
          <p:spPr>
            <a:xfrm>
              <a:off x="13508" y="2668"/>
              <a:ext cx="5512" cy="7376"/>
            </a:xfrm>
            <a:prstGeom prst="roundRect">
              <a:avLst>
                <a:gd name="adj" fmla="val 3447"/>
              </a:avLst>
            </a:prstGeom>
            <a:noFill/>
            <a:ln w="19050">
              <a:solidFill>
                <a:schemeClr val="accent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矩形 38">
              <a:extLst>
                <a:ext uri="{FF2B5EF4-FFF2-40B4-BE49-F238E27FC236}">
                  <a16:creationId xmlns:a16="http://schemas.microsoft.com/office/drawing/2014/main" id="{8B631EA2-C806-CDC8-189B-75D5ECB6BA25}"/>
                </a:ext>
              </a:extLst>
            </p:cNvPr>
            <p:cNvSpPr/>
            <p:nvPr/>
          </p:nvSpPr>
          <p:spPr>
            <a:xfrm>
              <a:off x="13507" y="1727"/>
              <a:ext cx="5513" cy="751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00206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>
                <a:defRPr/>
              </a:pPr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运动表现与任务适配</a:t>
              </a:r>
            </a:p>
          </p:txBody>
        </p:sp>
        <p:sp>
          <p:nvSpPr>
            <p:cNvPr id="84" name="右箭头 83">
              <a:extLst>
                <a:ext uri="{FF2B5EF4-FFF2-40B4-BE49-F238E27FC236}">
                  <a16:creationId xmlns:a16="http://schemas.microsoft.com/office/drawing/2014/main" id="{B5B5630B-76F9-471A-2511-D27F43CAE8C7}"/>
                </a:ext>
              </a:extLst>
            </p:cNvPr>
            <p:cNvSpPr/>
            <p:nvPr/>
          </p:nvSpPr>
          <p:spPr>
            <a:xfrm>
              <a:off x="6262" y="5549"/>
              <a:ext cx="714" cy="1366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右箭头 84">
              <a:extLst>
                <a:ext uri="{FF2B5EF4-FFF2-40B4-BE49-F238E27FC236}">
                  <a16:creationId xmlns:a16="http://schemas.microsoft.com/office/drawing/2014/main" id="{AF3C199A-0227-018F-09E0-2AB2A3352E1E}"/>
                </a:ext>
              </a:extLst>
            </p:cNvPr>
            <p:cNvSpPr/>
            <p:nvPr/>
          </p:nvSpPr>
          <p:spPr>
            <a:xfrm>
              <a:off x="12876" y="5549"/>
              <a:ext cx="808" cy="1366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文本框 85">
              <a:extLst>
                <a:ext uri="{FF2B5EF4-FFF2-40B4-BE49-F238E27FC236}">
                  <a16:creationId xmlns:a16="http://schemas.microsoft.com/office/drawing/2014/main" id="{87848AD1-17BF-4644-108E-175DA9CB2F80}"/>
                </a:ext>
              </a:extLst>
            </p:cNvPr>
            <p:cNvSpPr txBox="1"/>
            <p:nvPr/>
          </p:nvSpPr>
          <p:spPr>
            <a:xfrm>
              <a:off x="780" y="5049"/>
              <a:ext cx="5159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多机位、遮挡与高速运动状态</a:t>
              </a:r>
            </a:p>
          </p:txBody>
        </p:sp>
        <p:sp>
          <p:nvSpPr>
            <p:cNvPr id="87" name="右箭头 86">
              <a:extLst>
                <a:ext uri="{FF2B5EF4-FFF2-40B4-BE49-F238E27FC236}">
                  <a16:creationId xmlns:a16="http://schemas.microsoft.com/office/drawing/2014/main" id="{5683FAD7-59CB-30B6-C97B-62CFB86C5928}"/>
                </a:ext>
              </a:extLst>
            </p:cNvPr>
            <p:cNvSpPr/>
            <p:nvPr/>
          </p:nvSpPr>
          <p:spPr>
            <a:xfrm rot="5400000">
              <a:off x="3003" y="5411"/>
              <a:ext cx="433" cy="1366"/>
            </a:xfrm>
            <a:prstGeom prst="rightArrow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3E826520-9784-009C-91D0-30F889FE443E}"/>
                </a:ext>
              </a:extLst>
            </p:cNvPr>
            <p:cNvSpPr/>
            <p:nvPr/>
          </p:nvSpPr>
          <p:spPr>
            <a:xfrm>
              <a:off x="507" y="6496"/>
              <a:ext cx="5571" cy="2848"/>
            </a:xfrm>
            <a:prstGeom prst="rect">
              <a:avLst/>
            </a:prstGeom>
            <a:noFill/>
            <a:ln w="25400">
              <a:solidFill>
                <a:srgbClr val="C00000"/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87F2C9D9-F3F1-A6C9-6126-BB24D24CAEF7}"/>
                </a:ext>
              </a:extLst>
            </p:cNvPr>
            <p:cNvSpPr txBox="1"/>
            <p:nvPr/>
          </p:nvSpPr>
          <p:spPr>
            <a:xfrm>
              <a:off x="1142" y="9379"/>
              <a:ext cx="4301" cy="5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404040"/>
                  </a:solidFill>
                  <a:latin typeface="微软雅黑" panose="020B0503020204020204" charset="-122"/>
                  <a:ea typeface="微软雅黑" panose="020B0503020204020204" charset="-122"/>
                </a:rPr>
                <a:t>多源传感系统</a:t>
              </a:r>
            </a:p>
          </p:txBody>
        </p: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1B0D3615-DBAE-5050-6CFE-B1A2E872C86D}"/>
                </a:ext>
              </a:extLst>
            </p:cNvPr>
            <p:cNvSpPr txBox="1"/>
            <p:nvPr/>
          </p:nvSpPr>
          <p:spPr>
            <a:xfrm>
              <a:off x="699" y="6640"/>
              <a:ext cx="2411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algn="ctr"/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姿态追踪</a:t>
              </a: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FA2C0D16-9788-6FEA-734B-D1A021AA0068}"/>
                </a:ext>
              </a:extLst>
            </p:cNvPr>
            <p:cNvSpPr txBox="1"/>
            <p:nvPr/>
          </p:nvSpPr>
          <p:spPr>
            <a:xfrm>
              <a:off x="3333" y="6652"/>
              <a:ext cx="2606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动作捕捉</a:t>
              </a: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id="{F02EEABE-6CD8-39C9-92E0-28E1117D488B}"/>
                </a:ext>
              </a:extLst>
            </p:cNvPr>
            <p:cNvSpPr txBox="1"/>
            <p:nvPr/>
          </p:nvSpPr>
          <p:spPr>
            <a:xfrm>
              <a:off x="658" y="7986"/>
              <a:ext cx="2452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体征传感</a:t>
              </a:r>
            </a:p>
          </p:txBody>
        </p:sp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945D6BC2-8CD2-3C52-82D8-474140082E0D}"/>
                </a:ext>
              </a:extLst>
            </p:cNvPr>
            <p:cNvSpPr/>
            <p:nvPr/>
          </p:nvSpPr>
          <p:spPr>
            <a:xfrm>
              <a:off x="6987" y="2830"/>
              <a:ext cx="5807" cy="6315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22DB3D02-B86C-2B24-B80F-A1974A9D5C62}"/>
                </a:ext>
              </a:extLst>
            </p:cNvPr>
            <p:cNvSpPr txBox="1"/>
            <p:nvPr/>
          </p:nvSpPr>
          <p:spPr>
            <a:xfrm>
              <a:off x="7880" y="9304"/>
              <a:ext cx="4351" cy="668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no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多源时空对齐与特征融合</a:t>
              </a:r>
              <a:endParaRPr lang="en-US" altLang="zh-CN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99" name="图片 98">
              <a:extLst>
                <a:ext uri="{FF2B5EF4-FFF2-40B4-BE49-F238E27FC236}">
                  <a16:creationId xmlns:a16="http://schemas.microsoft.com/office/drawing/2014/main" id="{C4DCDB0B-C84F-68DF-B13A-65EADC8D0234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612" b="24612"/>
            <a:stretch/>
          </p:blipFill>
          <p:spPr>
            <a:xfrm>
              <a:off x="13790" y="2783"/>
              <a:ext cx="5109" cy="2229"/>
            </a:xfrm>
            <a:prstGeom prst="rect">
              <a:avLst/>
            </a:prstGeom>
          </p:spPr>
        </p:pic>
        <p:sp>
          <p:nvSpPr>
            <p:cNvPr id="101" name="右箭头 100">
              <a:extLst>
                <a:ext uri="{FF2B5EF4-FFF2-40B4-BE49-F238E27FC236}">
                  <a16:creationId xmlns:a16="http://schemas.microsoft.com/office/drawing/2014/main" id="{90720173-D716-0843-0A60-DF5DFA022C7E}"/>
                </a:ext>
              </a:extLst>
            </p:cNvPr>
            <p:cNvSpPr/>
            <p:nvPr/>
          </p:nvSpPr>
          <p:spPr>
            <a:xfrm rot="5400000">
              <a:off x="14951" y="5001"/>
              <a:ext cx="655" cy="751"/>
            </a:xfrm>
            <a:prstGeom prst="right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id="{1EC0BA48-920B-3C43-D3D9-A8A990776AFB}"/>
                </a:ext>
              </a:extLst>
            </p:cNvPr>
            <p:cNvSpPr txBox="1"/>
            <p:nvPr/>
          </p:nvSpPr>
          <p:spPr>
            <a:xfrm>
              <a:off x="15092" y="9431"/>
              <a:ext cx="4108" cy="71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b="1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动态任务编排</a:t>
              </a:r>
              <a:endPara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endParaRPr lang="en-US" altLang="zh-CN" b="1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id="{FAF6FAFD-73F1-14D1-093B-236279F37BB5}"/>
                </a:ext>
              </a:extLst>
            </p:cNvPr>
            <p:cNvSpPr txBox="1"/>
            <p:nvPr/>
          </p:nvSpPr>
          <p:spPr>
            <a:xfrm>
              <a:off x="3390" y="7986"/>
              <a:ext cx="2606" cy="1134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</p:spPr>
          <p:txBody>
            <a:bodyPr wrap="square" rtlCol="0" anchor="ctr" anchorCtr="0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en-US" altLang="zh-CN" b="1"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……</a:t>
              </a:r>
              <a:endPara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pic>
          <p:nvPicPr>
            <p:cNvPr id="107" name="图片 106">
              <a:extLst>
                <a:ext uri="{FF2B5EF4-FFF2-40B4-BE49-F238E27FC236}">
                  <a16:creationId xmlns:a16="http://schemas.microsoft.com/office/drawing/2014/main" id="{1F45B36E-5B39-E836-62E8-9AFA60BDE1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72" r="3572"/>
            <a:stretch/>
          </p:blipFill>
          <p:spPr>
            <a:xfrm>
              <a:off x="3390" y="2830"/>
              <a:ext cx="2759" cy="2087"/>
            </a:xfrm>
            <a:prstGeom prst="rect">
              <a:avLst/>
            </a:prstGeom>
          </p:spPr>
        </p:pic>
        <p:pic>
          <p:nvPicPr>
            <p:cNvPr id="108" name="图片 107" descr="场馆—人体融合三维点云示意">
              <a:extLst>
                <a:ext uri="{FF2B5EF4-FFF2-40B4-BE49-F238E27FC236}">
                  <a16:creationId xmlns:a16="http://schemas.microsoft.com/office/drawing/2014/main" id="{AB63EE92-87A7-6021-909F-5B8E1B9BC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640" b="640"/>
            <a:stretch>
              <a:fillRect/>
            </a:stretch>
          </p:blipFill>
          <p:spPr>
            <a:xfrm>
              <a:off x="7732" y="2964"/>
              <a:ext cx="4499" cy="2234"/>
            </a:xfrm>
            <a:prstGeom prst="rect">
              <a:avLst/>
            </a:prstGeom>
          </p:spPr>
        </p:pic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D323F37C-EC64-8052-452A-B6399B1787F7}"/>
                </a:ext>
              </a:extLst>
            </p:cNvPr>
            <p:cNvSpPr txBox="1"/>
            <p:nvPr/>
          </p:nvSpPr>
          <p:spPr>
            <a:xfrm>
              <a:off x="7732" y="5251"/>
              <a:ext cx="4320" cy="54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sz="16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场馆—人体融合</a:t>
              </a:r>
            </a:p>
          </p:txBody>
        </p:sp>
      </p:grpSp>
      <p:sp>
        <p:nvSpPr>
          <p:cNvPr id="221" name="本页结论_红底黄字">
            <a:extLst>
              <a:ext uri="{FF2B5EF4-FFF2-40B4-BE49-F238E27FC236}">
                <a16:creationId xmlns:a16="http://schemas.microsoft.com/office/drawing/2014/main" id="{8A6D4742-8353-2A71-D69C-1BCE338A26B4}"/>
              </a:ext>
            </a:extLst>
          </p:cNvPr>
          <p:cNvSpPr/>
          <p:nvPr/>
        </p:nvSpPr>
        <p:spPr>
          <a:xfrm>
            <a:off x="265451" y="6220395"/>
            <a:ext cx="1149339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运动状态与表演环境持续变化，驱动感知粒度、模型能力和计算资源按需适配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7EEA219-3163-36A7-0F60-23A68BF9BB8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4560570" y="3438697"/>
            <a:ext cx="3556635" cy="17116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2AC2B8F-17CD-27FC-9E1F-A2958DDECEA0}"/>
              </a:ext>
            </a:extLst>
          </p:cNvPr>
          <p:cNvSpPr txBox="1"/>
          <p:nvPr/>
        </p:nvSpPr>
        <p:spPr>
          <a:xfrm>
            <a:off x="5628640" y="5119961"/>
            <a:ext cx="1977390" cy="336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动作状态分析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F373E71-EE85-4900-DAD7-7001C6FE115C}"/>
              </a:ext>
            </a:extLst>
          </p:cNvPr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66" b="1866"/>
          <a:stretch/>
        </p:blipFill>
        <p:spPr>
          <a:xfrm>
            <a:off x="351155" y="1676441"/>
            <a:ext cx="1765300" cy="1216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535650"/>
      </p:ext>
    </p:extLst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ON</a:t>
            </a:r>
            <a:r>
              <a:rPr lang="en-US" altLang="zh-CN" sz="2800" dirty="0">
                <a:latin typeface="Arial Black" panose="020B0A04020102020204" pitchFamily="34" charset="0"/>
                <a:sym typeface="+mn-ea"/>
              </a:rPr>
              <a:t>-demand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：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多角色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按需介入与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表演方案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协同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调整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14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3458" y="6038196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lvl="0" algn="ctr"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从一次性算法评分，走向多角色参与、证据驱动、可持续修正的动态认知过程</a:t>
            </a:r>
          </a:p>
        </p:txBody>
      </p:sp>
      <p:sp>
        <p:nvSpPr>
          <p:cNvPr id="4" name="矩形 61"/>
          <p:cNvSpPr/>
          <p:nvPr/>
        </p:nvSpPr>
        <p:spPr>
          <a:xfrm>
            <a:off x="561953" y="941185"/>
            <a:ext cx="3378675" cy="439645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66"/>
          <p:cNvSpPr/>
          <p:nvPr/>
        </p:nvSpPr>
        <p:spPr>
          <a:xfrm>
            <a:off x="4354195" y="941070"/>
            <a:ext cx="3441065" cy="4396740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6" name="矩形 90"/>
          <p:cNvSpPr/>
          <p:nvPr/>
        </p:nvSpPr>
        <p:spPr>
          <a:xfrm>
            <a:off x="8232753" y="941184"/>
            <a:ext cx="3378675" cy="439645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  <p:sp>
        <p:nvSpPr>
          <p:cNvPr id="8" name="圆角矩形 71"/>
          <p:cNvSpPr/>
          <p:nvPr/>
        </p:nvSpPr>
        <p:spPr>
          <a:xfrm>
            <a:off x="8314558" y="999727"/>
            <a:ext cx="3215005" cy="427990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914400" hangingPunct="1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人在回路的闭环调整</a:t>
            </a:r>
          </a:p>
        </p:txBody>
      </p:sp>
      <p:sp>
        <p:nvSpPr>
          <p:cNvPr id="9" name="圆角矩形 71"/>
          <p:cNvSpPr/>
          <p:nvPr/>
        </p:nvSpPr>
        <p:spPr>
          <a:xfrm>
            <a:off x="4392586" y="999727"/>
            <a:ext cx="3324225" cy="427990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 defTabSz="914400" hangingPunct="1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多目标协同决策与疾速寻优</a:t>
            </a:r>
          </a:p>
        </p:txBody>
      </p:sp>
      <p:sp>
        <p:nvSpPr>
          <p:cNvPr id="10" name="圆角矩形 71"/>
          <p:cNvSpPr/>
          <p:nvPr/>
        </p:nvSpPr>
        <p:spPr>
          <a:xfrm>
            <a:off x="670542" y="999751"/>
            <a:ext cx="3215005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子智能体按需协同</a:t>
            </a:r>
            <a:endParaRPr lang="zh-CN" sz="1800">
              <a:solidFill>
                <a:schemeClr val="lt1">
                  <a:alpha val="100000"/>
                </a:schemeClr>
              </a:solidFill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下箭头1"/>
          <p:cNvSpPr/>
          <p:nvPr/>
        </p:nvSpPr>
        <p:spPr>
          <a:xfrm rot="16200000">
            <a:off x="3975441" y="265693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12" name="下箭头1"/>
          <p:cNvSpPr/>
          <p:nvPr/>
        </p:nvSpPr>
        <p:spPr>
          <a:xfrm rot="16200000">
            <a:off x="7832703" y="265693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pic>
        <p:nvPicPr>
          <p:cNvPr id="15" name="图片 78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028" y="2454321"/>
            <a:ext cx="1416885" cy="951396"/>
          </a:xfrm>
          <a:prstGeom prst="rect">
            <a:avLst/>
          </a:prstGeom>
        </p:spPr>
      </p:pic>
      <p:sp>
        <p:nvSpPr>
          <p:cNvPr id="16" name="矩形 246"/>
          <p:cNvSpPr/>
          <p:nvPr/>
        </p:nvSpPr>
        <p:spPr>
          <a:xfrm>
            <a:off x="5233223" y="1537943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17" name="矩形 247"/>
          <p:cNvSpPr/>
          <p:nvPr/>
        </p:nvSpPr>
        <p:spPr bwMode="auto">
          <a:xfrm>
            <a:off x="5233223" y="1784588"/>
            <a:ext cx="695802" cy="438663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安全边界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文本框 249"/>
          <p:cNvSpPr txBox="1"/>
          <p:nvPr/>
        </p:nvSpPr>
        <p:spPr>
          <a:xfrm>
            <a:off x="4455872" y="1663157"/>
            <a:ext cx="8001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多目标</a:t>
            </a:r>
            <a:endParaRPr 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</a:t>
            </a:r>
            <a:endParaRPr lang="zh-CN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矩形 250"/>
          <p:cNvSpPr/>
          <p:nvPr/>
        </p:nvSpPr>
        <p:spPr>
          <a:xfrm>
            <a:off x="6094332" y="1529762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>
            <a:solidFill>
              <a:srgbClr val="486C9C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20" name="矩形 251"/>
          <p:cNvSpPr/>
          <p:nvPr/>
        </p:nvSpPr>
        <p:spPr bwMode="auto">
          <a:xfrm>
            <a:off x="6094332" y="1776408"/>
            <a:ext cx="695802" cy="446844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0224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作品一致性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1" name="矩形 252"/>
          <p:cNvSpPr/>
          <p:nvPr/>
        </p:nvSpPr>
        <p:spPr>
          <a:xfrm>
            <a:off x="6956848" y="1529762"/>
            <a:ext cx="695802" cy="250429"/>
          </a:xfrm>
          <a:prstGeom prst="rect">
            <a:avLst/>
          </a:prstGeom>
          <a:solidFill>
            <a:srgbClr val="486C9C">
              <a:alpha val="100000"/>
            </a:srgbClr>
          </a:solidFill>
          <a:ln>
            <a:solidFill>
              <a:srgbClr val="486C9C">
                <a:alpha val="10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约束</a:t>
            </a:r>
          </a:p>
        </p:txBody>
      </p:sp>
      <p:sp>
        <p:nvSpPr>
          <p:cNvPr id="22" name="矩形 253"/>
          <p:cNvSpPr/>
          <p:nvPr/>
        </p:nvSpPr>
        <p:spPr bwMode="auto">
          <a:xfrm>
            <a:off x="6956848" y="1776408"/>
            <a:ext cx="695802" cy="446844"/>
          </a:xfrm>
          <a:prstGeom prst="rect">
            <a:avLst/>
          </a:prstGeom>
          <a:noFill/>
          <a:ln>
            <a:solidFill>
              <a:srgbClr val="336699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8963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000" b="1">
                <a:solidFill>
                  <a:srgbClr val="022466"/>
                </a:solidFill>
                <a:latin typeface="微软雅黑" panose="020B0503020204020204" charset="-122"/>
                <a:ea typeface="微软雅黑" panose="020B0503020204020204" charset="-122"/>
              </a:rPr>
              <a:t>技术与表现</a:t>
            </a:r>
            <a:endParaRPr kumimoji="0" lang="en-US" altLang="zh-CN" sz="1000" b="1" i="0" u="none" strike="noStrike" kern="1200" cap="none" spc="0" normalizeH="0" baseline="0" noProof="0" dirty="0">
              <a:ln>
                <a:noFill/>
              </a:ln>
              <a:solidFill>
                <a:srgbClr val="022466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23" name="图片 254" descr="图示  描述已自动生成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310590" y="3539576"/>
            <a:ext cx="1552592" cy="1176590"/>
          </a:xfrm>
          <a:prstGeom prst="rect">
            <a:avLst/>
          </a:prstGeom>
        </p:spPr>
      </p:pic>
      <p:sp>
        <p:nvSpPr>
          <p:cNvPr id="24" name="文本框 256"/>
          <p:cNvSpPr txBox="1"/>
          <p:nvPr/>
        </p:nvSpPr>
        <p:spPr>
          <a:xfrm>
            <a:off x="5792311" y="2850935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智能体</a:t>
            </a:r>
          </a:p>
        </p:txBody>
      </p:sp>
      <p:sp>
        <p:nvSpPr>
          <p:cNvPr id="25" name="文本框 257"/>
          <p:cNvSpPr txBox="1"/>
          <p:nvPr/>
        </p:nvSpPr>
        <p:spPr>
          <a:xfrm>
            <a:off x="4909135" y="2708365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环境</a:t>
            </a:r>
          </a:p>
        </p:txBody>
      </p:sp>
      <p:sp>
        <p:nvSpPr>
          <p:cNvPr id="26" name="文本框 258"/>
          <p:cNvSpPr txBox="1"/>
          <p:nvPr/>
        </p:nvSpPr>
        <p:spPr>
          <a:xfrm>
            <a:off x="6790124" y="2651899"/>
            <a:ext cx="7064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/>
              <a:t>观察</a:t>
            </a:r>
          </a:p>
        </p:txBody>
      </p:sp>
      <p:sp>
        <p:nvSpPr>
          <p:cNvPr id="27" name="右箭头 35"/>
          <p:cNvSpPr/>
          <p:nvPr/>
        </p:nvSpPr>
        <p:spPr>
          <a:xfrm rot="5400000">
            <a:off x="6013561" y="3359307"/>
            <a:ext cx="146689" cy="239550"/>
          </a:xfrm>
          <a:prstGeom prst="right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25400" cmpd="sng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右箭头 36"/>
          <p:cNvSpPr/>
          <p:nvPr/>
        </p:nvSpPr>
        <p:spPr>
          <a:xfrm rot="5400000">
            <a:off x="5989845" y="2237506"/>
            <a:ext cx="194142" cy="239550"/>
          </a:xfrm>
          <a:prstGeom prst="rightArrow">
            <a:avLst/>
          </a:prstGeom>
          <a:solidFill>
            <a:schemeClr val="tx2">
              <a:lumMod val="60000"/>
              <a:lumOff val="40000"/>
              <a:alpha val="100000"/>
            </a:schemeClr>
          </a:solidFill>
          <a:ln w="25400" cmpd="sng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文本框 249"/>
          <p:cNvSpPr txBox="1"/>
          <p:nvPr/>
        </p:nvSpPr>
        <p:spPr>
          <a:xfrm>
            <a:off x="6652268" y="3607199"/>
            <a:ext cx="114300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协同决策</a:t>
            </a:r>
          </a:p>
          <a:p>
            <a:pPr algn="ctr"/>
            <a:r>
              <a:rPr lang="zh-CN" sz="1600" b="1">
                <a:solidFill>
                  <a:srgbClr val="496E9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极速寻优</a:t>
            </a:r>
          </a:p>
        </p:txBody>
      </p:sp>
      <p:sp>
        <p:nvSpPr>
          <p:cNvPr id="34" name="下弧形箭头 548"/>
          <p:cNvSpPr/>
          <p:nvPr/>
        </p:nvSpPr>
        <p:spPr>
          <a:xfrm rot="10800000">
            <a:off x="2127813" y="5337825"/>
            <a:ext cx="8035468" cy="545983"/>
          </a:xfrm>
          <a:prstGeom prst="curvedDownArrow">
            <a:avLst>
              <a:gd name="adj1" fmla="val 50000"/>
              <a:gd name="adj2" fmla="val 130314"/>
              <a:gd name="adj3" fmla="val 20422"/>
            </a:avLst>
          </a:prstGeom>
          <a:solidFill>
            <a:schemeClr val="bg1">
              <a:lumMod val="65000"/>
              <a:alpha val="100000"/>
            </a:schemeClr>
          </a:solidFill>
          <a:ln w="12700" cmpd="sng">
            <a:noFill/>
            <a:prstDash val="solid"/>
            <a:miter lim="800000"/>
          </a:ln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35" name="文本框 34"/>
          <p:cNvSpPr txBox="1"/>
          <p:nvPr/>
        </p:nvSpPr>
        <p:spPr>
          <a:xfrm>
            <a:off x="4241850" y="5454558"/>
            <a:ext cx="3665726" cy="312475"/>
          </a:xfrm>
          <a:prstGeom prst="rect">
            <a:avLst/>
          </a:prstGeom>
          <a:ln w="12700">
            <a:prstDash val="solid"/>
          </a:ln>
        </p:spPr>
        <p:txBody>
          <a:bodyPr wrap="square">
            <a:noAutofit/>
          </a:bodyPr>
          <a:lstStyle/>
          <a:p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表演变化</a:t>
            </a:r>
            <a:r>
              <a:rPr lang="en-US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目标变化</a:t>
            </a:r>
            <a:r>
              <a:rPr lang="en-US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现场反馈</a:t>
            </a:r>
          </a:p>
        </p:txBody>
      </p:sp>
      <p:sp>
        <p:nvSpPr>
          <p:cNvPr id="36" name="矩形 35"/>
          <p:cNvSpPr/>
          <p:nvPr userDrawn="1"/>
        </p:nvSpPr>
        <p:spPr>
          <a:xfrm>
            <a:off x="636905" y="4716145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按当前问题调用姿态、生理、</a:t>
            </a:r>
          </a:p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节奏、规则等子智能体</a:t>
            </a:r>
          </a:p>
        </p:txBody>
      </p:sp>
      <p:sp>
        <p:nvSpPr>
          <p:cNvPr id="37" name="矩形 36"/>
          <p:cNvSpPr/>
          <p:nvPr userDrawn="1"/>
        </p:nvSpPr>
        <p:spPr>
          <a:xfrm>
            <a:off x="4455877" y="4716166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围绕安全、作品与表现目标开展</a:t>
            </a:r>
          </a:p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协同寻优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矩形 37"/>
          <p:cNvSpPr/>
          <p:nvPr userDrawn="1"/>
        </p:nvSpPr>
        <p:spPr>
          <a:xfrm>
            <a:off x="8314570" y="4716166"/>
            <a:ext cx="3224530" cy="522605"/>
          </a:xfrm>
          <a:prstGeom prst="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400" b="1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表演者、教练、编导、专家与观众反馈驱动方案持续重编排</a:t>
            </a:r>
            <a:endParaRPr lang="zh-CN" altLang="en-US" sz="1400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26" name="智能体卡片1"/>
          <p:cNvSpPr/>
          <p:nvPr/>
        </p:nvSpPr>
        <p:spPr>
          <a:xfrm>
            <a:off x="685800" y="151790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27" name="智能体图标1" descr="icon-person-walking-4ecc91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80160" y="1600200"/>
            <a:ext cx="347472" cy="347472"/>
          </a:xfrm>
          <a:prstGeom prst="rect">
            <a:avLst/>
          </a:prstGeom>
        </p:spPr>
      </p:pic>
      <p:sp>
        <p:nvSpPr>
          <p:cNvPr id="528" name="智能体名称1"/>
          <p:cNvSpPr txBox="1"/>
          <p:nvPr/>
        </p:nvSpPr>
        <p:spPr>
          <a:xfrm>
            <a:off x="731520" y="197510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姿态</a:t>
            </a:r>
          </a:p>
        </p:txBody>
      </p:sp>
      <p:sp>
        <p:nvSpPr>
          <p:cNvPr id="529" name="智能体英文1"/>
          <p:cNvSpPr txBox="1"/>
          <p:nvPr/>
        </p:nvSpPr>
        <p:spPr>
          <a:xfrm>
            <a:off x="731520" y="223113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Pose Agent</a:t>
            </a:r>
          </a:p>
        </p:txBody>
      </p:sp>
      <p:sp>
        <p:nvSpPr>
          <p:cNvPr id="530" name="智能体卡片2"/>
          <p:cNvSpPr/>
          <p:nvPr/>
        </p:nvSpPr>
        <p:spPr>
          <a:xfrm>
            <a:off x="2331720" y="151790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1" name="智能体图标2" descr="icon-heart-pulse-969d93e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26079" y="1600200"/>
            <a:ext cx="347472" cy="347472"/>
          </a:xfrm>
          <a:prstGeom prst="rect">
            <a:avLst/>
          </a:prstGeom>
        </p:spPr>
      </p:pic>
      <p:sp>
        <p:nvSpPr>
          <p:cNvPr id="532" name="智能体名称2"/>
          <p:cNvSpPr txBox="1"/>
          <p:nvPr/>
        </p:nvSpPr>
        <p:spPr>
          <a:xfrm>
            <a:off x="2377439" y="197510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生理</a:t>
            </a:r>
          </a:p>
        </p:txBody>
      </p:sp>
      <p:sp>
        <p:nvSpPr>
          <p:cNvPr id="533" name="智能体英文2"/>
          <p:cNvSpPr txBox="1"/>
          <p:nvPr/>
        </p:nvSpPr>
        <p:spPr>
          <a:xfrm>
            <a:off x="2377439" y="223113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Physiology Agent</a:t>
            </a:r>
          </a:p>
        </p:txBody>
      </p:sp>
      <p:sp>
        <p:nvSpPr>
          <p:cNvPr id="534" name="智能体卡片3"/>
          <p:cNvSpPr/>
          <p:nvPr/>
        </p:nvSpPr>
        <p:spPr>
          <a:xfrm>
            <a:off x="685800" y="256946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5" name="智能体图标3" descr="icon-music-note2-play-849e2ec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0160" y="2651760"/>
            <a:ext cx="347472" cy="347472"/>
          </a:xfrm>
          <a:prstGeom prst="rect">
            <a:avLst/>
          </a:prstGeom>
        </p:spPr>
      </p:pic>
      <p:sp>
        <p:nvSpPr>
          <p:cNvPr id="536" name="智能体名称3"/>
          <p:cNvSpPr txBox="1"/>
          <p:nvPr/>
        </p:nvSpPr>
        <p:spPr>
          <a:xfrm>
            <a:off x="731520" y="302666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节奏音乐</a:t>
            </a:r>
          </a:p>
        </p:txBody>
      </p:sp>
      <p:sp>
        <p:nvSpPr>
          <p:cNvPr id="537" name="智能体英文3"/>
          <p:cNvSpPr txBox="1"/>
          <p:nvPr/>
        </p:nvSpPr>
        <p:spPr>
          <a:xfrm>
            <a:off x="731520" y="328269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Rhythm &amp; Music</a:t>
            </a:r>
          </a:p>
        </p:txBody>
      </p:sp>
      <p:sp>
        <p:nvSpPr>
          <p:cNvPr id="538" name="智能体卡片4"/>
          <p:cNvSpPr/>
          <p:nvPr/>
        </p:nvSpPr>
        <p:spPr>
          <a:xfrm>
            <a:off x="2331720" y="256946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9" name="智能体图标4" descr="icon-location-ce588e8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26079" y="2651760"/>
            <a:ext cx="347472" cy="347472"/>
          </a:xfrm>
          <a:prstGeom prst="rect">
            <a:avLst/>
          </a:prstGeom>
        </p:spPr>
      </p:pic>
      <p:sp>
        <p:nvSpPr>
          <p:cNvPr id="540" name="智能体名称4"/>
          <p:cNvSpPr txBox="1"/>
          <p:nvPr/>
        </p:nvSpPr>
        <p:spPr>
          <a:xfrm>
            <a:off x="2377439" y="302666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空间轨迹</a:t>
            </a:r>
          </a:p>
        </p:txBody>
      </p:sp>
      <p:sp>
        <p:nvSpPr>
          <p:cNvPr id="541" name="智能体英文4"/>
          <p:cNvSpPr txBox="1"/>
          <p:nvPr/>
        </p:nvSpPr>
        <p:spPr>
          <a:xfrm>
            <a:off x="2377439" y="328269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Spatial Trajectory</a:t>
            </a:r>
          </a:p>
        </p:txBody>
      </p:sp>
      <p:sp>
        <p:nvSpPr>
          <p:cNvPr id="542" name="智能体卡片5"/>
          <p:cNvSpPr/>
          <p:nvPr/>
        </p:nvSpPr>
        <p:spPr>
          <a:xfrm>
            <a:off x="685800" y="362102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3" name="智能体图标5" descr="icon-gavel-10e70ab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80160" y="3703320"/>
            <a:ext cx="347472" cy="347472"/>
          </a:xfrm>
          <a:prstGeom prst="rect">
            <a:avLst/>
          </a:prstGeom>
        </p:spPr>
      </p:pic>
      <p:sp>
        <p:nvSpPr>
          <p:cNvPr id="544" name="智能体名称5"/>
          <p:cNvSpPr txBox="1"/>
          <p:nvPr/>
        </p:nvSpPr>
        <p:spPr>
          <a:xfrm>
            <a:off x="731520" y="407822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评分规则</a:t>
            </a:r>
          </a:p>
        </p:txBody>
      </p:sp>
      <p:sp>
        <p:nvSpPr>
          <p:cNvPr id="545" name="智能体英文5"/>
          <p:cNvSpPr txBox="1"/>
          <p:nvPr/>
        </p:nvSpPr>
        <p:spPr>
          <a:xfrm>
            <a:off x="731520" y="433425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Scoring Rules</a:t>
            </a:r>
          </a:p>
        </p:txBody>
      </p:sp>
      <p:sp>
        <p:nvSpPr>
          <p:cNvPr id="546" name="智能体卡片6"/>
          <p:cNvSpPr/>
          <p:nvPr/>
        </p:nvSpPr>
        <p:spPr>
          <a:xfrm>
            <a:off x="2331720" y="3621024"/>
            <a:ext cx="1536192" cy="969264"/>
          </a:xfrm>
          <a:prstGeom prst="rect">
            <a:avLst/>
          </a:prstGeom>
          <a:solidFill>
            <a:srgbClr val="F3F7FB"/>
          </a:solidFill>
          <a:ln w="9525">
            <a:solidFill>
              <a:srgbClr val="A9BBD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47" name="智能体图标6" descr="icon-lightbulb-78dd632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26079" y="3703320"/>
            <a:ext cx="347472" cy="347472"/>
          </a:xfrm>
          <a:prstGeom prst="rect">
            <a:avLst/>
          </a:prstGeom>
        </p:spPr>
      </p:pic>
      <p:sp>
        <p:nvSpPr>
          <p:cNvPr id="548" name="智能体名称6"/>
          <p:cNvSpPr txBox="1"/>
          <p:nvPr/>
        </p:nvSpPr>
        <p:spPr>
          <a:xfrm>
            <a:off x="2377439" y="4078224"/>
            <a:ext cx="1444751" cy="27432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400" b="1">
                <a:solidFill>
                  <a:srgbClr val="123F63"/>
                </a:solidFill>
                <a:latin typeface="微软雅黑"/>
              </a:rPr>
              <a:t>作品意图</a:t>
            </a:r>
          </a:p>
        </p:txBody>
      </p:sp>
      <p:sp>
        <p:nvSpPr>
          <p:cNvPr id="549" name="智能体英文6"/>
          <p:cNvSpPr txBox="1"/>
          <p:nvPr/>
        </p:nvSpPr>
        <p:spPr>
          <a:xfrm>
            <a:off x="2377439" y="4334256"/>
            <a:ext cx="1444751" cy="219456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000" b="0">
                <a:solidFill>
                  <a:srgbClr val="5A6B80"/>
                </a:solidFill>
                <a:latin typeface="Calibri"/>
              </a:rPr>
              <a:t>Work Intent</a:t>
            </a:r>
          </a:p>
        </p:txBody>
      </p:sp>
      <p:sp>
        <p:nvSpPr>
          <p:cNvPr id="550" name="角色1"/>
          <p:cNvSpPr/>
          <p:nvPr/>
        </p:nvSpPr>
        <p:spPr>
          <a:xfrm>
            <a:off x="8339327" y="1536192"/>
            <a:ext cx="804672" cy="457200"/>
          </a:xfrm>
          <a:prstGeom prst="rect">
            <a:avLst/>
          </a:prstGeom>
          <a:solidFill>
            <a:srgbClr val="486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表演者</a:t>
            </a:r>
          </a:p>
        </p:txBody>
      </p:sp>
      <p:sp>
        <p:nvSpPr>
          <p:cNvPr id="551" name="角色职责1"/>
          <p:cNvSpPr/>
          <p:nvPr/>
        </p:nvSpPr>
        <p:spPr>
          <a:xfrm>
            <a:off x="9144000" y="1536192"/>
            <a:ext cx="2359152" cy="457200"/>
          </a:xfrm>
          <a:prstGeom prst="rect">
            <a:avLst/>
          </a:prstGeom>
          <a:solidFill>
            <a:srgbClr val="E2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/>
            <a:r>
              <a:rPr sz="1200" b="1">
                <a:solidFill>
                  <a:srgbClr val="123F63"/>
                </a:solidFill>
                <a:latin typeface="微软雅黑"/>
              </a:rPr>
              <a:t>报告身体感受</a:t>
            </a:r>
          </a:p>
        </p:txBody>
      </p:sp>
      <p:sp>
        <p:nvSpPr>
          <p:cNvPr id="552" name="角色2"/>
          <p:cNvSpPr/>
          <p:nvPr/>
        </p:nvSpPr>
        <p:spPr>
          <a:xfrm>
            <a:off x="8339327" y="2084831"/>
            <a:ext cx="804672" cy="749808"/>
          </a:xfrm>
          <a:prstGeom prst="rect">
            <a:avLst/>
          </a:prstGeom>
          <a:solidFill>
            <a:srgbClr val="486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教练</a:t>
            </a:r>
          </a:p>
        </p:txBody>
      </p:sp>
      <p:sp>
        <p:nvSpPr>
          <p:cNvPr id="553" name="角色职责2"/>
          <p:cNvSpPr/>
          <p:nvPr/>
        </p:nvSpPr>
        <p:spPr>
          <a:xfrm>
            <a:off x="9144000" y="2084831"/>
            <a:ext cx="2359152" cy="749808"/>
          </a:xfrm>
          <a:prstGeom prst="rect">
            <a:avLst/>
          </a:prstGeom>
          <a:solidFill>
            <a:srgbClr val="E2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/>
            <a:r>
              <a:rPr sz="1200" b="1">
                <a:solidFill>
                  <a:srgbClr val="123F63"/>
                </a:solidFill>
                <a:latin typeface="微软雅黑"/>
              </a:rPr>
              <a:t>判断技术方案，调整技术目标和训练计划，决定技术路线</a:t>
            </a:r>
          </a:p>
        </p:txBody>
      </p:sp>
      <p:sp>
        <p:nvSpPr>
          <p:cNvPr id="554" name="角色3"/>
          <p:cNvSpPr/>
          <p:nvPr/>
        </p:nvSpPr>
        <p:spPr>
          <a:xfrm>
            <a:off x="8339327" y="2926079"/>
            <a:ext cx="804672" cy="457200"/>
          </a:xfrm>
          <a:prstGeom prst="rect">
            <a:avLst/>
          </a:prstGeom>
          <a:solidFill>
            <a:srgbClr val="486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编导</a:t>
            </a:r>
          </a:p>
        </p:txBody>
      </p:sp>
      <p:sp>
        <p:nvSpPr>
          <p:cNvPr id="555" name="角色职责3"/>
          <p:cNvSpPr/>
          <p:nvPr/>
        </p:nvSpPr>
        <p:spPr>
          <a:xfrm>
            <a:off x="9144000" y="2926079"/>
            <a:ext cx="2359152" cy="457200"/>
          </a:xfrm>
          <a:prstGeom prst="rect">
            <a:avLst/>
          </a:prstGeom>
          <a:solidFill>
            <a:srgbClr val="E2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/>
            <a:r>
              <a:rPr sz="1200" b="1">
                <a:solidFill>
                  <a:srgbClr val="123F63"/>
                </a:solidFill>
                <a:latin typeface="微软雅黑"/>
              </a:rPr>
              <a:t>说明作品意图</a:t>
            </a:r>
          </a:p>
        </p:txBody>
      </p:sp>
      <p:sp>
        <p:nvSpPr>
          <p:cNvPr id="556" name="角色4"/>
          <p:cNvSpPr/>
          <p:nvPr/>
        </p:nvSpPr>
        <p:spPr>
          <a:xfrm>
            <a:off x="8339327" y="3474720"/>
            <a:ext cx="804672" cy="621792"/>
          </a:xfrm>
          <a:prstGeom prst="rect">
            <a:avLst/>
          </a:prstGeom>
          <a:solidFill>
            <a:srgbClr val="486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专家</a:t>
            </a:r>
          </a:p>
        </p:txBody>
      </p:sp>
      <p:sp>
        <p:nvSpPr>
          <p:cNvPr id="557" name="角色职责4"/>
          <p:cNvSpPr/>
          <p:nvPr/>
        </p:nvSpPr>
        <p:spPr>
          <a:xfrm>
            <a:off x="9144000" y="3474720"/>
            <a:ext cx="2359152" cy="621792"/>
          </a:xfrm>
          <a:prstGeom prst="rect">
            <a:avLst/>
          </a:prstGeom>
          <a:solidFill>
            <a:srgbClr val="E2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/>
            <a:r>
              <a:rPr sz="1200" b="1">
                <a:solidFill>
                  <a:srgbClr val="123F63"/>
                </a:solidFill>
                <a:latin typeface="微软雅黑"/>
              </a:rPr>
              <a:t>解释规则，修正规则理解和扣分依据</a:t>
            </a:r>
          </a:p>
        </p:txBody>
      </p:sp>
      <p:sp>
        <p:nvSpPr>
          <p:cNvPr id="558" name="角色5"/>
          <p:cNvSpPr/>
          <p:nvPr/>
        </p:nvSpPr>
        <p:spPr>
          <a:xfrm>
            <a:off x="8339327" y="4187952"/>
            <a:ext cx="804672" cy="457200"/>
          </a:xfrm>
          <a:prstGeom prst="rect">
            <a:avLst/>
          </a:prstGeom>
          <a:solidFill>
            <a:srgbClr val="486C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" rIns="27432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</a:rPr>
              <a:t>观众</a:t>
            </a:r>
          </a:p>
        </p:txBody>
      </p:sp>
      <p:sp>
        <p:nvSpPr>
          <p:cNvPr id="559" name="角色职责5"/>
          <p:cNvSpPr/>
          <p:nvPr/>
        </p:nvSpPr>
        <p:spPr>
          <a:xfrm>
            <a:off x="9144000" y="4187952"/>
            <a:ext cx="2359152" cy="457200"/>
          </a:xfrm>
          <a:prstGeom prst="rect">
            <a:avLst/>
          </a:prstGeom>
          <a:solidFill>
            <a:srgbClr val="E2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18288" rIns="54864" bIns="18288" rtlCol="0" anchor="ctr"/>
          <a:lstStyle/>
          <a:p>
            <a:pPr algn="l"/>
            <a:r>
              <a:rPr sz="1200" b="1">
                <a:solidFill>
                  <a:srgbClr val="123F63"/>
                </a:solidFill>
                <a:latin typeface="微软雅黑"/>
              </a:rPr>
              <a:t>试演反馈</a:t>
            </a:r>
          </a:p>
        </p:txBody>
      </p:sp>
      <p:sp>
        <p:nvSpPr>
          <p:cNvPr id="560" name="应用边界说明"/>
          <p:cNvSpPr txBox="1"/>
          <p:nvPr/>
        </p:nvSpPr>
        <p:spPr>
          <a:xfrm>
            <a:off x="283464" y="6556248"/>
            <a:ext cx="10789920" cy="256032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微软雅黑"/>
              </a:rPr>
              <a:t>应用边界：以排练、训练和赛后复盘为主，不在正式比赛中干预裁判打分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CoGnitive：从一次评分走向个体化艺术认知演化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15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102" name="直接连接符 101"/>
          <p:cNvSpPr>
            <a:spLocks noGrp="1"/>
          </p:cNvSpPr>
          <p:nvPr/>
        </p:nvSpPr>
        <p:spPr>
          <a:xfrm flipV="1">
            <a:off x="934720" y="2040890"/>
            <a:ext cx="10328275" cy="58420"/>
          </a:xfrm>
          <a:prstGeom prst="line">
            <a:avLst/>
          </a:prstGeom>
          <a:noFill/>
          <a:ln w="28575">
            <a:solidFill>
              <a:srgbClr val="F5880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4" name="椭圆 103"/>
          <p:cNvSpPr>
            <a:spLocks noGrp="1"/>
          </p:cNvSpPr>
          <p:nvPr/>
        </p:nvSpPr>
        <p:spPr>
          <a:xfrm>
            <a:off x="1906270" y="1878330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椭圆 104"/>
          <p:cNvSpPr>
            <a:spLocks noGrp="1"/>
          </p:cNvSpPr>
          <p:nvPr/>
        </p:nvSpPr>
        <p:spPr>
          <a:xfrm>
            <a:off x="6014085" y="1908175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6" name="椭圆 105"/>
          <p:cNvSpPr>
            <a:spLocks noGrp="1"/>
          </p:cNvSpPr>
          <p:nvPr/>
        </p:nvSpPr>
        <p:spPr>
          <a:xfrm>
            <a:off x="9968230" y="1878330"/>
            <a:ext cx="323850" cy="32385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矩形 185"/>
          <p:cNvSpPr/>
          <p:nvPr/>
        </p:nvSpPr>
        <p:spPr bwMode="auto">
          <a:xfrm>
            <a:off x="290830" y="940435"/>
            <a:ext cx="11610975" cy="5200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  <a:effectLst/>
        </p:spPr>
        <p:txBody>
          <a:bodyPr wrap="none" rtlCol="0" anchor="ctr"/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6" name="文本占位符 1"/>
          <p:cNvSpPr txBox="1"/>
          <p:nvPr/>
        </p:nvSpPr>
        <p:spPr>
          <a:xfrm>
            <a:off x="359410" y="962660"/>
            <a:ext cx="96094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>
                <a:solidFill>
                  <a:schemeClr val="tx1">
                    <a:lumMod val="85000"/>
                    <a:lumOff val="1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持续追踪运动员状态、动作完成与艺术表达，在训练和反馈中更新评价依据</a:t>
            </a:r>
            <a:endParaRPr lang="zh-CN" altLang="en-US" sz="2000" dirty="0">
              <a:solidFill>
                <a:schemeClr val="tx1">
                  <a:lumMod val="85000"/>
                  <a:lumOff val="1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8" name="文本占位符 1"/>
          <p:cNvSpPr txBox="1"/>
          <p:nvPr/>
        </p:nvSpPr>
        <p:spPr>
          <a:xfrm>
            <a:off x="1220470" y="1441450"/>
            <a:ext cx="2015490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短期  状态校正</a:t>
            </a:r>
            <a:endParaRPr lang="en-US" altLang="zh-CN" sz="2000" dirty="0">
              <a:solidFill>
                <a:schemeClr val="accent1">
                  <a:lumMod val="7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9" name="文本占位符 1"/>
          <p:cNvSpPr txBox="1"/>
          <p:nvPr/>
        </p:nvSpPr>
        <p:spPr>
          <a:xfrm>
            <a:off x="4889500" y="1460500"/>
            <a:ext cx="25736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中期  个体校准</a:t>
            </a:r>
          </a:p>
        </p:txBody>
      </p:sp>
      <p:sp>
        <p:nvSpPr>
          <p:cNvPr id="11" name="文本占位符 1"/>
          <p:cNvSpPr txBox="1"/>
          <p:nvPr/>
        </p:nvSpPr>
        <p:spPr>
          <a:xfrm>
            <a:off x="8843010" y="1460500"/>
            <a:ext cx="2573655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sz="2000" dirty="0">
                <a:solidFill>
                  <a:schemeClr val="accent1">
                    <a:lumMod val="7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长期  认知拓展</a:t>
            </a:r>
          </a:p>
        </p:txBody>
      </p:sp>
      <p:pic>
        <p:nvPicPr>
          <p:cNvPr id="528" name="图片 527"/>
          <p:cNvPicPr>
            <a:picLocks noChangeAspect="1"/>
          </p:cNvPicPr>
          <p:nvPr/>
        </p:nvPicPr>
        <p:blipFill>
          <a:blip r:embed="rId11"/>
          <a:srcRect/>
          <a:stretch>
            <a:fillRect/>
          </a:stretch>
        </p:blipFill>
        <p:spPr>
          <a:xfrm>
            <a:off x="3809341" y="2331720"/>
            <a:ext cx="4733290" cy="301752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514985" y="2809875"/>
            <a:ext cx="3281680" cy="3302000"/>
            <a:chOff x="13219" y="3532"/>
            <a:chExt cx="5168" cy="5200"/>
          </a:xfrm>
        </p:grpSpPr>
        <p:pic>
          <p:nvPicPr>
            <p:cNvPr id="446" name="图片 445"/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>
            <a:xfrm>
              <a:off x="13232" y="3563"/>
              <a:ext cx="2063" cy="1663"/>
            </a:xfrm>
            <a:prstGeom prst="rect">
              <a:avLst/>
            </a:prstGeom>
          </p:spPr>
        </p:pic>
        <p:sp>
          <p:nvSpPr>
            <p:cNvPr id="447" name="TextBox 43"/>
            <p:cNvSpPr txBox="1"/>
            <p:nvPr/>
          </p:nvSpPr>
          <p:spPr>
            <a:xfrm>
              <a:off x="13619" y="5268"/>
              <a:ext cx="1620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运动观测</a:t>
              </a:r>
            </a:p>
          </p:txBody>
        </p:sp>
        <p:grpSp>
          <p:nvGrpSpPr>
            <p:cNvPr id="448" name="组合 447"/>
            <p:cNvGrpSpPr/>
            <p:nvPr/>
          </p:nvGrpSpPr>
          <p:grpSpPr>
            <a:xfrm>
              <a:off x="16145" y="6475"/>
              <a:ext cx="2243" cy="1717"/>
              <a:chOff x="10025432" y="1889760"/>
              <a:chExt cx="1623592" cy="1202690"/>
            </a:xfrm>
          </p:grpSpPr>
          <p:pic>
            <p:nvPicPr>
              <p:cNvPr id="449" name="图片 448"/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025432" y="1889760"/>
                <a:ext cx="1531620" cy="1173480"/>
              </a:xfrm>
              <a:prstGeom prst="rect">
                <a:avLst/>
              </a:prstGeom>
            </p:spPr>
          </p:pic>
          <p:pic>
            <p:nvPicPr>
              <p:cNvPr id="450" name="图片 449"/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0025432" y="2216150"/>
                <a:ext cx="1623592" cy="876300"/>
              </a:xfrm>
              <a:prstGeom prst="rect">
                <a:avLst/>
              </a:prstGeom>
            </p:spPr>
          </p:pic>
        </p:grpSp>
        <p:sp>
          <p:nvSpPr>
            <p:cNvPr id="451" name="TextBox 43"/>
            <p:cNvSpPr txBox="1"/>
            <p:nvPr/>
          </p:nvSpPr>
          <p:spPr>
            <a:xfrm>
              <a:off x="16358" y="8192"/>
              <a:ext cx="1620" cy="5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偏差识别</a:t>
              </a:r>
            </a:p>
          </p:txBody>
        </p:sp>
        <p:pic>
          <p:nvPicPr>
            <p:cNvPr id="452" name="图片 451"/>
            <p:cNvPicPr>
              <a:picLocks noChangeAspect="1"/>
            </p:cNvPicPr>
            <p:nvPr/>
          </p:nvPicPr>
          <p:blipFill>
            <a:blip r:embed="rId15"/>
            <a:srcRect/>
            <a:stretch>
              <a:fillRect/>
            </a:stretch>
          </p:blipFill>
          <p:spPr>
            <a:xfrm>
              <a:off x="16114" y="3532"/>
              <a:ext cx="2129" cy="1675"/>
            </a:xfrm>
            <a:prstGeom prst="rect">
              <a:avLst/>
            </a:prstGeom>
          </p:spPr>
        </p:pic>
        <p:sp>
          <p:nvSpPr>
            <p:cNvPr id="453" name="TextBox 43"/>
            <p:cNvSpPr txBox="1"/>
            <p:nvPr/>
          </p:nvSpPr>
          <p:spPr>
            <a:xfrm>
              <a:off x="16369" y="5247"/>
              <a:ext cx="1620" cy="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动作预测</a:t>
              </a:r>
            </a:p>
          </p:txBody>
        </p:sp>
        <p:sp>
          <p:nvSpPr>
            <p:cNvPr id="454" name="右箭头 48"/>
            <p:cNvSpPr/>
            <p:nvPr/>
          </p:nvSpPr>
          <p:spPr>
            <a:xfrm>
              <a:off x="15535" y="4026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5" name="右箭头 48"/>
            <p:cNvSpPr/>
            <p:nvPr/>
          </p:nvSpPr>
          <p:spPr>
            <a:xfrm rot="5400000">
              <a:off x="17002" y="584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6" name="TextBox 43"/>
            <p:cNvSpPr txBox="1"/>
            <p:nvPr/>
          </p:nvSpPr>
          <p:spPr>
            <a:xfrm>
              <a:off x="13619" y="8192"/>
              <a:ext cx="1620" cy="5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lvl="0" indent="0" algn="l" defTabSz="91440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800">
                  <a:solidFill>
                    <a:schemeClr val="tx1">
                      <a:alpha val="100000"/>
                    </a:schemeClr>
                  </a:solidFill>
                  <a:latin typeface="Arial" panose="020B0604020202020204"/>
                  <a:ea typeface="微软雅黑" panose="020B0503020204020204" charset="-122"/>
                  <a:cs typeface="+mn-cs"/>
                </a:defRPr>
              </a:pPr>
              <a:r>
                <a:rPr lang="zh-CN" sz="1600" b="0">
                  <a:solidFill>
                    <a:srgbClr val="000000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+mn-cs"/>
                </a:rPr>
                <a:t>反馈校准</a:t>
              </a:r>
            </a:p>
          </p:txBody>
        </p:sp>
        <p:pic>
          <p:nvPicPr>
            <p:cNvPr id="457" name="图片 456"/>
            <p:cNvPicPr>
              <a:picLocks noChangeAspect="1"/>
            </p:cNvPicPr>
            <p:nvPr/>
          </p:nvPicPr>
          <p:blipFill>
            <a:blip r:embed="rId16"/>
            <a:srcRect/>
            <a:stretch>
              <a:fillRect/>
            </a:stretch>
          </p:blipFill>
          <p:spPr>
            <a:xfrm>
              <a:off x="13219" y="6517"/>
              <a:ext cx="2421" cy="1750"/>
            </a:xfrm>
            <a:prstGeom prst="rect">
              <a:avLst/>
            </a:prstGeom>
          </p:spPr>
        </p:pic>
        <p:sp>
          <p:nvSpPr>
            <p:cNvPr id="458" name="右箭头 48"/>
            <p:cNvSpPr/>
            <p:nvPr/>
          </p:nvSpPr>
          <p:spPr>
            <a:xfrm rot="10800000">
              <a:off x="15531" y="722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9" name="右箭头 48"/>
            <p:cNvSpPr/>
            <p:nvPr/>
          </p:nvSpPr>
          <p:spPr>
            <a:xfrm rot="16200000">
              <a:off x="14199" y="5840"/>
              <a:ext cx="480" cy="474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6" name="文本占位符 1"/>
          <p:cNvSpPr txBox="1"/>
          <p:nvPr/>
        </p:nvSpPr>
        <p:spPr>
          <a:xfrm>
            <a:off x="1220470" y="2230755"/>
            <a:ext cx="2015490" cy="47879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动作与状态修正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开放艺术情境无法预先穷尽，系统必须保留持续学习和专家校准机制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8676131" y="5269809"/>
            <a:ext cx="3274761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结合裁判评价、教练解释和试排反馈，</a:t>
            </a:r>
          </a:p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逐步拓展认知边界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8265034" y="2202338"/>
            <a:ext cx="3740276" cy="2806163"/>
            <a:chOff x="1248" y="1110"/>
            <a:chExt cx="12328" cy="7927"/>
          </a:xfrm>
        </p:grpSpPr>
        <p:sp>
          <p:nvSpPr>
            <p:cNvPr id="15" name="椭圆 14"/>
            <p:cNvSpPr/>
            <p:nvPr/>
          </p:nvSpPr>
          <p:spPr>
            <a:xfrm>
              <a:off x="2130" y="2331"/>
              <a:ext cx="11446" cy="661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2603" y="2625"/>
              <a:ext cx="8527" cy="50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D75543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 rot="20760000">
              <a:off x="3900" y="2933"/>
              <a:ext cx="3963" cy="2428"/>
            </a:xfrm>
            <a:prstGeom prst="ellipse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rgbClr val="D75543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 rot="300000">
              <a:off x="3614" y="3977"/>
              <a:ext cx="3621" cy="2665"/>
            </a:xfrm>
            <a:prstGeom prst="ellipse">
              <a:avLst/>
            </a:prstGeom>
            <a:solidFill>
              <a:schemeClr val="bg1">
                <a:alpha val="76000"/>
              </a:schemeClr>
            </a:solidFill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>
              <p:custDataLst>
                <p:tags r:id="rId1"/>
              </p:custDataLst>
            </p:nvPr>
          </p:nvSpPr>
          <p:spPr>
            <a:xfrm>
              <a:off x="5093" y="7708"/>
              <a:ext cx="6986" cy="110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未充分认知的区域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2"/>
              </p:custDataLst>
            </p:nvPr>
          </p:nvSpPr>
          <p:spPr>
            <a:xfrm>
              <a:off x="6658" y="4328"/>
              <a:ext cx="5122" cy="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认知新方向 </a:t>
              </a:r>
            </a:p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（创造智能）</a:t>
              </a:r>
            </a:p>
          </p:txBody>
        </p:sp>
        <p:sp>
          <p:nvSpPr>
            <p:cNvPr id="23" name="五角星 22"/>
            <p:cNvSpPr/>
            <p:nvPr>
              <p:custDataLst>
                <p:tags r:id="rId3"/>
              </p:custDataLst>
            </p:nvPr>
          </p:nvSpPr>
          <p:spPr>
            <a:xfrm>
              <a:off x="8775" y="5727"/>
              <a:ext cx="1296" cy="1071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五角星 23"/>
            <p:cNvSpPr/>
            <p:nvPr/>
          </p:nvSpPr>
          <p:spPr>
            <a:xfrm>
              <a:off x="8279" y="3792"/>
              <a:ext cx="746" cy="583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五角星 24"/>
            <p:cNvSpPr/>
            <p:nvPr>
              <p:custDataLst>
                <p:tags r:id="rId4"/>
              </p:custDataLst>
            </p:nvPr>
          </p:nvSpPr>
          <p:spPr>
            <a:xfrm>
              <a:off x="8092" y="6314"/>
              <a:ext cx="400" cy="355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5317" y="3451"/>
              <a:ext cx="420" cy="4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6241" y="3792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6517" y="3081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5857" y="3146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4882" y="3451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4552" y="4280"/>
              <a:ext cx="162" cy="16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5342" y="4484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>
              <p:custDataLst>
                <p:tags r:id="rId5"/>
              </p:custDataLst>
            </p:nvPr>
          </p:nvSpPr>
          <p:spPr>
            <a:xfrm>
              <a:off x="6068" y="4370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6924" y="3682"/>
              <a:ext cx="142" cy="14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7397" y="3331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5273" y="5335"/>
              <a:ext cx="420" cy="4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>
              <p:custDataLst>
                <p:tags r:id="rId6"/>
              </p:custDataLst>
            </p:nvPr>
          </p:nvSpPr>
          <p:spPr>
            <a:xfrm>
              <a:off x="58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>
              <p:custDataLst>
                <p:tags r:id="rId7"/>
              </p:custDataLst>
            </p:nvPr>
          </p:nvSpPr>
          <p:spPr>
            <a:xfrm>
              <a:off x="67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4063" y="533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4104" y="5912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4714" y="5113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4882" y="6108"/>
              <a:ext cx="120" cy="1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5633" y="632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>
              <p:custDataLst>
                <p:tags r:id="rId8"/>
              </p:custDataLst>
            </p:nvPr>
          </p:nvSpPr>
          <p:spPr>
            <a:xfrm>
              <a:off x="6241" y="529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连接符 49"/>
            <p:cNvCxnSpPr/>
            <p:nvPr/>
          </p:nvCxnSpPr>
          <p:spPr>
            <a:xfrm>
              <a:off x="3686" y="2197"/>
              <a:ext cx="1089" cy="1484"/>
            </a:xfrm>
            <a:prstGeom prst="line">
              <a:avLst/>
            </a:prstGeom>
            <a:ln>
              <a:solidFill>
                <a:srgbClr val="D755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>
              <a:endCxn id="53" idx="0"/>
            </p:cNvCxnSpPr>
            <p:nvPr/>
          </p:nvCxnSpPr>
          <p:spPr>
            <a:xfrm flipH="1">
              <a:off x="2732" y="5546"/>
              <a:ext cx="1243" cy="2635"/>
            </a:xfrm>
            <a:prstGeom prst="line">
              <a:avLst/>
            </a:prstGeom>
            <a:ln>
              <a:solidFill>
                <a:srgbClr val="1F497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52" name="文本框 51"/>
            <p:cNvSpPr txBox="1"/>
            <p:nvPr/>
          </p:nvSpPr>
          <p:spPr>
            <a:xfrm>
              <a:off x="1249" y="1110"/>
              <a:ext cx="3302" cy="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D75543"/>
                  </a:solidFill>
                  <a:latin typeface="微软雅黑" panose="020B0503020204020204" charset="-122"/>
                  <a:ea typeface="微软雅黑" panose="020B0503020204020204" charset="-122"/>
                </a:rPr>
                <a:t>人类认知边界</a:t>
              </a: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1248" y="8181"/>
              <a:ext cx="2968" cy="8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认知边界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61"/>
          <p:cNvSpPr/>
          <p:nvPr/>
        </p:nvSpPr>
        <p:spPr>
          <a:xfrm>
            <a:off x="9651037" y="1115248"/>
            <a:ext cx="2014857" cy="461252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61"/>
          <p:cNvSpPr/>
          <p:nvPr/>
        </p:nvSpPr>
        <p:spPr>
          <a:xfrm>
            <a:off x="5912721" y="3778580"/>
            <a:ext cx="3586830" cy="1965729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矩形 61"/>
          <p:cNvSpPr/>
          <p:nvPr/>
        </p:nvSpPr>
        <p:spPr>
          <a:xfrm>
            <a:off x="3905762" y="3778580"/>
            <a:ext cx="1936976" cy="1965729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矩形 61"/>
          <p:cNvSpPr/>
          <p:nvPr/>
        </p:nvSpPr>
        <p:spPr>
          <a:xfrm>
            <a:off x="3905747" y="1115262"/>
            <a:ext cx="5593765" cy="2566481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矩形 61"/>
          <p:cNvSpPr/>
          <p:nvPr/>
        </p:nvSpPr>
        <p:spPr>
          <a:xfrm>
            <a:off x="335564" y="1113710"/>
            <a:ext cx="3378675" cy="4612522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 err="1">
                <a:latin typeface="Arial Black" panose="020B0A04020102020204" pitchFamily="34" charset="0"/>
                <a:sym typeface="+mn-ea"/>
              </a:rPr>
              <a:t>CoGnitive：面对未知临场表现的持续认知应变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16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3458" y="6038196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新动作、临场变化与主观判断无法穷尽，AI应结合专业证据与人类解释逐步修订</a:t>
            </a:r>
          </a:p>
        </p:txBody>
      </p:sp>
      <p:pic>
        <p:nvPicPr>
          <p:cNvPr id="130" name="图片 129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77104" y="1690959"/>
            <a:ext cx="3095593" cy="1830131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477104" y="3282117"/>
            <a:ext cx="1574388" cy="17145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临场失误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超常发挥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身体状态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音乐变化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裁判分歧</a:t>
            </a:r>
          </a:p>
          <a:p>
            <a:pPr marL="171450" indent="-171450">
              <a:lnSpc>
                <a:spcPct val="110000"/>
              </a:lnSpc>
              <a:buFont typeface="Wingdings" panose="05000000000000000000" charset="0"/>
              <a:buChar char="Ø"/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 userDrawn="1"/>
        </p:nvSpPr>
        <p:spPr>
          <a:xfrm>
            <a:off x="423287" y="4862197"/>
            <a:ext cx="3199130" cy="72707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sz="16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未知表现来自多因素耦合，不能靠固定样本和规则直接穷尽</a:t>
            </a:r>
          </a:p>
        </p:txBody>
      </p:sp>
      <p:pic>
        <p:nvPicPr>
          <p:cNvPr id="107" name="图片 10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916348" y="3634662"/>
            <a:ext cx="1543224" cy="1167347"/>
          </a:xfrm>
          <a:prstGeom prst="rect">
            <a:avLst/>
          </a:prstGeom>
        </p:spPr>
      </p:pic>
      <p:sp>
        <p:nvSpPr>
          <p:cNvPr id="13" name="圆角矩形 71"/>
          <p:cNvSpPr/>
          <p:nvPr/>
        </p:nvSpPr>
        <p:spPr>
          <a:xfrm>
            <a:off x="423313" y="1190216"/>
            <a:ext cx="3215005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 i="0" u="none" strike="noStrike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未知艺术情境</a:t>
            </a:r>
          </a:p>
        </p:txBody>
      </p:sp>
      <p:pic>
        <p:nvPicPr>
          <p:cNvPr id="14" name="图片 13" descr="post_object_image_313327510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945173" y="1157871"/>
            <a:ext cx="5474514" cy="2523907"/>
          </a:xfrm>
          <a:prstGeom prst="rect">
            <a:avLst/>
          </a:prstGeom>
        </p:spPr>
      </p:pic>
      <p:sp>
        <p:nvSpPr>
          <p:cNvPr id="15" name="圆角矩形 71"/>
          <p:cNvSpPr/>
          <p:nvPr/>
        </p:nvSpPr>
        <p:spPr>
          <a:xfrm>
            <a:off x="3979334" y="1157882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个体化适配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18" name="椭圆 17"/>
          <p:cNvSpPr/>
          <p:nvPr userDrawn="1"/>
        </p:nvSpPr>
        <p:spPr>
          <a:xfrm>
            <a:off x="10508923" y="185649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10151736" y="1445002"/>
            <a:ext cx="101346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有限案例</a:t>
            </a: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10231864" y="2631284"/>
            <a:ext cx="853204" cy="889832"/>
          </a:xfrm>
          <a:prstGeom prst="rect">
            <a:avLst/>
          </a:prstGeom>
        </p:spPr>
      </p:pic>
      <p:sp>
        <p:nvSpPr>
          <p:cNvPr id="23" name="文本框 22"/>
          <p:cNvSpPr txBox="1"/>
          <p:nvPr userDrawn="1"/>
        </p:nvSpPr>
        <p:spPr>
          <a:xfrm>
            <a:off x="9970095" y="3521116"/>
            <a:ext cx="1376742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持续学习的</a:t>
            </a:r>
          </a:p>
          <a:p>
            <a:pPr algn="ctr"/>
            <a:r>
              <a:rPr lang="zh-CN" altLang="en-US" sz="16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认知结构</a:t>
            </a:r>
            <a:endParaRPr lang="zh-CN" altLang="en-US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10199361" y="2156321"/>
            <a:ext cx="918210" cy="536275"/>
            <a:chOff x="16185" y="3410"/>
            <a:chExt cx="1446" cy="1246"/>
          </a:xfrm>
        </p:grpSpPr>
        <p:cxnSp>
          <p:nvCxnSpPr>
            <p:cNvPr id="24" name="直接箭头连接符 23"/>
            <p:cNvCxnSpPr/>
            <p:nvPr userDrawn="1"/>
          </p:nvCxnSpPr>
          <p:spPr>
            <a:xfrm>
              <a:off x="16185" y="3410"/>
              <a:ext cx="468" cy="1246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 userDrawn="1"/>
          </p:nvCxnSpPr>
          <p:spPr>
            <a:xfrm flipH="1">
              <a:off x="16906" y="3410"/>
              <a:ext cx="1" cy="122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/>
            <p:nvPr userDrawn="1"/>
          </p:nvCxnSpPr>
          <p:spPr>
            <a:xfrm flipH="1">
              <a:off x="17171" y="3410"/>
              <a:ext cx="461" cy="1225"/>
            </a:xfrm>
            <a:prstGeom prst="straightConnector1">
              <a:avLst/>
            </a:prstGeom>
            <a:ln w="19050">
              <a:solidFill>
                <a:schemeClr val="accent1">
                  <a:lumMod val="75000"/>
                  <a:alpha val="10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7" name="下箭头 26"/>
          <p:cNvSpPr/>
          <p:nvPr/>
        </p:nvSpPr>
        <p:spPr>
          <a:xfrm>
            <a:off x="10456611" y="4326377"/>
            <a:ext cx="403710" cy="319541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8" name="图片 27"/>
          <p:cNvPicPr/>
          <p:nvPr/>
        </p:nvPicPr>
        <p:blipFill rotWithShape="1">
          <a:blip r:embed="rId7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rcRect/>
          <a:stretch>
            <a:fillRect/>
          </a:stretch>
        </p:blipFill>
        <p:spPr>
          <a:xfrm>
            <a:off x="3945173" y="3778600"/>
            <a:ext cx="1965984" cy="1729156"/>
          </a:xfrm>
          <a:prstGeom prst="rect">
            <a:avLst/>
          </a:prstGeom>
          <a:ln>
            <a:noFill/>
          </a:ln>
        </p:spPr>
      </p:pic>
      <p:sp>
        <p:nvSpPr>
          <p:cNvPr id="29" name="圆角矩形 71"/>
          <p:cNvSpPr/>
          <p:nvPr/>
        </p:nvSpPr>
        <p:spPr>
          <a:xfrm>
            <a:off x="4526976" y="5303963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专项知识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pic>
        <p:nvPicPr>
          <p:cNvPr id="742" name="Picture 267" descr="pdfimg_35_0.png"/>
          <p:cNvPicPr>
            <a:picLocks noChangeAspect="1"/>
          </p:cNvPicPr>
          <p:nvPr/>
        </p:nvPicPr>
        <p:blipFill>
          <a:blip r:embed="rId8"/>
          <a:srcRect/>
          <a:stretch>
            <a:fillRect/>
          </a:stretch>
        </p:blipFill>
        <p:spPr>
          <a:xfrm>
            <a:off x="5912695" y="3846927"/>
            <a:ext cx="3586856" cy="1897396"/>
          </a:xfrm>
          <a:prstGeom prst="rect">
            <a:avLst/>
          </a:prstGeom>
        </p:spPr>
      </p:pic>
      <p:sp>
        <p:nvSpPr>
          <p:cNvPr id="30" name="圆角矩形 71"/>
          <p:cNvSpPr/>
          <p:nvPr/>
        </p:nvSpPr>
        <p:spPr>
          <a:xfrm>
            <a:off x="8103964" y="5303939"/>
            <a:ext cx="1315741" cy="422275"/>
          </a:xfrm>
          <a:prstGeom prst="roundRect">
            <a:avLst>
              <a:gd name="adj" fmla="val 0"/>
            </a:avLst>
          </a:prstGeom>
          <a:solidFill>
            <a:srgbClr val="486C9C">
              <a:alpha val="100000"/>
            </a:srgbClr>
          </a:solidFill>
          <a:ln w="12700">
            <a:solidFill>
              <a:srgbClr val="486C9C">
                <a:alpha val="100000"/>
              </a:srgb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algn="ctr" defTabSz="914400">
              <a:lnSpc>
                <a:spcPct val="120000"/>
              </a:lnSpc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000" b="1">
                <a:solidFill>
                  <a:schemeClr val="lt1">
                    <a:alpha val="10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cs"/>
              </a:rPr>
              <a:t>专家反馈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31" name="圆角矩形 30"/>
          <p:cNvSpPr/>
          <p:nvPr userDrawn="1"/>
        </p:nvSpPr>
        <p:spPr>
          <a:xfrm>
            <a:off x="9766291" y="4758035"/>
            <a:ext cx="1784350" cy="636905"/>
          </a:xfrm>
          <a:prstGeom prst="roundRect">
            <a:avLst/>
          </a:prstGeom>
          <a:solidFill>
            <a:schemeClr val="accent1">
              <a:lumMod val="20000"/>
              <a:lumOff val="80000"/>
              <a:alpha val="100000"/>
            </a:schemeClr>
          </a:solidFill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zh-CN" altLang="en-US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当前证据下的可解释建议</a:t>
            </a:r>
          </a:p>
        </p:txBody>
      </p:sp>
      <p:sp>
        <p:nvSpPr>
          <p:cNvPr id="8" name="椭圆 7"/>
          <p:cNvSpPr/>
          <p:nvPr userDrawn="1"/>
        </p:nvSpPr>
        <p:spPr>
          <a:xfrm>
            <a:off x="10011786" y="185647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0" name="椭圆 9"/>
          <p:cNvSpPr/>
          <p:nvPr userDrawn="1"/>
        </p:nvSpPr>
        <p:spPr>
          <a:xfrm>
            <a:off x="11006308" y="1856476"/>
            <a:ext cx="299085" cy="299720"/>
          </a:xfrm>
          <a:prstGeom prst="ellipse">
            <a:avLst/>
          </a:prstGeom>
          <a:ln w="25400" cmpd="sng">
            <a:noFill/>
            <a:prstDash val="solid"/>
            <a:miter lim="800000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086" y="1021688"/>
            <a:ext cx="3139158" cy="1775938"/>
          </a:xfrm>
          <a:prstGeom prst="rect">
            <a:avLst/>
          </a:prstGeom>
        </p:spPr>
      </p:pic>
      <p:pic>
        <p:nvPicPr>
          <p:cNvPr id="8" name="Image 1" descr="https://kimi-img.moonshot.cn/pub/slides/okc/hyu2rp3ts43d2/mnt/agents/output/icml_slide/images/figure1.png"/>
          <p:cNvPicPr>
            <a:picLocks noChangeAspect="1"/>
          </p:cNvPicPr>
          <p:nvPr/>
        </p:nvPicPr>
        <p:blipFill>
          <a:blip r:embed="rId4"/>
          <a:srcRect l="-11531" r="-11531"/>
          <a:stretch>
            <a:fillRect/>
          </a:stretch>
        </p:blipFill>
        <p:spPr>
          <a:xfrm>
            <a:off x="5119764" y="3958865"/>
            <a:ext cx="3810847" cy="2295691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062568" y="5651231"/>
            <a:ext cx="1600176" cy="742950"/>
          </a:xfrm>
          <a:prstGeom prst="rect">
            <a:avLst/>
          </a:prstGeom>
          <a:solidFill>
            <a:schemeClr val="bg1">
              <a:alpha val="100000"/>
            </a:schemeClr>
          </a:solidFill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ICML</a:t>
            </a: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'26</a:t>
            </a:r>
            <a:endParaRPr lang="en-US" sz="1600" b="1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轨迹锁定与谱分叉</a:t>
            </a:r>
            <a:endParaRPr lang="en-US" sz="1200" dirty="0">
              <a:solidFill>
                <a:srgbClr val="404040"/>
              </a:solidFill>
            </a:endParaRPr>
          </a:p>
        </p:txBody>
      </p:sp>
      <p:pic>
        <p:nvPicPr>
          <p:cNvPr id="21" name="图片 25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1966" y="4021995"/>
            <a:ext cx="3500051" cy="1411365"/>
          </a:xfrm>
          <a:prstGeom prst="rect">
            <a:avLst/>
          </a:prstGeom>
        </p:spPr>
      </p:pic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HongWU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思想源头：从认知计算到智能系统的自我演化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17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775" y="1507347"/>
            <a:ext cx="12191999" cy="2967391"/>
          </a:xfrm>
          <a:prstGeom prst="rect">
            <a:avLst/>
          </a:prstGeom>
        </p:spPr>
      </p:pic>
      <p:sp>
        <p:nvSpPr>
          <p:cNvPr id="6" name="椭圆 5"/>
          <p:cNvSpPr/>
          <p:nvPr/>
        </p:nvSpPr>
        <p:spPr>
          <a:xfrm>
            <a:off x="937459" y="4053908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3545" y="1691197"/>
            <a:ext cx="1454150" cy="2179320"/>
          </a:xfrm>
          <a:prstGeom prst="rect">
            <a:avLst/>
          </a:prstGeom>
        </p:spPr>
      </p:pic>
      <p:sp>
        <p:nvSpPr>
          <p:cNvPr id="11" name="椭圆 10"/>
          <p:cNvSpPr/>
          <p:nvPr/>
        </p:nvSpPr>
        <p:spPr>
          <a:xfrm>
            <a:off x="5258038" y="3772199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3" name="椭圆 12"/>
          <p:cNvSpPr/>
          <p:nvPr/>
        </p:nvSpPr>
        <p:spPr>
          <a:xfrm>
            <a:off x="3098261" y="3915995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6" name="椭圆 15"/>
          <p:cNvSpPr/>
          <p:nvPr/>
        </p:nvSpPr>
        <p:spPr>
          <a:xfrm>
            <a:off x="10710555" y="2431000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17" name="文本框 16"/>
          <p:cNvSpPr txBox="1"/>
          <p:nvPr/>
        </p:nvSpPr>
        <p:spPr>
          <a:xfrm>
            <a:off x="-782" y="4699952"/>
            <a:ext cx="2651760" cy="1476375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/>
              <a:t>2024</a:t>
            </a:r>
            <a:r>
              <a:rPr lang="zh-CN"/>
              <a:t>年，基于</a:t>
            </a:r>
          </a:p>
          <a:p>
            <a:pPr algn="ctr"/>
            <a:r>
              <a:rPr lang="zh-CN"/>
              <a:t>认知计算理论</a:t>
            </a:r>
          </a:p>
          <a:p>
            <a:pPr algn="ctr"/>
            <a:r>
              <a:rPr lang="zh-CN"/>
              <a:t>提出</a:t>
            </a:r>
            <a:r>
              <a:rPr lang="en-US" altLang="zh-CN" b="1">
                <a:solidFill>
                  <a:srgbClr val="FF0000"/>
                </a:solidFill>
                <a:latin typeface="Helvetica" charset="0"/>
                <a:cs typeface="Helvetica" charset="0"/>
              </a:rPr>
              <a:t>Natural Language Fine-Tuning</a:t>
            </a:r>
            <a:endParaRPr lang="zh-CN"/>
          </a:p>
          <a:p>
            <a:pPr algn="ctr"/>
            <a:r>
              <a:rPr lang="en-US" altLang="zh-CN" b="1">
                <a:solidFill>
                  <a:srgbClr val="C00000">
                    <a:alpha val="100000"/>
                  </a:srgbClr>
                </a:solidFill>
              </a:rPr>
              <a:t>（</a:t>
            </a:r>
            <a:r>
              <a:rPr lang="zh-CN" b="1">
                <a:solidFill>
                  <a:srgbClr val="C00000">
                    <a:alpha val="100000"/>
                  </a:srgbClr>
                </a:solidFill>
              </a:rPr>
              <a:t>自然语言微调</a:t>
            </a:r>
            <a:r>
              <a:rPr lang="en-US" altLang="zh-CN" b="1">
                <a:solidFill>
                  <a:srgbClr val="C00000">
                    <a:alpha val="100000"/>
                  </a:srgbClr>
                </a:solidFill>
              </a:rPr>
              <a:t>）</a:t>
            </a:r>
          </a:p>
        </p:txBody>
      </p:sp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10686" y="4474777"/>
            <a:ext cx="2651917" cy="2108682"/>
          </a:xfrm>
          <a:prstGeom prst="rect">
            <a:avLst/>
          </a:prstGeom>
        </p:spPr>
      </p:pic>
      <p:sp>
        <p:nvSpPr>
          <p:cNvPr id="20" name="文本框 19"/>
          <p:cNvSpPr txBox="1"/>
          <p:nvPr/>
        </p:nvSpPr>
        <p:spPr>
          <a:xfrm>
            <a:off x="8981996" y="3131906"/>
            <a:ext cx="3272051" cy="922020"/>
          </a:xfrm>
          <a:prstGeom prst="rect">
            <a:avLst/>
          </a:prstGeom>
          <a:solidFill>
            <a:schemeClr val="bg1">
              <a:alpha val="41000"/>
            </a:schemeClr>
          </a:solidFill>
          <a:ln w="12700">
            <a:prstDash val="solid"/>
          </a:ln>
        </p:spPr>
        <p:txBody>
          <a:bodyPr wrap="square">
            <a:noAutofit/>
          </a:bodyPr>
          <a:lstStyle/>
          <a:p>
            <a:pPr algn="ctr"/>
            <a:r>
              <a:rPr lang="en-US" dirty="0"/>
              <a:t>2025年起，将认知计算与大模型</a:t>
            </a:r>
            <a:endParaRPr dirty="0"/>
          </a:p>
          <a:p>
            <a:pPr algn="ctr"/>
            <a:r>
              <a:rPr lang="zh-CN" dirty="0"/>
              <a:t>研究拓展到复杂工程应用，</a:t>
            </a:r>
            <a:endParaRPr dirty="0"/>
          </a:p>
          <a:p>
            <a:pPr algn="ctr"/>
            <a:r>
              <a:rPr lang="zh-CN" dirty="0"/>
              <a:t>探索面向艺术表现的认知方法</a:t>
            </a:r>
            <a:endParaRPr dirty="0"/>
          </a:p>
        </p:txBody>
      </p:sp>
      <p:sp>
        <p:nvSpPr>
          <p:cNvPr id="22" name="椭圆 21"/>
          <p:cNvSpPr/>
          <p:nvPr/>
        </p:nvSpPr>
        <p:spPr>
          <a:xfrm>
            <a:off x="7098432" y="3540639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sp>
        <p:nvSpPr>
          <p:cNvPr id="24" name="文本框 23"/>
          <p:cNvSpPr txBox="1"/>
          <p:nvPr/>
        </p:nvSpPr>
        <p:spPr>
          <a:xfrm>
            <a:off x="120015" y="790132"/>
            <a:ext cx="2851150" cy="922020"/>
          </a:xfrm>
          <a:prstGeom prst="rect">
            <a:avLst/>
          </a:prstGeom>
          <a:ln w="12700">
            <a:prstDash val="solid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dirty="0"/>
              <a:t>2017</a:t>
            </a:r>
            <a:r>
              <a:rPr lang="zh-CN" altLang="en-US" dirty="0"/>
              <a:t>年</a:t>
            </a:r>
            <a:r>
              <a:rPr lang="zh-CN" b="1" dirty="0">
                <a:solidFill>
                  <a:srgbClr val="C00000">
                    <a:alpha val="100000"/>
                  </a:srgbClr>
                </a:solidFill>
              </a:rPr>
              <a:t>《认知计算导论》</a:t>
            </a:r>
          </a:p>
          <a:p>
            <a:pPr algn="ctr"/>
            <a:r>
              <a:rPr lang="zh-CN" altLang="en-US" dirty="0">
                <a:solidFill>
                  <a:schemeClr val="tx1">
                    <a:alpha val="100000"/>
                  </a:schemeClr>
                </a:solidFill>
              </a:rPr>
              <a:t>提出并系统讨论机器认知智能的研究基础</a:t>
            </a:r>
          </a:p>
        </p:txBody>
      </p:sp>
      <p:sp>
        <p:nvSpPr>
          <p:cNvPr id="3" name="Text 10"/>
          <p:cNvSpPr/>
          <p:nvPr/>
        </p:nvSpPr>
        <p:spPr>
          <a:xfrm>
            <a:off x="3711196" y="1100182"/>
            <a:ext cx="2475112" cy="6953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ACL'26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 </a:t>
            </a:r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GSD</a:t>
            </a:r>
            <a:endParaRPr lang="en-US" sz="1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>
              <a:lnSpc>
                <a:spcPct val="13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梯度内省 / 推理结构</a:t>
            </a:r>
            <a:endParaRPr lang="en-US" sz="12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4" name="图片 3" descr="post_object_image_217298923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10686" y="2239499"/>
            <a:ext cx="3923005" cy="1228206"/>
          </a:xfrm>
          <a:prstGeom prst="rect">
            <a:avLst/>
          </a:prstGeom>
        </p:spPr>
      </p:pic>
      <p:pic>
        <p:nvPicPr>
          <p:cNvPr id="10" name="图片 9" descr="post_object_image_28979827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64557" y="1721707"/>
            <a:ext cx="4733875" cy="517768"/>
          </a:xfrm>
          <a:prstGeom prst="rect">
            <a:avLst/>
          </a:prstGeom>
        </p:spPr>
      </p:pic>
      <p:pic>
        <p:nvPicPr>
          <p:cNvPr id="12" name="图片 11" descr="post_object_image_10119631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2458" y="6254556"/>
            <a:ext cx="3882670" cy="534506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7098432" y="2797627"/>
            <a:ext cx="1886943" cy="74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>
              <a:lnSpc>
                <a:spcPct val="130000"/>
              </a:lnSpc>
            </a:pPr>
            <a:r>
              <a:rPr lang="en-US" altLang="zh-CN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SIGKDD</a:t>
            </a:r>
            <a:r>
              <a:rPr lang="en-US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'26 </a:t>
            </a:r>
            <a:r>
              <a:rPr lang="en-US" altLang="zh-CN" sz="1600" b="1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Arial" panose="020B0604020202020204" pitchFamily="34" charset="0"/>
              </a:rPr>
              <a:t>PoNR</a:t>
            </a:r>
            <a:endParaRPr lang="en-US" sz="1600" b="1" dirty="0">
              <a:solidFill>
                <a:srgbClr val="404040"/>
              </a:solidFill>
              <a:cs typeface="Arial" panose="020B0604020202020204" pitchFamily="34" charset="0"/>
            </a:endParaRPr>
          </a:p>
          <a:p>
            <a:pPr>
              <a:lnSpc>
                <a:spcPct val="130000"/>
              </a:lnSpc>
            </a:pPr>
            <a:r>
              <a:rPr lang="zh-CN" altLang="en-US" sz="1500" dirty="0">
                <a:solidFill>
                  <a:srgbClr val="404040"/>
                </a:solidFill>
                <a:latin typeface="MiSans" pitchFamily="2" charset="-122"/>
                <a:ea typeface="MiSans" pitchFamily="2" charset="-122"/>
                <a:cs typeface="MiSans" pitchFamily="34" charset="-120"/>
              </a:rPr>
              <a:t>不可逆安全边界</a:t>
            </a:r>
          </a:p>
        </p:txBody>
      </p:sp>
      <p:sp>
        <p:nvSpPr>
          <p:cNvPr id="27" name="椭圆 26"/>
          <p:cNvSpPr/>
          <p:nvPr/>
        </p:nvSpPr>
        <p:spPr>
          <a:xfrm>
            <a:off x="8804118" y="3166293"/>
            <a:ext cx="343587" cy="329843"/>
          </a:xfrm>
          <a:prstGeom prst="ellipse">
            <a:avLst/>
          </a:prstGeom>
          <a:solidFill>
            <a:srgbClr val="FFC000">
              <a:alpha val="100000"/>
            </a:srgbClr>
          </a:solidFill>
          <a:ln w="0"/>
        </p:spPr>
        <p:txBody>
          <a:bodyPr anchor="ctr"/>
          <a:lstStyle/>
          <a:p>
            <a:pPr algn="ctr"/>
            <a:endParaRPr/>
          </a:p>
        </p:txBody>
      </p:sp>
      <p:cxnSp>
        <p:nvCxnSpPr>
          <p:cNvPr id="28" name="直接连接符 27"/>
          <p:cNvCxnSpPr>
            <a:stCxn id="6" idx="0"/>
          </p:cNvCxnSpPr>
          <p:nvPr userDrawn="1"/>
        </p:nvCxnSpPr>
        <p:spPr>
          <a:xfrm flipV="1">
            <a:off x="1109345" y="3627755"/>
            <a:ext cx="0" cy="42608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13" idx="4"/>
          </p:cNvCxnSpPr>
          <p:nvPr userDrawn="1"/>
        </p:nvCxnSpPr>
        <p:spPr>
          <a:xfrm>
            <a:off x="3270250" y="4245610"/>
            <a:ext cx="0" cy="27813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>
            <a:stCxn id="11" idx="0"/>
          </p:cNvCxnSpPr>
          <p:nvPr userDrawn="1"/>
        </p:nvCxnSpPr>
        <p:spPr>
          <a:xfrm flipV="1">
            <a:off x="5429885" y="3467735"/>
            <a:ext cx="0" cy="30416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>
            <a:stCxn id="22" idx="4"/>
          </p:cNvCxnSpPr>
          <p:nvPr userDrawn="1"/>
        </p:nvCxnSpPr>
        <p:spPr>
          <a:xfrm>
            <a:off x="7270750" y="3870325"/>
            <a:ext cx="0" cy="24320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>
            <a:stCxn id="27" idx="0"/>
          </p:cNvCxnSpPr>
          <p:nvPr userDrawn="1"/>
        </p:nvCxnSpPr>
        <p:spPr>
          <a:xfrm flipV="1">
            <a:off x="8976360" y="2887980"/>
            <a:ext cx="0" cy="27813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连接符 32"/>
          <p:cNvCxnSpPr>
            <a:stCxn id="16" idx="4"/>
          </p:cNvCxnSpPr>
          <p:nvPr userDrawn="1"/>
        </p:nvCxnSpPr>
        <p:spPr>
          <a:xfrm>
            <a:off x="10882630" y="2760345"/>
            <a:ext cx="0" cy="365125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latin typeface="Arial Black" panose="020B0A04020102020204" pitchFamily="34" charset="0"/>
                <a:sym typeface="+mn-ea"/>
              </a:rPr>
              <a:t>CoGnitive：按艺术任务复杂度调用不同认知能力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18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algn="ctr">
              <a:buNone/>
            </a:pPr>
            <a:r>
              <a:rPr lang="zh-CN" altLang="en-US" sz="20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按任务调用专业能力，由人类专家把关艺术判断与实际应用</a:t>
            </a:r>
          </a:p>
        </p:txBody>
      </p:sp>
      <p:sp>
        <p:nvSpPr>
          <p:cNvPr id="301" name="Text 301"/>
          <p:cNvSpPr txBox="1"/>
          <p:nvPr/>
        </p:nvSpPr>
        <p:spPr>
          <a:xfrm>
            <a:off x="622300" y="1168400"/>
            <a:ext cx="8128000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8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HongWU按任务需求组织语言、运动学、规则与专家交互能力</a:t>
            </a:r>
            <a:endParaRPr lang="zh-CN" altLang="en-US" sz="1800" b="1" dirty="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2" name="Card 302"/>
          <p:cNvSpPr/>
          <p:nvPr/>
        </p:nvSpPr>
        <p:spPr>
          <a:xfrm>
            <a:off x="622300" y="2286000"/>
            <a:ext cx="2603500" cy="309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3" name="Strip 303"/>
          <p:cNvSpPr/>
          <p:nvPr/>
        </p:nvSpPr>
        <p:spPr>
          <a:xfrm>
            <a:off x="622300" y="2286000"/>
            <a:ext cx="2603500" cy="635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4" name="Text 304"/>
          <p:cNvSpPr txBox="1"/>
          <p:nvPr/>
        </p:nvSpPr>
        <p:spPr>
          <a:xfrm>
            <a:off x="800100" y="24892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01 规则理解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5" name="Text 305"/>
          <p:cNvSpPr txBox="1"/>
          <p:nvPr/>
        </p:nvSpPr>
        <p:spPr>
          <a:xfrm>
            <a:off x="800100" y="29464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06" name="Bar 306"/>
          <p:cNvSpPr/>
          <p:nvPr/>
        </p:nvSpPr>
        <p:spPr>
          <a:xfrm>
            <a:off x="1257300" y="2997200"/>
            <a:ext cx="317500" cy="76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7" name="Bar 307"/>
          <p:cNvSpPr/>
          <p:nvPr/>
        </p:nvSpPr>
        <p:spPr>
          <a:xfrm>
            <a:off x="1625600" y="2997200"/>
            <a:ext cx="317500" cy="76200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8" name="Bar 308"/>
          <p:cNvSpPr/>
          <p:nvPr/>
        </p:nvSpPr>
        <p:spPr>
          <a:xfrm>
            <a:off x="19939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09" name="Bar 309"/>
          <p:cNvSpPr/>
          <p:nvPr/>
        </p:nvSpPr>
        <p:spPr>
          <a:xfrm>
            <a:off x="23622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0" name="Bar 310"/>
          <p:cNvSpPr/>
          <p:nvPr/>
        </p:nvSpPr>
        <p:spPr>
          <a:xfrm>
            <a:off x="2730500" y="2997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1" name="Text 311"/>
          <p:cNvSpPr txBox="1"/>
          <p:nvPr/>
        </p:nvSpPr>
        <p:spPr>
          <a:xfrm>
            <a:off x="800100" y="3251200"/>
            <a:ext cx="2247900" cy="838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“艺术体操中的旋转次数如何认定？”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HongWU：检索专项条款，解释判定条件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12" name="Line 312"/>
          <p:cNvCxnSpPr/>
          <p:nvPr/>
        </p:nvCxnSpPr>
        <p:spPr>
          <a:xfrm>
            <a:off x="80010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13" name="Text 313"/>
          <p:cNvSpPr txBox="1"/>
          <p:nvPr/>
        </p:nvSpPr>
        <p:spPr>
          <a:xfrm>
            <a:off x="80010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14" name="Text 314"/>
          <p:cNvSpPr txBox="1"/>
          <p:nvPr/>
        </p:nvSpPr>
        <p:spPr>
          <a:xfrm>
            <a:off x="80010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规则知识检索</a:t>
            </a:r>
          </a:p>
        </p:txBody>
      </p:sp>
      <p:sp>
        <p:nvSpPr>
          <p:cNvPr id="315" name="Text 315"/>
          <p:cNvSpPr txBox="1"/>
          <p:nvPr/>
        </p:nvSpPr>
        <p:spPr>
          <a:xfrm>
            <a:off x="800100" y="48006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术语解释与引用</a:t>
            </a:r>
          </a:p>
        </p:txBody>
      </p:sp>
      <p:sp>
        <p:nvSpPr>
          <p:cNvPr id="316" name="Card 316"/>
          <p:cNvSpPr/>
          <p:nvPr/>
        </p:nvSpPr>
        <p:spPr>
          <a:xfrm>
            <a:off x="3407410" y="1905000"/>
            <a:ext cx="2603500" cy="3479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7" name="Strip 317"/>
          <p:cNvSpPr/>
          <p:nvPr/>
        </p:nvSpPr>
        <p:spPr>
          <a:xfrm>
            <a:off x="3407410" y="1905000"/>
            <a:ext cx="2603500" cy="635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18" name="Text 318"/>
          <p:cNvSpPr txBox="1"/>
          <p:nvPr/>
        </p:nvSpPr>
        <p:spPr>
          <a:xfrm>
            <a:off x="3585210" y="21082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02 动作分析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9" name="Text 319"/>
          <p:cNvSpPr txBox="1"/>
          <p:nvPr/>
        </p:nvSpPr>
        <p:spPr>
          <a:xfrm>
            <a:off x="3585210" y="25654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20" name="Bar 320"/>
          <p:cNvSpPr/>
          <p:nvPr/>
        </p:nvSpPr>
        <p:spPr>
          <a:xfrm>
            <a:off x="40424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1" name="Bar 321"/>
          <p:cNvSpPr/>
          <p:nvPr/>
        </p:nvSpPr>
        <p:spPr>
          <a:xfrm>
            <a:off x="44107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2" name="Bar 322"/>
          <p:cNvSpPr/>
          <p:nvPr/>
        </p:nvSpPr>
        <p:spPr>
          <a:xfrm>
            <a:off x="47790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3" name="Bar 323"/>
          <p:cNvSpPr/>
          <p:nvPr/>
        </p:nvSpPr>
        <p:spPr>
          <a:xfrm>
            <a:off x="5147310" y="2616200"/>
            <a:ext cx="317500" cy="76200"/>
          </a:xfrm>
          <a:prstGeom prst="rect">
            <a:avLst/>
          </a:prstGeom>
          <a:solidFill>
            <a:srgbClr val="E08A8A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4" name="Bar 324"/>
          <p:cNvSpPr/>
          <p:nvPr/>
        </p:nvSpPr>
        <p:spPr>
          <a:xfrm>
            <a:off x="5515610" y="2616200"/>
            <a:ext cx="317500" cy="7620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25" name="Text 325"/>
          <p:cNvSpPr txBox="1"/>
          <p:nvPr/>
        </p:nvSpPr>
        <p:spPr>
          <a:xfrm>
            <a:off x="3585210" y="2870200"/>
            <a:ext cx="2247900" cy="1219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“这段动作的姿态和落地是否稳定？”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HongWU：调用姿态与运动学模型，提供测量证据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26" name="Line 326"/>
          <p:cNvCxnSpPr/>
          <p:nvPr/>
        </p:nvCxnSpPr>
        <p:spPr>
          <a:xfrm>
            <a:off x="358521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27" name="Text 327"/>
          <p:cNvSpPr txBox="1"/>
          <p:nvPr/>
        </p:nvSpPr>
        <p:spPr>
          <a:xfrm>
            <a:off x="358521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28" name="Text 328"/>
          <p:cNvSpPr txBox="1"/>
          <p:nvPr/>
        </p:nvSpPr>
        <p:spPr>
          <a:xfrm>
            <a:off x="358521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姿态与轨迹模型</a:t>
            </a:r>
          </a:p>
        </p:txBody>
      </p:sp>
      <p:sp>
        <p:nvSpPr>
          <p:cNvPr id="329" name="Text 329"/>
          <p:cNvSpPr txBox="1"/>
          <p:nvPr/>
        </p:nvSpPr>
        <p:spPr>
          <a:xfrm>
            <a:off x="358521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专项规则核验</a:t>
            </a:r>
          </a:p>
        </p:txBody>
      </p:sp>
      <p:sp>
        <p:nvSpPr>
          <p:cNvPr id="330" name="Text 330"/>
          <p:cNvSpPr txBox="1"/>
          <p:nvPr/>
        </p:nvSpPr>
        <p:spPr>
          <a:xfrm>
            <a:off x="358521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动作完成分析</a:t>
            </a:r>
          </a:p>
        </p:txBody>
      </p:sp>
      <p:sp>
        <p:nvSpPr>
          <p:cNvPr id="331" name="Card 331"/>
          <p:cNvSpPr/>
          <p:nvPr/>
        </p:nvSpPr>
        <p:spPr>
          <a:xfrm>
            <a:off x="6192520" y="1600200"/>
            <a:ext cx="2603500" cy="3784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2" name="Strip 332"/>
          <p:cNvSpPr/>
          <p:nvPr/>
        </p:nvSpPr>
        <p:spPr>
          <a:xfrm>
            <a:off x="6192520" y="1600200"/>
            <a:ext cx="2603500" cy="635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3" name="Text 333"/>
          <p:cNvSpPr txBox="1"/>
          <p:nvPr/>
        </p:nvSpPr>
        <p:spPr>
          <a:xfrm>
            <a:off x="6370320" y="18034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03 实时观测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Text 334"/>
          <p:cNvSpPr txBox="1"/>
          <p:nvPr/>
        </p:nvSpPr>
        <p:spPr>
          <a:xfrm>
            <a:off x="6370320" y="22606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35" name="Bar 335"/>
          <p:cNvSpPr/>
          <p:nvPr/>
        </p:nvSpPr>
        <p:spPr>
          <a:xfrm>
            <a:off x="68275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6" name="Bar 336"/>
          <p:cNvSpPr/>
          <p:nvPr/>
        </p:nvSpPr>
        <p:spPr>
          <a:xfrm>
            <a:off x="71958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7" name="Bar 337"/>
          <p:cNvSpPr/>
          <p:nvPr/>
        </p:nvSpPr>
        <p:spPr>
          <a:xfrm>
            <a:off x="75641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8" name="Bar 338"/>
          <p:cNvSpPr/>
          <p:nvPr/>
        </p:nvSpPr>
        <p:spPr>
          <a:xfrm>
            <a:off x="79324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39" name="Bar 339"/>
          <p:cNvSpPr/>
          <p:nvPr/>
        </p:nvSpPr>
        <p:spPr>
          <a:xfrm>
            <a:off x="8300720" y="2311400"/>
            <a:ext cx="317500" cy="76200"/>
          </a:xfrm>
          <a:prstGeom prst="rect">
            <a:avLst/>
          </a:prstGeom>
          <a:solidFill>
            <a:srgbClr val="D0454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0" name="Text 340"/>
          <p:cNvSpPr txBox="1"/>
          <p:nvPr/>
        </p:nvSpPr>
        <p:spPr>
          <a:xfrm>
            <a:off x="6370320" y="2565400"/>
            <a:ext cx="2247900" cy="152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“器械抛接与多人同步出现偏差，如何分析？”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HongWU：融合多视角时序观测，标出风险片段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41" name="Line 341"/>
          <p:cNvCxnSpPr/>
          <p:nvPr/>
        </p:nvCxnSpPr>
        <p:spPr>
          <a:xfrm>
            <a:off x="637032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42" name="Text 342"/>
          <p:cNvSpPr txBox="1"/>
          <p:nvPr/>
        </p:nvSpPr>
        <p:spPr>
          <a:xfrm>
            <a:off x="637032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43" name="Text 343"/>
          <p:cNvSpPr txBox="1"/>
          <p:nvPr/>
        </p:nvSpPr>
        <p:spPr>
          <a:xfrm>
            <a:off x="637032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多视角运动跟踪</a:t>
            </a:r>
          </a:p>
        </p:txBody>
      </p:sp>
      <p:sp>
        <p:nvSpPr>
          <p:cNvPr id="344" name="Text 344"/>
          <p:cNvSpPr txBox="1"/>
          <p:nvPr/>
        </p:nvSpPr>
        <p:spPr>
          <a:xfrm>
            <a:off x="637032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时序融合工具</a:t>
            </a:r>
          </a:p>
        </p:txBody>
      </p:sp>
      <p:sp>
        <p:nvSpPr>
          <p:cNvPr id="345" name="Text 345"/>
          <p:cNvSpPr txBox="1"/>
          <p:nvPr/>
        </p:nvSpPr>
        <p:spPr>
          <a:xfrm>
            <a:off x="637032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及时反馈与标注</a:t>
            </a:r>
          </a:p>
        </p:txBody>
      </p:sp>
      <p:sp>
        <p:nvSpPr>
          <p:cNvPr id="346" name="Card 346"/>
          <p:cNvSpPr/>
          <p:nvPr/>
        </p:nvSpPr>
        <p:spPr>
          <a:xfrm>
            <a:off x="8977630" y="1117600"/>
            <a:ext cx="2603500" cy="4267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7" name="Strip 347"/>
          <p:cNvSpPr/>
          <p:nvPr/>
        </p:nvSpPr>
        <p:spPr>
          <a:xfrm>
            <a:off x="8977630" y="1117600"/>
            <a:ext cx="2603500" cy="635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48" name="Text 348"/>
          <p:cNvSpPr txBox="1"/>
          <p:nvPr/>
        </p:nvSpPr>
        <p:spPr>
          <a:xfrm>
            <a:off x="9155430" y="1320800"/>
            <a:ext cx="2247900" cy="355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20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04 候选编排</a:t>
            </a:r>
            <a:endParaRPr lang="zh-CN" altLang="en-US" sz="1800" b="1" dirty="0">
              <a:solidFill>
                <a:srgbClr val="262626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9" name="Text 349"/>
          <p:cNvSpPr txBox="1"/>
          <p:nvPr/>
        </p:nvSpPr>
        <p:spPr>
          <a:xfrm>
            <a:off x="9155430" y="1778000"/>
            <a:ext cx="457200" cy="177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难度</a:t>
            </a:r>
          </a:p>
        </p:txBody>
      </p:sp>
      <p:sp>
        <p:nvSpPr>
          <p:cNvPr id="350" name="Bar 350"/>
          <p:cNvSpPr/>
          <p:nvPr/>
        </p:nvSpPr>
        <p:spPr>
          <a:xfrm>
            <a:off x="96126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1" name="Bar 351"/>
          <p:cNvSpPr/>
          <p:nvPr/>
        </p:nvSpPr>
        <p:spPr>
          <a:xfrm>
            <a:off x="99809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2" name="Bar 352"/>
          <p:cNvSpPr/>
          <p:nvPr/>
        </p:nvSpPr>
        <p:spPr>
          <a:xfrm>
            <a:off x="103492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3" name="Bar 353"/>
          <p:cNvSpPr/>
          <p:nvPr/>
        </p:nvSpPr>
        <p:spPr>
          <a:xfrm>
            <a:off x="107175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4" name="Bar 354"/>
          <p:cNvSpPr/>
          <p:nvPr/>
        </p:nvSpPr>
        <p:spPr>
          <a:xfrm>
            <a:off x="11085830" y="1828800"/>
            <a:ext cx="317500" cy="7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55" name="Text 355"/>
          <p:cNvSpPr txBox="1"/>
          <p:nvPr/>
        </p:nvSpPr>
        <p:spPr>
          <a:xfrm>
            <a:off x="9155430" y="2082800"/>
            <a:ext cx="2247900" cy="2006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i="0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“如何提升音乐高潮段的整体艺术表现？”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altLang="en-US" sz="1200" b="1" i="0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HongWU：提出多种候选，供教练试排与修改</a:t>
            </a:r>
            <a:endParaRPr lang="zh-CN" altLang="en-US" sz="1200" b="0" i="0" dirty="0">
              <a:solidFill>
                <a:srgbClr val="7F7F7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56" name="Line 356"/>
          <p:cNvCxnSpPr/>
          <p:nvPr/>
        </p:nvCxnSpPr>
        <p:spPr>
          <a:xfrm>
            <a:off x="9155430" y="4165600"/>
            <a:ext cx="2247900" cy="0"/>
          </a:xfrm>
          <a:prstGeom prst="line">
            <a:avLst/>
          </a:prstGeom>
          <a:ln w="9525">
            <a:solidFill>
              <a:srgbClr val="D0D0D0"/>
            </a:solidFill>
          </a:ln>
        </p:spPr>
      </p:cxnSp>
      <p:sp>
        <p:nvSpPr>
          <p:cNvPr id="357" name="Text 357"/>
          <p:cNvSpPr txBox="1"/>
          <p:nvPr/>
        </p:nvSpPr>
        <p:spPr>
          <a:xfrm>
            <a:off x="9155430" y="42672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调用能力</a:t>
            </a:r>
          </a:p>
        </p:txBody>
      </p:sp>
      <p:sp>
        <p:nvSpPr>
          <p:cNvPr id="358" name="Text 358"/>
          <p:cNvSpPr txBox="1"/>
          <p:nvPr/>
        </p:nvSpPr>
        <p:spPr>
          <a:xfrm>
            <a:off x="9155430" y="4521200"/>
            <a:ext cx="224790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候选搜索与比较</a:t>
            </a:r>
          </a:p>
        </p:txBody>
      </p:sp>
      <p:sp>
        <p:nvSpPr>
          <p:cNvPr id="359" name="Text 359"/>
          <p:cNvSpPr txBox="1"/>
          <p:nvPr/>
        </p:nvSpPr>
        <p:spPr>
          <a:xfrm>
            <a:off x="9155430" y="4800600"/>
            <a:ext cx="224790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1" dirty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</a:rPr>
              <a:t>+ 教练评价反馈</a:t>
            </a:r>
          </a:p>
        </p:txBody>
      </p:sp>
      <p:sp>
        <p:nvSpPr>
          <p:cNvPr id="360" name="Text 360"/>
          <p:cNvSpPr txBox="1"/>
          <p:nvPr/>
        </p:nvSpPr>
        <p:spPr>
          <a:xfrm>
            <a:off x="9155430" y="5080000"/>
            <a:ext cx="22479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400" b="0" dirty="0">
                <a:solidFill>
                  <a:srgbClr val="595959"/>
                </a:solidFill>
                <a:latin typeface="微软雅黑" panose="020B0503020204020204" charset="-122"/>
                <a:ea typeface="微软雅黑" panose="020B0503020204020204" charset="-122"/>
              </a:rPr>
              <a:t>人机协同修改</a:t>
            </a:r>
          </a:p>
        </p:txBody>
      </p:sp>
      <p:cxnSp>
        <p:nvCxnSpPr>
          <p:cNvPr id="361" name="Line 361"/>
          <p:cNvCxnSpPr/>
          <p:nvPr/>
        </p:nvCxnSpPr>
        <p:spPr>
          <a:xfrm>
            <a:off x="622300" y="5702300"/>
            <a:ext cx="10958830" cy="0"/>
          </a:xfrm>
          <a:prstGeom prst="line">
            <a:avLst/>
          </a:prstGeom>
          <a:ln w="15875">
            <a:solidFill>
              <a:srgbClr val="A6A6A6"/>
            </a:solidFill>
            <a:tailEnd type="triangle" w="med" len="med"/>
          </a:ln>
        </p:spPr>
      </p:cxnSp>
      <p:sp>
        <p:nvSpPr>
          <p:cNvPr id="362" name="Text 362"/>
          <p:cNvSpPr txBox="1"/>
          <p:nvPr/>
        </p:nvSpPr>
        <p:spPr>
          <a:xfrm>
            <a:off x="5080000" y="5600700"/>
            <a:ext cx="2032000" cy="203200"/>
          </a:xfrm>
          <a:prstGeom prst="rect">
            <a:avLst/>
          </a:prstGeom>
          <a:solidFill>
            <a:srgbClr val="FFFFFF"/>
          </a:solidFill>
        </p:spPr>
        <p:txBody>
          <a:bodyPr wrap="square" lIns="50800" tIns="0" rIns="5080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1200" b="0" dirty="0">
                <a:solidFill>
                  <a:srgbClr val="7F7F7F"/>
                </a:solidFill>
                <a:latin typeface="微软雅黑" panose="020B0503020204020204" charset="-122"/>
                <a:ea typeface="微软雅黑" panose="020B0503020204020204" charset="-122"/>
              </a:rPr>
              <a:t>任务复杂度 · 认知深度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1016000" y="254000"/>
            <a:ext cx="10795000" cy="609600"/>
          </a:xfrm>
          <a:prstGeom prst="rect">
            <a:avLst/>
          </a:prstGeom>
          <a:noFill/>
        </p:spPr>
        <p:txBody>
          <a:bodyPr wrap="square" lIns="91440" tIns="0" rIns="91440" bIns="0" rtlCol="0" anchor="ctr" anchorCtr="0">
            <a:no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NLFT自然语言微调：从专业语言反馈到认知学习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50" y="874395"/>
            <a:ext cx="5991225" cy="589089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256878" y="944944"/>
            <a:ext cx="54832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专业领域的细粒度评价常常难以写成统一、完备的数值奖励。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256878" y="185739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NLFT利用自然语言反馈提供较具体的学习信号，帮助模型理解专家解释和任务约束。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6256878" y="2858419"/>
            <a:ext cx="6096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应用于艺术表现时，语言可表达评分理由和修改建议，但不能代替实际表演及裁判判断。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255042" y="3886792"/>
            <a:ext cx="609783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专家反馈与持续校准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323330" y="4959985"/>
            <a:ext cx="5482590" cy="1660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NLFT</a:t>
            </a:r>
            <a:r>
              <a:rPr lang="zh-CN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理论推导：</a:t>
            </a:r>
          </a:p>
          <a:p>
            <a:r>
              <a:rPr lang="en-US" altLang="zh-CN" b="1" dirty="0">
                <a:latin typeface="Arial" panose="020B0604020202020204" pitchFamily="34" charset="0"/>
                <a:cs typeface="Arial" panose="020B0604020202020204" pitchFamily="34" charset="0"/>
              </a:rPr>
              <a:t>J. Liu, et al.,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Min Chen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(*)</a:t>
            </a:r>
            <a:r>
              <a:rPr lang="zh-CN" altLang="en-US" dirty="0">
                <a:latin typeface="Arial" panose="020B0604020202020204" pitchFamily="34" charset="0"/>
                <a:cs typeface="Arial" panose="020B0604020202020204" pitchFamily="34" charset="0"/>
              </a:rPr>
              <a:t>. Revealing Procedural Reasoning Structures in Chain-of-Thought Training via Span-Level Gradient Organization[C]. </a:t>
            </a: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ACL 2026 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主会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，ICML 2026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主会</a:t>
            </a:r>
          </a:p>
        </p:txBody>
      </p:sp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19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内省演化：从模型反馈到艺术认知的持续校准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20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318" y="1195220"/>
            <a:ext cx="10577159" cy="32071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818515" y="4674235"/>
            <a:ext cx="10704195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艺术表现中的美感、情绪与个体体验不能从传感器中直接读出。模型需要比较自身解释与教练、裁判的反馈，逐步修订对动作、音乐和表达的理解。</a:t>
            </a:r>
          </a:p>
        </p:txBody>
      </p:sp>
      <p:sp>
        <p:nvSpPr>
          <p:cNvPr id="25" name="矩形 24"/>
          <p:cNvSpPr/>
          <p:nvPr/>
        </p:nvSpPr>
        <p:spPr>
          <a:xfrm>
            <a:off x="723823" y="1959495"/>
            <a:ext cx="5283777" cy="2519796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818515" y="5873115"/>
            <a:ext cx="107041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4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研究方向：以专家评分理由、运动员实践和模型解释的多轮对照，推动个体化艺术认知持续完善。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818515" y="858520"/>
            <a:ext cx="211074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NLFT</a:t>
            </a:r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的背后逻辑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从固定评分走向开放演化：艺术认知的核心转向</a:t>
            </a: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21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p25-surface-4"/>
          <p:cNvSpPr>
            <a:spLocks noGrp="1"/>
          </p:cNvSpPr>
          <p:nvPr/>
        </p:nvSpPr>
        <p:spPr>
          <a:xfrm>
            <a:off x="457200" y="912495"/>
            <a:ext cx="10734675" cy="680085"/>
          </a:xfrm>
          <a:prstGeom prst="rect">
            <a:avLst/>
          </a:prstGeom>
          <a:solidFill>
            <a:srgbClr val="FFF2CB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p25-surface-12"/>
          <p:cNvSpPr>
            <a:spLocks noGrp="1"/>
          </p:cNvSpPr>
          <p:nvPr/>
        </p:nvSpPr>
        <p:spPr>
          <a:xfrm>
            <a:off x="6972300" y="1798320"/>
            <a:ext cx="4762500" cy="49530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p25-surface-13"/>
          <p:cNvSpPr>
            <a:spLocks noGrp="1"/>
          </p:cNvSpPr>
          <p:nvPr/>
        </p:nvSpPr>
        <p:spPr>
          <a:xfrm>
            <a:off x="6972300" y="2339340"/>
            <a:ext cx="4762500" cy="28803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p25-surface-14"/>
          <p:cNvSpPr>
            <a:spLocks noGrp="1"/>
          </p:cNvSpPr>
          <p:nvPr/>
        </p:nvSpPr>
        <p:spPr>
          <a:xfrm>
            <a:off x="6972300" y="5265420"/>
            <a:ext cx="4762500" cy="70104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p25-surface-15"/>
          <p:cNvSpPr>
            <a:spLocks noGrp="1"/>
          </p:cNvSpPr>
          <p:nvPr/>
        </p:nvSpPr>
        <p:spPr>
          <a:xfrm>
            <a:off x="457200" y="5364449"/>
            <a:ext cx="6347460" cy="602011"/>
          </a:xfrm>
          <a:prstGeom prst="rect">
            <a:avLst/>
          </a:prstGeom>
          <a:solidFill>
            <a:srgbClr val="FFF0CE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3" name="p25-text-1"/>
          <p:cNvSpPr>
            <a:spLocks noGrp="1"/>
          </p:cNvSpPr>
          <p:nvPr/>
        </p:nvSpPr>
        <p:spPr>
          <a:xfrm>
            <a:off x="720852" y="1014698"/>
            <a:ext cx="5471160" cy="320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92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HongWU不仅识别动作完成，还通过专家反馈、个体适配和真实试排持续修订艺术评价</a:t>
            </a:r>
            <a:endParaRPr lang="zh-CN" altLang="en-US" sz="192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20" b="1" i="0">
                <a:solidFill>
                  <a:srgbClr val="00488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92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p25-text-14"/>
          <p:cNvSpPr>
            <a:spLocks noGrp="1"/>
          </p:cNvSpPr>
          <p:nvPr/>
        </p:nvSpPr>
        <p:spPr>
          <a:xfrm>
            <a:off x="7917180" y="1891308"/>
            <a:ext cx="297942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4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认知边界，在持续交互中扩展</a:t>
            </a:r>
          </a:p>
        </p:txBody>
      </p:sp>
      <p:sp>
        <p:nvSpPr>
          <p:cNvPr id="38" name="p25-text-16"/>
          <p:cNvSpPr>
            <a:spLocks noGrp="1"/>
          </p:cNvSpPr>
          <p:nvPr/>
        </p:nvSpPr>
        <p:spPr>
          <a:xfrm>
            <a:off x="7071360" y="5364480"/>
            <a:ext cx="4261627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在协商与试排中，持续扩展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可解释的艺术理解</a:t>
            </a:r>
          </a:p>
        </p:txBody>
      </p:sp>
      <p:sp>
        <p:nvSpPr>
          <p:cNvPr id="40" name="p25-text-18"/>
          <p:cNvSpPr>
            <a:spLocks noGrp="1"/>
          </p:cNvSpPr>
          <p:nvPr/>
        </p:nvSpPr>
        <p:spPr>
          <a:xfrm>
            <a:off x="495300" y="5440680"/>
            <a:ext cx="4453051" cy="47739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分层运动刻画支撑测量，</a:t>
            </a:r>
            <a:endParaRPr sz="160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00" b="1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大模型和专家反馈支持认知演化</a:t>
            </a:r>
            <a:endParaRPr sz="160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7380799" y="2247893"/>
            <a:ext cx="3882266" cy="2806163"/>
            <a:chOff x="1050" y="1110"/>
            <a:chExt cx="12796" cy="7927"/>
          </a:xfrm>
        </p:grpSpPr>
        <p:sp>
          <p:nvSpPr>
            <p:cNvPr id="19" name="椭圆 18"/>
            <p:cNvSpPr/>
            <p:nvPr/>
          </p:nvSpPr>
          <p:spPr>
            <a:xfrm>
              <a:off x="2130" y="2331"/>
              <a:ext cx="11716" cy="6706"/>
            </a:xfrm>
            <a:prstGeom prst="ellipse">
              <a:avLst/>
            </a:prstGeom>
            <a:solidFill>
              <a:schemeClr val="bg1"/>
            </a:solidFill>
            <a:ln cmpd="sng">
              <a:solidFill>
                <a:schemeClr val="tx1">
                  <a:lumMod val="50000"/>
                  <a:lumOff val="50000"/>
                  <a:alpha val="100000"/>
                </a:schemeClr>
              </a:solidFill>
              <a:prstDash val="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2603" y="2625"/>
              <a:ext cx="8527" cy="5083"/>
            </a:xfrm>
            <a:prstGeom prst="ellipse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D75543"/>
              </a:solidFill>
              <a:prstDash val="lg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 rot="20760000">
              <a:off x="3900" y="2933"/>
              <a:ext cx="3963" cy="2428"/>
            </a:xfrm>
            <a:prstGeom prst="ellipse">
              <a:avLst/>
            </a:prstGeom>
            <a:solidFill>
              <a:schemeClr val="bg1">
                <a:alpha val="68000"/>
              </a:schemeClr>
            </a:solidFill>
            <a:ln>
              <a:solidFill>
                <a:srgbClr val="D75543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 rot="300000">
              <a:off x="3614" y="3977"/>
              <a:ext cx="3621" cy="2665"/>
            </a:xfrm>
            <a:prstGeom prst="ellipse">
              <a:avLst/>
            </a:prstGeom>
            <a:solidFill>
              <a:schemeClr val="bg1">
                <a:alpha val="76000"/>
              </a:schemeClr>
            </a:solidFill>
            <a:ln>
              <a:solidFill>
                <a:schemeClr val="tx2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/>
            <p:cNvSpPr txBox="1"/>
            <p:nvPr>
              <p:custDataLst>
                <p:tags r:id="rId1"/>
              </p:custDataLst>
            </p:nvPr>
          </p:nvSpPr>
          <p:spPr>
            <a:xfrm>
              <a:off x="5636" y="7841"/>
              <a:ext cx="6144" cy="1102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Arial" panose="020B0604020202020204" pitchFamily="34" charset="0"/>
                </a:rPr>
                <a:t>未充分认知的区域</a:t>
              </a:r>
              <a:endParaRPr lang="zh-CN" altLang="en-US" sz="160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2"/>
              </p:custDataLst>
            </p:nvPr>
          </p:nvSpPr>
          <p:spPr>
            <a:xfrm>
              <a:off x="6658" y="4328"/>
              <a:ext cx="5122" cy="17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认知新方向 </a:t>
              </a:r>
            </a:p>
            <a:p>
              <a:pPr algn="ctr"/>
              <a:r>
                <a:rPr lang="zh-CN" altLang="en-US" sz="16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（创造智能）</a:t>
              </a:r>
            </a:p>
          </p:txBody>
        </p:sp>
        <p:sp>
          <p:nvSpPr>
            <p:cNvPr id="49" name="五角星 48"/>
            <p:cNvSpPr/>
            <p:nvPr>
              <p:custDataLst>
                <p:tags r:id="rId3"/>
              </p:custDataLst>
            </p:nvPr>
          </p:nvSpPr>
          <p:spPr>
            <a:xfrm>
              <a:off x="8775" y="5727"/>
              <a:ext cx="1296" cy="1071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五角星 49"/>
            <p:cNvSpPr/>
            <p:nvPr/>
          </p:nvSpPr>
          <p:spPr>
            <a:xfrm>
              <a:off x="8279" y="3792"/>
              <a:ext cx="746" cy="583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五角星 50"/>
            <p:cNvSpPr/>
            <p:nvPr>
              <p:custDataLst>
                <p:tags r:id="rId4"/>
              </p:custDataLst>
            </p:nvPr>
          </p:nvSpPr>
          <p:spPr>
            <a:xfrm>
              <a:off x="8092" y="6314"/>
              <a:ext cx="400" cy="355"/>
            </a:xfrm>
            <a:prstGeom prst="star5">
              <a:avLst/>
            </a:prstGeom>
            <a:solidFill>
              <a:srgbClr val="00883D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5317" y="3451"/>
              <a:ext cx="420" cy="4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6241" y="3792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6517" y="3081"/>
              <a:ext cx="276" cy="276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5857" y="3146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4882" y="3451"/>
              <a:ext cx="211" cy="211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4552" y="4280"/>
              <a:ext cx="162" cy="16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5342" y="4484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>
              <p:custDataLst>
                <p:tags r:id="rId5"/>
              </p:custDataLst>
            </p:nvPr>
          </p:nvSpPr>
          <p:spPr>
            <a:xfrm>
              <a:off x="6068" y="4370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6924" y="3682"/>
              <a:ext cx="142" cy="142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7397" y="3331"/>
              <a:ext cx="120" cy="120"/>
            </a:xfrm>
            <a:prstGeom prst="ellipse">
              <a:avLst/>
            </a:prstGeom>
            <a:solidFill>
              <a:srgbClr val="FFA5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5273" y="5335"/>
              <a:ext cx="420" cy="4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>
              <p:custDataLst>
                <p:tags r:id="rId6"/>
              </p:custDataLst>
            </p:nvPr>
          </p:nvSpPr>
          <p:spPr>
            <a:xfrm>
              <a:off x="58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>
              <p:custDataLst>
                <p:tags r:id="rId7"/>
              </p:custDataLst>
            </p:nvPr>
          </p:nvSpPr>
          <p:spPr>
            <a:xfrm>
              <a:off x="6793" y="580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4063" y="5335"/>
              <a:ext cx="145" cy="145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4104" y="5912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4714" y="5113"/>
              <a:ext cx="204" cy="22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4882" y="6108"/>
              <a:ext cx="120" cy="120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5633" y="632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>
              <p:custDataLst>
                <p:tags r:id="rId8"/>
              </p:custDataLst>
            </p:nvPr>
          </p:nvSpPr>
          <p:spPr>
            <a:xfrm>
              <a:off x="6241" y="5290"/>
              <a:ext cx="158" cy="158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1" name="直接连接符 70"/>
            <p:cNvCxnSpPr/>
            <p:nvPr/>
          </p:nvCxnSpPr>
          <p:spPr>
            <a:xfrm>
              <a:off x="3686" y="2197"/>
              <a:ext cx="1089" cy="1484"/>
            </a:xfrm>
            <a:prstGeom prst="line">
              <a:avLst/>
            </a:prstGeom>
            <a:ln>
              <a:solidFill>
                <a:srgbClr val="D75543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2" name="直接连接符 71"/>
            <p:cNvCxnSpPr>
              <a:endCxn id="74" idx="0"/>
            </p:cNvCxnSpPr>
            <p:nvPr/>
          </p:nvCxnSpPr>
          <p:spPr>
            <a:xfrm flipH="1">
              <a:off x="2534" y="5951"/>
              <a:ext cx="1959" cy="1555"/>
            </a:xfrm>
            <a:prstGeom prst="line">
              <a:avLst/>
            </a:prstGeom>
            <a:ln>
              <a:solidFill>
                <a:srgbClr val="1F497D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73" name="文本框 72"/>
            <p:cNvSpPr txBox="1"/>
            <p:nvPr/>
          </p:nvSpPr>
          <p:spPr>
            <a:xfrm>
              <a:off x="1249" y="1110"/>
              <a:ext cx="3302" cy="16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D75543"/>
                  </a:solidFill>
                  <a:latin typeface="微软雅黑" panose="020B0503020204020204" charset="-122"/>
                  <a:ea typeface="微软雅黑" panose="020B0503020204020204" charset="-122"/>
                </a:rPr>
                <a:t>人类认知边界</a:t>
              </a:r>
            </a:p>
          </p:txBody>
        </p:sp>
        <p:sp>
          <p:nvSpPr>
            <p:cNvPr id="74" name="文本框 73"/>
            <p:cNvSpPr txBox="1"/>
            <p:nvPr/>
          </p:nvSpPr>
          <p:spPr>
            <a:xfrm>
              <a:off x="1050" y="7506"/>
              <a:ext cx="2968" cy="85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AI</a:t>
              </a:r>
              <a:r>
                <a:rPr lang="zh-CN" altLang="en-US" sz="1600" dirty="0">
                  <a:solidFill>
                    <a:srgbClr val="1F497D"/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认知边界</a:t>
              </a:r>
            </a:p>
          </p:txBody>
        </p:sp>
      </p:grpSp>
      <p:sp>
        <p:nvSpPr>
          <p:cNvPr id="3" name="矩形 2"/>
          <p:cNvSpPr/>
          <p:nvPr/>
        </p:nvSpPr>
        <p:spPr>
          <a:xfrm>
            <a:off x="465648" y="1774210"/>
            <a:ext cx="6338979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 userDrawn="1"/>
        </p:nvSpPr>
        <p:spPr>
          <a:xfrm>
            <a:off x="510539" y="1855141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固定模型判断</a:t>
            </a: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720812" y="2235038"/>
            <a:ext cx="5324861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按个人项目、器械和动作任务组织不同专业能力</a:t>
            </a:r>
          </a:p>
        </p:txBody>
      </p:sp>
      <p:sp>
        <p:nvSpPr>
          <p:cNvPr id="37" name="下箭头1"/>
          <p:cNvSpPr/>
          <p:nvPr/>
        </p:nvSpPr>
        <p:spPr>
          <a:xfrm rot="16200000">
            <a:off x="2620392" y="1867877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39" name="文本框 38"/>
          <p:cNvSpPr txBox="1"/>
          <p:nvPr userDrawn="1"/>
        </p:nvSpPr>
        <p:spPr>
          <a:xfrm>
            <a:off x="3091499" y="1855177"/>
            <a:ext cx="3244589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按需组合运动与规则模型</a:t>
            </a:r>
          </a:p>
        </p:txBody>
      </p:sp>
      <p:sp>
        <p:nvSpPr>
          <p:cNvPr id="41" name="矩形 40"/>
          <p:cNvSpPr/>
          <p:nvPr/>
        </p:nvSpPr>
        <p:spPr>
          <a:xfrm>
            <a:off x="465605" y="2923563"/>
            <a:ext cx="6347451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 userDrawn="1"/>
        </p:nvSpPr>
        <p:spPr>
          <a:xfrm>
            <a:off x="510496" y="3004494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预设单一评分</a:t>
            </a:r>
          </a:p>
        </p:txBody>
      </p:sp>
      <p:sp>
        <p:nvSpPr>
          <p:cNvPr id="43" name="文本框 42"/>
          <p:cNvSpPr txBox="1"/>
          <p:nvPr userDrawn="1"/>
        </p:nvSpPr>
        <p:spPr>
          <a:xfrm>
            <a:off x="720769" y="3384391"/>
            <a:ext cx="5993983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教练与裁判评价参与过程，允许说明分歧和调整判断依据</a:t>
            </a:r>
          </a:p>
        </p:txBody>
      </p:sp>
      <p:sp>
        <p:nvSpPr>
          <p:cNvPr id="46" name="下箭头1"/>
          <p:cNvSpPr/>
          <p:nvPr/>
        </p:nvSpPr>
        <p:spPr>
          <a:xfrm rot="16200000">
            <a:off x="2620349" y="3017230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48" name="文本框 47"/>
          <p:cNvSpPr txBox="1"/>
          <p:nvPr userDrawn="1"/>
        </p:nvSpPr>
        <p:spPr>
          <a:xfrm>
            <a:off x="2923741" y="3004466"/>
            <a:ext cx="388931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专家可修订的艺术评价</a:t>
            </a:r>
          </a:p>
        </p:txBody>
      </p:sp>
      <p:sp>
        <p:nvSpPr>
          <p:cNvPr id="75" name="矩形 74"/>
          <p:cNvSpPr/>
          <p:nvPr/>
        </p:nvSpPr>
        <p:spPr>
          <a:xfrm>
            <a:off x="465605" y="4148211"/>
            <a:ext cx="6347451" cy="986371"/>
          </a:xfrm>
          <a:prstGeom prst="rect">
            <a:avLst/>
          </a:prstGeom>
          <a:solidFill>
            <a:schemeClr val="tx2">
              <a:lumMod val="20000"/>
              <a:lumOff val="80000"/>
              <a:alpha val="10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文本框 75"/>
          <p:cNvSpPr txBox="1"/>
          <p:nvPr userDrawn="1"/>
        </p:nvSpPr>
        <p:spPr>
          <a:xfrm>
            <a:off x="510496" y="4229142"/>
            <a:ext cx="1947958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一次性评估</a:t>
            </a:r>
          </a:p>
        </p:txBody>
      </p:sp>
      <p:sp>
        <p:nvSpPr>
          <p:cNvPr id="77" name="文本框 76"/>
          <p:cNvSpPr txBox="1"/>
          <p:nvPr userDrawn="1"/>
        </p:nvSpPr>
        <p:spPr>
          <a:xfrm>
            <a:off x="510532" y="4609039"/>
            <a:ext cx="6383633" cy="39763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训练、比赛与专家反馈积累，持续修订个体模型和认知边界</a:t>
            </a:r>
          </a:p>
        </p:txBody>
      </p:sp>
      <p:sp>
        <p:nvSpPr>
          <p:cNvPr id="78" name="下箭头1"/>
          <p:cNvSpPr/>
          <p:nvPr/>
        </p:nvSpPr>
        <p:spPr>
          <a:xfrm rot="16200000">
            <a:off x="2620349" y="4241878"/>
            <a:ext cx="406400" cy="381000"/>
          </a:xfrm>
          <a:prstGeom prst="downArrow">
            <a:avLst/>
          </a:prstGeom>
          <a:gradFill rotWithShape="1">
            <a:gsLst>
              <a:gs pos="0">
                <a:srgbClr val="486C9C">
                  <a:lumMod val="40000"/>
                  <a:lumOff val="60000"/>
                </a:srgbClr>
              </a:gs>
              <a:gs pos="100000">
                <a:srgbClr val="486C9C"/>
              </a:gs>
            </a:gsLst>
            <a:lin ang="5400000" scaled="0"/>
          </a:gradFill>
          <a:ln>
            <a:noFill/>
          </a:ln>
        </p:spPr>
        <p:txBody>
          <a:bodyPr/>
          <a:lstStyle/>
          <a:p>
            <a:endParaRPr lang="zh-CN"/>
          </a:p>
        </p:txBody>
      </p:sp>
      <p:sp>
        <p:nvSpPr>
          <p:cNvPr id="79" name="文本框 78"/>
          <p:cNvSpPr txBox="1"/>
          <p:nvPr userDrawn="1"/>
        </p:nvSpPr>
        <p:spPr>
          <a:xfrm>
            <a:off x="2923741" y="4229114"/>
            <a:ext cx="3889315" cy="369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个体化反馈驱动持续学习</a:t>
            </a:r>
          </a:p>
        </p:txBody>
      </p:sp>
      <p:sp>
        <p:nvSpPr>
          <p:cNvPr id="92" name="本页结论_红底黄字"/>
          <p:cNvSpPr/>
          <p:nvPr/>
        </p:nvSpPr>
        <p:spPr>
          <a:xfrm>
            <a:off x="616585" y="6153785"/>
            <a:ext cx="10937240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从一次性动作识别，走向人与AI共同修订艺术表现认知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圆角矩形 81"/>
          <p:cNvSpPr/>
          <p:nvPr/>
        </p:nvSpPr>
        <p:spPr>
          <a:xfrm>
            <a:off x="6273646" y="1823270"/>
            <a:ext cx="4892527" cy="4308289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40000"/>
            </a:schemeClr>
          </a:solidFill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0" name="圆角矩形 81"/>
          <p:cNvSpPr/>
          <p:nvPr/>
        </p:nvSpPr>
        <p:spPr>
          <a:xfrm>
            <a:off x="290830" y="1828592"/>
            <a:ext cx="5565285" cy="4293444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0070C0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271" name="圆角矩形 71"/>
          <p:cNvSpPr/>
          <p:nvPr/>
        </p:nvSpPr>
        <p:spPr>
          <a:xfrm>
            <a:off x="6273646" y="6131560"/>
            <a:ext cx="4892527" cy="396240"/>
          </a:xfrm>
          <a:prstGeom prst="roundRect">
            <a:avLst>
              <a:gd name="adj" fmla="val 0"/>
            </a:avLst>
          </a:prstGeom>
          <a:solidFill>
            <a:srgbClr val="336699"/>
          </a:solidFill>
          <a:ln w="19050">
            <a:solidFill>
              <a:srgbClr val="316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Clr>
                <a:srgbClr val="FF0000">
                  <a:alpha val="100000"/>
                </a:srgbClr>
              </a:buClr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b="1" dirty="0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多维度约束下的认知能力配置</a:t>
            </a:r>
          </a:p>
        </p:txBody>
      </p:sp>
      <p:sp>
        <p:nvSpPr>
          <p:cNvPr id="272" name="圆角矩形 71"/>
          <p:cNvSpPr/>
          <p:nvPr/>
        </p:nvSpPr>
        <p:spPr>
          <a:xfrm>
            <a:off x="290197" y="6131560"/>
            <a:ext cx="5565284" cy="396240"/>
          </a:xfrm>
          <a:prstGeom prst="roundRect">
            <a:avLst>
              <a:gd name="adj" fmla="val 0"/>
            </a:avLst>
          </a:prstGeom>
          <a:solidFill>
            <a:srgbClr val="336699"/>
          </a:solidFill>
          <a:ln w="19050">
            <a:solidFill>
              <a:srgbClr val="316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>
                  <a:alpha val="100000"/>
                </a:srgbClr>
              </a:buClr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1800" b="1" i="0" u="none" strike="noStrike" dirty="0">
                <a:ln>
                  <a:noFill/>
                </a:ln>
                <a:solidFill>
                  <a:srgbClr val="FFFFFF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+mn-cs"/>
                <a:sym typeface="微软雅黑" panose="020B0503020204020204" charset="-122"/>
              </a:rPr>
              <a:t>研究目标：在实时成本约束下提升认知支持能力</a:t>
            </a:r>
          </a:p>
        </p:txBody>
      </p:sp>
      <p:sp>
        <p:nvSpPr>
          <p:cNvPr id="275" name="矩形 194"/>
          <p:cNvSpPr/>
          <p:nvPr/>
        </p:nvSpPr>
        <p:spPr>
          <a:xfrm>
            <a:off x="1625771" y="1823271"/>
            <a:ext cx="2894136" cy="5773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多维度智能性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06572" y="2418415"/>
            <a:ext cx="2766267" cy="27617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GB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1. H（分层）：动作、技术事件与完整成套的刻画粒度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2. on（适配）：面向不同运动员和场景调度能力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3. g（演化）：专家反馈驱动理解和校准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en-US" altLang="zh-CN" sz="1400" b="1" kern="0" dirty="0">
                <a:solidFill>
                  <a:srgbClr val="000000"/>
                </a:solidFill>
                <a:latin typeface="+mj-ea"/>
                <a:ea typeface="+mj-ea"/>
              </a:rPr>
              <a:t>4. WU（艺术效用）：世界刻画与开放审美的联系</a:t>
            </a:r>
            <a:endParaRPr lang="zh-CN" altLang="en-US" sz="1400" b="1" kern="0" dirty="0">
              <a:solidFill>
                <a:srgbClr val="000000"/>
              </a:solidFill>
              <a:latin typeface="+mj-ea"/>
              <a:ea typeface="+mj-ea"/>
            </a:endParaRPr>
          </a:p>
        </p:txBody>
      </p:sp>
      <p:sp>
        <p:nvSpPr>
          <p:cNvPr id="12" name="矩形 185"/>
          <p:cNvSpPr/>
          <p:nvPr/>
        </p:nvSpPr>
        <p:spPr bwMode="auto">
          <a:xfrm>
            <a:off x="290830" y="931545"/>
            <a:ext cx="11610975" cy="76263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noFill/>
            <a:miter lim="800000"/>
          </a:ln>
          <a:effectLst/>
        </p:spPr>
        <p:txBody>
          <a:bodyPr wrap="none" rtlCol="0" anchor="ctr"/>
          <a:lstStyle/>
          <a:p>
            <a:pPr marL="0" marR="0" lvl="0" indent="0" algn="di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charset="0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13" name="文本占位符 1"/>
          <p:cNvSpPr txBox="1"/>
          <p:nvPr/>
        </p:nvSpPr>
        <p:spPr>
          <a:xfrm>
            <a:off x="359410" y="864870"/>
            <a:ext cx="11439525" cy="4789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SzPct val="80000"/>
              <a:buFont typeface="Wingdings" panose="05000000000000000000" pitchFamily="2" charset="2"/>
              <a:buChar char="p"/>
              <a:defRPr lang="zh-CN" altLang="en-US" sz="2800" b="1" kern="1200" dirty="0" smtClean="0">
                <a:solidFill>
                  <a:srgbClr val="00488C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defRPr>
            </a:lvl1pPr>
            <a:lvl2pPr marL="742950" indent="-28575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4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20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600"/>
              </a:spcBef>
              <a:buFont typeface="Wingdings" panose="05000000000000000000" pitchFamily="2" charset="2"/>
              <a:buChar char="p"/>
              <a:defRPr sz="1800" b="1" kern="1200">
                <a:solidFill>
                  <a:srgbClr val="00488C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Bef>
                <a:spcPts val="0"/>
              </a:spcBef>
              <a:buNone/>
            </a:pPr>
            <a:r>
              <a:rPr lang="zh-CN" altLang="en-US" sz="2000" dirty="0">
                <a:solidFill>
                  <a:schemeClr val="tx1">
                    <a:lumMod val="75000"/>
                    <a:lumOff val="25000"/>
                    <a:alpha val="100000"/>
                  </a:schemeClr>
                </a:solidFill>
                <a:latin typeface="微软雅黑" panose="020B0503020204020204" charset="-122"/>
                <a:cs typeface="Times New Roman" panose="02020603050405020304"/>
                <a:sym typeface="微软雅黑" panose="020B0503020204020204" charset="-122"/>
              </a:rPr>
              <a:t>以分层刻画、个体适配、认知演化和世界效用组织评价维度；下面是研究框架示意，并非既定艺术评分公式。</a:t>
            </a:r>
            <a:endParaRPr lang="en-US" altLang="zh-CN" sz="2000" dirty="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  <a:p>
            <a:pPr marL="0" indent="0" algn="just">
              <a:spcBef>
                <a:spcPts val="0"/>
              </a:spcBef>
              <a:buNone/>
            </a:pPr>
            <a:endParaRPr lang="zh-CN" altLang="en-US" sz="2000" dirty="0">
              <a:solidFill>
                <a:schemeClr val="tx1">
                  <a:lumMod val="75000"/>
                  <a:lumOff val="25000"/>
                  <a:alpha val="100000"/>
                </a:schemeClr>
              </a:solidFill>
              <a:latin typeface="微软雅黑" panose="020B0503020204020204" charset="-122"/>
              <a:cs typeface="Times New Roman" panose="02020603050405020304"/>
              <a:sym typeface="微软雅黑" panose="020B0503020204020204" charset="-122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371668" y="3609362"/>
            <a:ext cx="4690620" cy="9520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在运动任务和人类评价准则不断变化的条件下，需要共同考虑分析精度、响应延迟、算力成本及专家可用性。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42" y="5644912"/>
            <a:ext cx="4806794" cy="359830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1711435" y="5296099"/>
            <a:ext cx="2766267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可得到系统整体智能性为：</a:t>
            </a:r>
          </a:p>
        </p:txBody>
      </p:sp>
      <p:sp>
        <p:nvSpPr>
          <p:cNvPr id="14" name="矩形 13"/>
          <p:cNvSpPr/>
          <p:nvPr/>
        </p:nvSpPr>
        <p:spPr>
          <a:xfrm>
            <a:off x="3234690" y="2472264"/>
            <a:ext cx="537210" cy="2761782"/>
          </a:xfrm>
          <a:prstGeom prst="rect">
            <a:avLst/>
          </a:prstGeom>
          <a:noFill/>
          <a:ln>
            <a:solidFill>
              <a:srgbClr val="0070C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3321573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7" name="矩形 16"/>
          <p:cNvSpPr/>
          <p:nvPr/>
        </p:nvSpPr>
        <p:spPr>
          <a:xfrm>
            <a:off x="3321573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H1</a:t>
            </a:r>
          </a:p>
        </p:txBody>
      </p:sp>
      <p:sp>
        <p:nvSpPr>
          <p:cNvPr id="18" name="矩形 17"/>
          <p:cNvSpPr/>
          <p:nvPr/>
        </p:nvSpPr>
        <p:spPr>
          <a:xfrm>
            <a:off x="3321573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H2</a:t>
            </a:r>
          </a:p>
        </p:txBody>
      </p:sp>
      <p:sp>
        <p:nvSpPr>
          <p:cNvPr id="19" name="矩形 18"/>
          <p:cNvSpPr/>
          <p:nvPr/>
        </p:nvSpPr>
        <p:spPr>
          <a:xfrm>
            <a:off x="3321573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Hm</a:t>
            </a:r>
          </a:p>
        </p:txBody>
      </p:sp>
      <p:sp>
        <p:nvSpPr>
          <p:cNvPr id="20" name="文本框 19"/>
          <p:cNvSpPr txBox="1"/>
          <p:nvPr/>
        </p:nvSpPr>
        <p:spPr>
          <a:xfrm rot="5400000">
            <a:off x="3339667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75837" y="2472264"/>
            <a:ext cx="537210" cy="2761782"/>
          </a:xfrm>
          <a:prstGeom prst="rect">
            <a:avLst/>
          </a:prstGeom>
          <a:noFill/>
          <a:ln>
            <a:solidFill>
              <a:schemeClr val="tx2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3962720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on</a:t>
            </a:r>
          </a:p>
        </p:txBody>
      </p:sp>
      <p:sp>
        <p:nvSpPr>
          <p:cNvPr id="23" name="矩形 22"/>
          <p:cNvSpPr/>
          <p:nvPr/>
        </p:nvSpPr>
        <p:spPr>
          <a:xfrm>
            <a:off x="3962720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O1</a:t>
            </a:r>
          </a:p>
        </p:txBody>
      </p:sp>
      <p:sp>
        <p:nvSpPr>
          <p:cNvPr id="24" name="矩形 23"/>
          <p:cNvSpPr/>
          <p:nvPr/>
        </p:nvSpPr>
        <p:spPr>
          <a:xfrm>
            <a:off x="3962720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O2</a:t>
            </a:r>
          </a:p>
        </p:txBody>
      </p:sp>
      <p:sp>
        <p:nvSpPr>
          <p:cNvPr id="25" name="矩形 24"/>
          <p:cNvSpPr/>
          <p:nvPr/>
        </p:nvSpPr>
        <p:spPr>
          <a:xfrm>
            <a:off x="3962720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Om</a:t>
            </a:r>
          </a:p>
        </p:txBody>
      </p:sp>
      <p:sp>
        <p:nvSpPr>
          <p:cNvPr id="26" name="文本框 25"/>
          <p:cNvSpPr txBox="1"/>
          <p:nvPr/>
        </p:nvSpPr>
        <p:spPr>
          <a:xfrm rot="5400000">
            <a:off x="3980814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4514075" y="2472264"/>
            <a:ext cx="537210" cy="2761782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4600958" y="2662020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29" name="矩形 28"/>
          <p:cNvSpPr/>
          <p:nvPr/>
        </p:nvSpPr>
        <p:spPr>
          <a:xfrm>
            <a:off x="4600958" y="3180042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G1</a:t>
            </a:r>
          </a:p>
        </p:txBody>
      </p:sp>
      <p:sp>
        <p:nvSpPr>
          <p:cNvPr id="30" name="矩形 29"/>
          <p:cNvSpPr/>
          <p:nvPr/>
        </p:nvSpPr>
        <p:spPr>
          <a:xfrm>
            <a:off x="4600958" y="3696629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200" dirty="0">
                <a:solidFill>
                  <a:schemeClr val="tx1"/>
                </a:solidFill>
              </a:rPr>
              <a:t>G2</a:t>
            </a:r>
          </a:p>
        </p:txBody>
      </p:sp>
      <p:sp>
        <p:nvSpPr>
          <p:cNvPr id="31" name="矩形 30"/>
          <p:cNvSpPr/>
          <p:nvPr/>
        </p:nvSpPr>
        <p:spPr>
          <a:xfrm>
            <a:off x="4600958" y="4735555"/>
            <a:ext cx="373961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000" dirty="0">
                <a:solidFill>
                  <a:schemeClr val="tx1"/>
                </a:solidFill>
              </a:rPr>
              <a:t>Gm</a:t>
            </a:r>
          </a:p>
        </p:txBody>
      </p:sp>
      <p:sp>
        <p:nvSpPr>
          <p:cNvPr id="32" name="文本框 31"/>
          <p:cNvSpPr txBox="1"/>
          <p:nvPr/>
        </p:nvSpPr>
        <p:spPr>
          <a:xfrm rot="5400000">
            <a:off x="4619052" y="4237226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5153252" y="2464713"/>
            <a:ext cx="614840" cy="2761782"/>
          </a:xfrm>
          <a:prstGeom prst="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5224557" y="2661900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400" dirty="0">
                <a:solidFill>
                  <a:schemeClr val="tx1"/>
                </a:solidFill>
              </a:rPr>
              <a:t>WU</a:t>
            </a:r>
          </a:p>
        </p:txBody>
      </p:sp>
      <p:sp>
        <p:nvSpPr>
          <p:cNvPr id="38" name="文本框 37"/>
          <p:cNvSpPr txBox="1"/>
          <p:nvPr/>
        </p:nvSpPr>
        <p:spPr>
          <a:xfrm rot="5400000">
            <a:off x="5258229" y="4229675"/>
            <a:ext cx="43473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……</a:t>
            </a:r>
            <a:endParaRPr kumimoji="1"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224557" y="3192870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WU1</a:t>
            </a:r>
          </a:p>
        </p:txBody>
      </p:sp>
      <p:sp>
        <p:nvSpPr>
          <p:cNvPr id="40" name="矩形 39"/>
          <p:cNvSpPr/>
          <p:nvPr/>
        </p:nvSpPr>
        <p:spPr>
          <a:xfrm>
            <a:off x="5224557" y="3696629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100" dirty="0">
                <a:solidFill>
                  <a:schemeClr val="tx1"/>
                </a:solidFill>
              </a:rPr>
              <a:t>WU2</a:t>
            </a:r>
          </a:p>
        </p:txBody>
      </p:sp>
      <p:sp>
        <p:nvSpPr>
          <p:cNvPr id="41" name="矩形 40"/>
          <p:cNvSpPr/>
          <p:nvPr/>
        </p:nvSpPr>
        <p:spPr>
          <a:xfrm>
            <a:off x="5230352" y="4737295"/>
            <a:ext cx="474989" cy="35130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900" dirty="0" err="1">
                <a:solidFill>
                  <a:schemeClr val="tx1"/>
                </a:solidFill>
              </a:rPr>
              <a:t>WUm</a:t>
            </a:r>
            <a:endParaRPr kumimoji="1" lang="en-US" altLang="zh-CN" sz="900" dirty="0">
              <a:solidFill>
                <a:schemeClr val="tx1"/>
              </a:solidFill>
            </a:endParaRPr>
          </a:p>
        </p:txBody>
      </p:sp>
      <p:cxnSp>
        <p:nvCxnSpPr>
          <p:cNvPr id="43" name="直线箭头连接符 42"/>
          <p:cNvCxnSpPr/>
          <p:nvPr/>
        </p:nvCxnSpPr>
        <p:spPr>
          <a:xfrm>
            <a:off x="3094568" y="2464713"/>
            <a:ext cx="0" cy="28772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194"/>
          <p:cNvSpPr/>
          <p:nvPr/>
        </p:nvSpPr>
        <p:spPr>
          <a:xfrm>
            <a:off x="7420813" y="1836490"/>
            <a:ext cx="2894136" cy="577390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智能体系统的编排最优性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3581" y="2806784"/>
            <a:ext cx="4806794" cy="359830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797" y="4733378"/>
            <a:ext cx="4215112" cy="632267"/>
          </a:xfrm>
          <a:prstGeom prst="rect">
            <a:avLst/>
          </a:prstGeom>
        </p:spPr>
      </p:pic>
      <p:cxnSp>
        <p:nvCxnSpPr>
          <p:cNvPr id="50" name="直线连接符 49"/>
          <p:cNvCxnSpPr/>
          <p:nvPr/>
        </p:nvCxnSpPr>
        <p:spPr>
          <a:xfrm>
            <a:off x="6705600" y="3152549"/>
            <a:ext cx="100818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6445611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非线性高阶算子</a:t>
            </a:r>
          </a:p>
        </p:txBody>
      </p:sp>
      <p:sp>
        <p:nvSpPr>
          <p:cNvPr id="53" name="矩形 52"/>
          <p:cNvSpPr/>
          <p:nvPr/>
        </p:nvSpPr>
        <p:spPr>
          <a:xfrm>
            <a:off x="9677946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非线性关联性</a:t>
            </a:r>
          </a:p>
        </p:txBody>
      </p:sp>
      <p:cxnSp>
        <p:nvCxnSpPr>
          <p:cNvPr id="54" name="直线连接符 53"/>
          <p:cNvCxnSpPr/>
          <p:nvPr/>
        </p:nvCxnSpPr>
        <p:spPr>
          <a:xfrm>
            <a:off x="10002982" y="3166614"/>
            <a:ext cx="1008185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/>
          <p:cNvCxnSpPr/>
          <p:nvPr/>
        </p:nvCxnSpPr>
        <p:spPr>
          <a:xfrm>
            <a:off x="7894417" y="3152549"/>
            <a:ext cx="194692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8129817" y="3119803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多维度耦合项</a:t>
            </a:r>
          </a:p>
        </p:txBody>
      </p:sp>
      <p:cxnSp>
        <p:nvCxnSpPr>
          <p:cNvPr id="58" name="直线连接符 57"/>
          <p:cNvCxnSpPr/>
          <p:nvPr/>
        </p:nvCxnSpPr>
        <p:spPr>
          <a:xfrm>
            <a:off x="7478385" y="5312390"/>
            <a:ext cx="3148727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矩形 260"/>
          <p:cNvSpPr/>
          <p:nvPr/>
        </p:nvSpPr>
        <p:spPr>
          <a:xfrm>
            <a:off x="8103800" y="5312390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认知质量提升</a:t>
            </a:r>
          </a:p>
        </p:txBody>
      </p:sp>
      <p:cxnSp>
        <p:nvCxnSpPr>
          <p:cNvPr id="264" name="直线连接符 263"/>
          <p:cNvCxnSpPr/>
          <p:nvPr/>
        </p:nvCxnSpPr>
        <p:spPr>
          <a:xfrm>
            <a:off x="6630797" y="5365645"/>
            <a:ext cx="847588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8" name="矩形 267"/>
          <p:cNvSpPr/>
          <p:nvPr/>
        </p:nvSpPr>
        <p:spPr>
          <a:xfrm>
            <a:off x="6310533" y="5371976"/>
            <a:ext cx="1528162" cy="3488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ctr" defTabSz="802005">
              <a:lnSpc>
                <a:spcPct val="140000"/>
              </a:lnSpc>
              <a:buClr>
                <a:srgbClr val="000000"/>
              </a:buClr>
              <a:buSzPct val="50000"/>
            </a:pPr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实时成本控制</a:t>
            </a:r>
          </a:p>
        </p:txBody>
      </p:sp>
      <p:sp>
        <p:nvSpPr>
          <p:cNvPr id="274" name="文本框 273"/>
          <p:cNvSpPr txBox="1"/>
          <p:nvPr/>
        </p:nvSpPr>
        <p:spPr>
          <a:xfrm>
            <a:off x="5818251" y="2343046"/>
            <a:ext cx="61052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b="1" kern="0" dirty="0">
                <a:solidFill>
                  <a:srgbClr val="000000"/>
                </a:solidFill>
                <a:latin typeface="+mj-ea"/>
                <a:ea typeface="+mj-ea"/>
              </a:rPr>
              <a:t>系统整体智能性为：</a:t>
            </a: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</a:rPr>
              <a:t>艺术表现认知：多维能力与实时计算代价的权衡</a:t>
            </a:r>
          </a:p>
        </p:txBody>
      </p:sp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22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61"/>
          <p:cNvSpPr/>
          <p:nvPr/>
        </p:nvSpPr>
        <p:spPr>
          <a:xfrm>
            <a:off x="3769360" y="887095"/>
            <a:ext cx="8096885" cy="3014345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矩形 61"/>
          <p:cNvSpPr/>
          <p:nvPr/>
        </p:nvSpPr>
        <p:spPr>
          <a:xfrm>
            <a:off x="359410" y="899160"/>
            <a:ext cx="3304540" cy="5062220"/>
          </a:xfrm>
          <a:prstGeom prst="rect">
            <a:avLst/>
          </a:prstGeom>
          <a:solidFill>
            <a:schemeClr val="bg1">
              <a:alpha val="100000"/>
            </a:schemeClr>
          </a:solidFill>
          <a:ln w="19050">
            <a:solidFill>
              <a:srgbClr val="264D73"/>
            </a:solidFill>
            <a:prstDash val="dash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34627" y="519854"/>
            <a:ext cx="4064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7" name="Title 3"/>
          <p:cNvSpPr>
            <a:spLocks noGrp="1"/>
          </p:cNvSpPr>
          <p:nvPr>
            <p:ph type="title"/>
          </p:nvPr>
        </p:nvSpPr>
        <p:spPr>
          <a:xfrm>
            <a:off x="1016000" y="254000"/>
            <a:ext cx="10795000" cy="609600"/>
          </a:xfrm>
        </p:spPr>
        <p:txBody>
          <a:bodyPr wrap="square" lIns="91440" tIns="0" rIns="91440" bIns="0" anchor="ctr" anchorCtr="0">
            <a:noAutofit/>
          </a:bodyPr>
          <a:lstStyle/>
          <a:p>
            <a:pPr algn="l"/>
            <a:r>
              <a:rPr lang="en-US" altLang="zh-CN" sz="2800" dirty="0">
                <a:solidFill>
                  <a:srgbClr val="C00000"/>
                </a:solidFill>
                <a:latin typeface="Arial Black" panose="020B0A04020102020204" pitchFamily="34" charset="0"/>
                <a:sym typeface="+mn-ea"/>
              </a:rPr>
              <a:t>Artistic World Utility：智能艺术空间与艺术效用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</p:txBody>
      </p:sp>
      <p:sp>
        <p:nvSpPr>
          <p:cNvPr id="24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23</a:t>
            </a:fld>
            <a:endParaRPr lang="en-US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  <p:sp>
        <p:nvSpPr>
          <p:cNvPr id="6" name="p26-surface-4"/>
          <p:cNvSpPr>
            <a:spLocks noGrp="1"/>
          </p:cNvSpPr>
          <p:nvPr/>
        </p:nvSpPr>
        <p:spPr>
          <a:xfrm>
            <a:off x="426720" y="1473835"/>
            <a:ext cx="3169920" cy="4876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26-surface-5"/>
          <p:cNvSpPr>
            <a:spLocks noGrp="1"/>
          </p:cNvSpPr>
          <p:nvPr/>
        </p:nvSpPr>
        <p:spPr>
          <a:xfrm>
            <a:off x="426720" y="2007235"/>
            <a:ext cx="3169920" cy="1546860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p26-surface-6"/>
          <p:cNvSpPr>
            <a:spLocks noGrp="1"/>
          </p:cNvSpPr>
          <p:nvPr/>
        </p:nvSpPr>
        <p:spPr>
          <a:xfrm>
            <a:off x="426720" y="3683635"/>
            <a:ext cx="3169920" cy="487680"/>
          </a:xfrm>
          <a:prstGeom prst="rect">
            <a:avLst/>
          </a:prstGeom>
          <a:solidFill>
            <a:srgbClr val="4B6E99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p26-surface-7"/>
          <p:cNvSpPr>
            <a:spLocks noGrp="1"/>
          </p:cNvSpPr>
          <p:nvPr/>
        </p:nvSpPr>
        <p:spPr>
          <a:xfrm>
            <a:off x="426720" y="4217035"/>
            <a:ext cx="3169920" cy="1666875"/>
          </a:xfrm>
          <a:prstGeom prst="rect">
            <a:avLst/>
          </a:prstGeom>
          <a:solidFill>
            <a:srgbClr val="E2EDF5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p26-text-1"/>
          <p:cNvSpPr>
            <a:spLocks noGrp="1"/>
          </p:cNvSpPr>
          <p:nvPr/>
        </p:nvSpPr>
        <p:spPr>
          <a:xfrm>
            <a:off x="518160" y="1572895"/>
            <a:ext cx="245364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视觉观测与姿态建模</a:t>
            </a:r>
          </a:p>
        </p:txBody>
      </p:sp>
      <p:sp>
        <p:nvSpPr>
          <p:cNvPr id="20" name="p26-text-2"/>
          <p:cNvSpPr>
            <a:spLocks noGrp="1"/>
          </p:cNvSpPr>
          <p:nvPr/>
        </p:nvSpPr>
        <p:spPr>
          <a:xfrm>
            <a:off x="563880" y="2051685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已有技术：多视角跟踪</a:t>
            </a:r>
            <a:endParaRPr lang="zh-CN" altLang="en-US"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p26-text-3"/>
          <p:cNvSpPr>
            <a:spLocks noGrp="1"/>
          </p:cNvSpPr>
          <p:nvPr/>
        </p:nvSpPr>
        <p:spPr>
          <a:xfrm>
            <a:off x="563880" y="2588974"/>
            <a:ext cx="248412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从视频与传感信息恢复运动事实、</a:t>
            </a:r>
            <a:endParaRPr>
              <a:solidFill>
                <a:schemeClr val="tx1">
                  <a:lumMod val="75000"/>
                  <a:lumOff val="25000"/>
                </a:schemeClr>
              </a:solidFill>
              <a:sym typeface="+mn-ea"/>
            </a:endParaRP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空间位置与动作时序</a:t>
            </a:r>
            <a:endParaRPr sz="156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2" name="p26-text-4"/>
          <p:cNvSpPr>
            <a:spLocks noGrp="1"/>
          </p:cNvSpPr>
          <p:nvPr/>
        </p:nvSpPr>
        <p:spPr>
          <a:xfrm>
            <a:off x="563880" y="2820908"/>
            <a:ext cx="300228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p26-text-5"/>
          <p:cNvSpPr>
            <a:spLocks noGrp="1"/>
          </p:cNvSpPr>
          <p:nvPr/>
        </p:nvSpPr>
        <p:spPr>
          <a:xfrm>
            <a:off x="518160" y="3782695"/>
            <a:ext cx="2880360" cy="2819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8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智能场馆与个体状态</a:t>
            </a:r>
          </a:p>
        </p:txBody>
      </p:sp>
      <p:sp>
        <p:nvSpPr>
          <p:cNvPr id="24" name="p26-text-6"/>
          <p:cNvSpPr>
            <a:spLocks noGrp="1"/>
          </p:cNvSpPr>
          <p:nvPr/>
        </p:nvSpPr>
        <p:spPr>
          <a:xfrm>
            <a:off x="563880" y="4354195"/>
            <a:ext cx="2737842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技术参考：中芬数字体育方案</a:t>
            </a:r>
          </a:p>
        </p:txBody>
      </p:sp>
      <p:sp>
        <p:nvSpPr>
          <p:cNvPr id="25" name="p26-text-7"/>
          <p:cNvSpPr>
            <a:spLocks noGrp="1"/>
          </p:cNvSpPr>
          <p:nvPr/>
        </p:nvSpPr>
        <p:spPr>
          <a:xfrm>
            <a:off x="563880" y="4743529"/>
            <a:ext cx="268224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60" b="0" i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多源感知与人体状态分析，</a:t>
            </a:r>
          </a:p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olidFill>
                  <a:schemeClr val="tx1">
                    <a:lumMod val="75000"/>
                    <a:lumOff val="25000"/>
                  </a:schemeClr>
                </a:solidFill>
                <a:sym typeface="+mn-ea"/>
              </a:rPr>
              <a:t>为运动训练提供测量基础</a:t>
            </a:r>
            <a:endParaRPr sz="1560" b="0" i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6" name="p26-text-8"/>
          <p:cNvSpPr>
            <a:spLocks noGrp="1"/>
          </p:cNvSpPr>
          <p:nvPr/>
        </p:nvSpPr>
        <p:spPr>
          <a:xfrm>
            <a:off x="563880" y="5030708"/>
            <a:ext cx="208788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60" b="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p26-text-10"/>
          <p:cNvSpPr>
            <a:spLocks noGrp="1"/>
          </p:cNvSpPr>
          <p:nvPr/>
        </p:nvSpPr>
        <p:spPr>
          <a:xfrm>
            <a:off x="3810000" y="919480"/>
            <a:ext cx="4758690" cy="2971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740" b="1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740" b="1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740" b="1" i="0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HongWU：物理世界刻画与艺术认知协同</a:t>
            </a:r>
            <a:endParaRPr lang="zh-CN" altLang="en-US" sz="1740" b="1" i="0">
              <a:solidFill>
                <a:srgbClr val="40404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p26-text-11"/>
          <p:cNvSpPr>
            <a:spLocks noGrp="1"/>
          </p:cNvSpPr>
          <p:nvPr/>
        </p:nvSpPr>
        <p:spPr>
          <a:xfrm>
            <a:off x="3901440" y="1277620"/>
            <a:ext cx="7883525" cy="51371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lnSpc>
                <a:spcPct val="110000"/>
              </a:lnSpc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560" b="0" i="0">
                <a:solidFill>
                  <a:schemeClr val="tx2">
                    <a:lumMod val="7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场馆与人体运动可以精细刻画；艺术效用仍需专家解释、个体适配和持续校准。</a:t>
            </a:r>
          </a:p>
          <a:p>
            <a:pPr algn="l">
              <a:lnSpc>
                <a:spcPct val="110000"/>
              </a:lnSpc>
              <a:defRPr sz="1560" b="0" i="0">
                <a:solidFill>
                  <a:srgbClr val="273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b="0" i="0">
              <a:solidFill>
                <a:schemeClr val="tx2">
                  <a:lumMod val="7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5" name="本页结论_红底黄字"/>
          <p:cNvSpPr/>
          <p:nvPr/>
        </p:nvSpPr>
        <p:spPr>
          <a:xfrm>
            <a:off x="284953" y="6070739"/>
            <a:ext cx="11622024" cy="502920"/>
          </a:xfrm>
          <a:prstGeom prst="roundRect">
            <a:avLst>
              <a:gd name="adj" fmla="val 7988"/>
            </a:avLst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9728" tIns="0" rIns="109728" bIns="0" rtlCol="0" anchor="ctr"/>
          <a:lstStyle/>
          <a:p>
            <a:pPr marL="0" lvl="0" indent="0" algn="ctr" defTabSz="91440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chemeClr val="lt1">
                    <a:alpha val="100000"/>
                  </a:schemeClr>
                </a:solidFill>
                <a:latin typeface="Arial" panose="020B0604020202020204"/>
                <a:ea typeface="微软雅黑" panose="020B0503020204020204" charset="-122"/>
                <a:cs typeface="+mn-cs"/>
              </a:defRPr>
            </a:pPr>
            <a:r>
              <a:rPr lang="zh-CN" altLang="en-US" sz="2200" b="1">
                <a:solidFill>
                  <a:srgbClr val="FFFFF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+mn-cs"/>
              </a:rPr>
              <a:t>从精准运动观测走向开放艺术效用，在认知质量、实时延迟与计算成本间持续权衡</a:t>
            </a:r>
          </a:p>
        </p:txBody>
      </p:sp>
      <p:sp>
        <p:nvSpPr>
          <p:cNvPr id="3" name="p26-text-2"/>
          <p:cNvSpPr>
            <a:spLocks noGrp="1"/>
          </p:cNvSpPr>
          <p:nvPr/>
        </p:nvSpPr>
        <p:spPr>
          <a:xfrm>
            <a:off x="563880" y="3136265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6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局限：难直接读出艺术感受</a:t>
            </a:r>
          </a:p>
        </p:txBody>
      </p:sp>
      <p:sp>
        <p:nvSpPr>
          <p:cNvPr id="5" name="p26-text-2"/>
          <p:cNvSpPr>
            <a:spLocks noGrp="1"/>
          </p:cNvSpPr>
          <p:nvPr/>
        </p:nvSpPr>
        <p:spPr>
          <a:xfrm>
            <a:off x="563880" y="5335270"/>
            <a:ext cx="2303621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</a:lstStyle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560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局限：主观判断受临场与个人经验影响</a:t>
            </a:r>
            <a:endParaRPr lang="zh-CN" altLang="en-US" sz="156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60" b="1" i="0">
                <a:solidFill>
                  <a:srgbClr val="123F6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560" i="0">
              <a:solidFill>
                <a:srgbClr val="123F6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414655" y="975995"/>
            <a:ext cx="29260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物理观测与世界模型基础：</a:t>
            </a:r>
          </a:p>
        </p:txBody>
      </p:sp>
      <p:grpSp>
        <p:nvGrpSpPr>
          <p:cNvPr id="45" name="组合 44"/>
          <p:cNvGrpSpPr/>
          <p:nvPr/>
        </p:nvGrpSpPr>
        <p:grpSpPr>
          <a:xfrm>
            <a:off x="4568190" y="1852295"/>
            <a:ext cx="1276350" cy="894080"/>
            <a:chOff x="6368" y="2917"/>
            <a:chExt cx="2010" cy="1408"/>
          </a:xfrm>
        </p:grpSpPr>
        <p:sp>
          <p:nvSpPr>
            <p:cNvPr id="16" name="p26-surface-9"/>
            <p:cNvSpPr>
              <a:spLocks noGrp="1"/>
            </p:cNvSpPr>
            <p:nvPr/>
          </p:nvSpPr>
          <p:spPr>
            <a:xfrm>
              <a:off x="6368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文本框 30"/>
            <p:cNvSpPr txBox="1"/>
            <p:nvPr/>
          </p:nvSpPr>
          <p:spPr>
            <a:xfrm>
              <a:off x="6996" y="2917"/>
              <a:ext cx="75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H</a:t>
              </a:r>
            </a:p>
          </p:txBody>
        </p:sp>
        <p:sp>
          <p:nvSpPr>
            <p:cNvPr id="32" name="文本框 31"/>
            <p:cNvSpPr txBox="1"/>
            <p:nvPr/>
          </p:nvSpPr>
          <p:spPr>
            <a:xfrm>
              <a:off x="6809" y="3691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层次性</a:t>
              </a:r>
            </a:p>
          </p:txBody>
        </p:sp>
      </p:grpSp>
      <p:grpSp>
        <p:nvGrpSpPr>
          <p:cNvPr id="44" name="组合 43"/>
          <p:cNvGrpSpPr/>
          <p:nvPr/>
        </p:nvGrpSpPr>
        <p:grpSpPr>
          <a:xfrm>
            <a:off x="6285230" y="1852295"/>
            <a:ext cx="1276350" cy="894080"/>
            <a:chOff x="9082" y="2917"/>
            <a:chExt cx="2010" cy="1408"/>
          </a:xfrm>
        </p:grpSpPr>
        <p:sp>
          <p:nvSpPr>
            <p:cNvPr id="33" name="p26-surface-9"/>
            <p:cNvSpPr>
              <a:spLocks noGrp="1"/>
            </p:cNvSpPr>
            <p:nvPr/>
          </p:nvSpPr>
          <p:spPr>
            <a:xfrm>
              <a:off x="9082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9569" y="2917"/>
              <a:ext cx="1036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on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9383" y="3691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人机交互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8002270" y="1852295"/>
            <a:ext cx="1276350" cy="894080"/>
            <a:chOff x="12196" y="2917"/>
            <a:chExt cx="2010" cy="1408"/>
          </a:xfrm>
        </p:grpSpPr>
        <p:sp>
          <p:nvSpPr>
            <p:cNvPr id="36" name="p26-surface-9"/>
            <p:cNvSpPr>
              <a:spLocks noGrp="1"/>
            </p:cNvSpPr>
            <p:nvPr/>
          </p:nvSpPr>
          <p:spPr>
            <a:xfrm>
              <a:off x="12196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文本框 36"/>
            <p:cNvSpPr txBox="1"/>
            <p:nvPr/>
          </p:nvSpPr>
          <p:spPr>
            <a:xfrm>
              <a:off x="12870" y="2917"/>
              <a:ext cx="662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g</a:t>
              </a:r>
            </a:p>
          </p:txBody>
        </p:sp>
        <p:sp>
          <p:nvSpPr>
            <p:cNvPr id="38" name="文本框 37"/>
            <p:cNvSpPr txBox="1"/>
            <p:nvPr/>
          </p:nvSpPr>
          <p:spPr>
            <a:xfrm>
              <a:off x="12637" y="3691"/>
              <a:ext cx="112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认知性</a:t>
              </a: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9719310" y="1852295"/>
            <a:ext cx="1276350" cy="894080"/>
            <a:chOff x="15611" y="2917"/>
            <a:chExt cx="2010" cy="1408"/>
          </a:xfrm>
        </p:grpSpPr>
        <p:sp>
          <p:nvSpPr>
            <p:cNvPr id="39" name="p26-surface-9"/>
            <p:cNvSpPr>
              <a:spLocks noGrp="1"/>
            </p:cNvSpPr>
            <p:nvPr/>
          </p:nvSpPr>
          <p:spPr>
            <a:xfrm>
              <a:off x="15611" y="2917"/>
              <a:ext cx="2010" cy="1408"/>
            </a:xfrm>
            <a:prstGeom prst="rect">
              <a:avLst/>
            </a:prstGeom>
            <a:solidFill>
              <a:srgbClr val="FFF0CE"/>
            </a:solidFill>
            <a:ln w="0"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15959" y="2917"/>
              <a:ext cx="1314" cy="82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rgbClr val="C00000"/>
                  </a:solidFill>
                  <a:latin typeface="Arial Black" panose="020B0A04020102020204" pitchFamily="34" charset="0"/>
                  <a:ea typeface="+mj-ea"/>
                  <a:cs typeface="+mj-cs"/>
                </a:rPr>
                <a:t>WU</a:t>
              </a: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15912" y="3691"/>
              <a:ext cx="1408" cy="48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世界模型</a:t>
              </a: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4467225" y="3079750"/>
            <a:ext cx="6527800" cy="768985"/>
            <a:chOff x="7035" y="4697"/>
            <a:chExt cx="10280" cy="1211"/>
          </a:xfrm>
        </p:grpSpPr>
        <p:sp>
          <p:nvSpPr>
            <p:cNvPr id="46" name="圆角矩形 45"/>
            <p:cNvSpPr/>
            <p:nvPr/>
          </p:nvSpPr>
          <p:spPr>
            <a:xfrm>
              <a:off x="7035" y="4697"/>
              <a:ext cx="10280" cy="1211"/>
            </a:xfrm>
            <a:prstGeom prst="round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文本框 46"/>
            <p:cNvSpPr txBox="1"/>
            <p:nvPr/>
          </p:nvSpPr>
          <p:spPr>
            <a:xfrm>
              <a:off x="10431" y="4786"/>
              <a:ext cx="3488" cy="5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 b="1" dirty="0">
                  <a:solidFill>
                    <a:schemeClr val="accent1">
                      <a:lumMod val="7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</a:rPr>
                <a:t>多维智能性评价与耦合</a:t>
              </a:r>
            </a:p>
          </p:txBody>
        </p:sp>
        <p:pic>
          <p:nvPicPr>
            <p:cNvPr id="48" name="图片 4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019" y="5216"/>
              <a:ext cx="8384" cy="628"/>
            </a:xfrm>
            <a:prstGeom prst="rect">
              <a:avLst/>
            </a:prstGeom>
          </p:spPr>
        </p:pic>
      </p:grpSp>
      <p:sp>
        <p:nvSpPr>
          <p:cNvPr id="50" name="下箭头 49"/>
          <p:cNvSpPr/>
          <p:nvPr/>
        </p:nvSpPr>
        <p:spPr>
          <a:xfrm>
            <a:off x="7370445" y="2759710"/>
            <a:ext cx="830580" cy="376555"/>
          </a:xfrm>
          <a:prstGeom prst="downArrow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55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414520" y="3980815"/>
            <a:ext cx="2837815" cy="1412240"/>
          </a:xfrm>
          <a:prstGeom prst="rect">
            <a:avLst/>
          </a:prstGeom>
        </p:spPr>
      </p:pic>
      <p:sp>
        <p:nvSpPr>
          <p:cNvPr id="53" name="圆角矩形 52"/>
          <p:cNvSpPr/>
          <p:nvPr/>
        </p:nvSpPr>
        <p:spPr>
          <a:xfrm>
            <a:off x="3975100" y="5433695"/>
            <a:ext cx="3651250" cy="568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研究方向A：从场馆—人体模型出发，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支持高分辨率运动事实刻画</a:t>
            </a:r>
          </a:p>
        </p:txBody>
      </p:sp>
      <p:sp>
        <p:nvSpPr>
          <p:cNvPr id="54" name="圆角矩形 53"/>
          <p:cNvSpPr/>
          <p:nvPr/>
        </p:nvSpPr>
        <p:spPr>
          <a:xfrm>
            <a:off x="8114030" y="5433695"/>
            <a:ext cx="3928745" cy="568325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研究方向B：通过教练裁判协商，</a:t>
            </a:r>
            <a:endParaRPr lang="zh-CN" altLang="en-US" sz="16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校准个性化艺术效用的解释</a:t>
            </a: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8707755" y="3939540"/>
            <a:ext cx="2369185" cy="145351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9268" y="-1031588"/>
            <a:ext cx="12880621" cy="9109698"/>
          </a:xfrm>
          <a:prstGeom prst="rect">
            <a:avLst/>
          </a:prstGeom>
        </p:spPr>
      </p:pic>
      <p:sp>
        <p:nvSpPr>
          <p:cNvPr id="9001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11262995" y="6541135"/>
            <a:ext cx="929005" cy="316865"/>
          </a:xfrm>
        </p:spPr>
        <p:txBody>
          <a:bodyPr/>
          <a:lstStyle/>
          <a:p>
            <a:pPr algn="r">
              <a:buClrTx/>
              <a:buSzTx/>
              <a:buFontTx/>
            </a:pPr>
            <a:fld id="{9A0DB2DC-4C9A-4742-B13C-FB6460FD3503}" type="slidenum">
              <a:rPr lang="en-US" sz="1800" smtClean="0">
                <a:solidFill>
                  <a:schemeClr val="tx1">
                    <a:tint val="75000"/>
                  </a:schemeClr>
                </a:solidFill>
                <a:latin typeface="+mn-lt"/>
              </a:rPr>
              <a:t>24</a:t>
            </a:fld>
            <a:endParaRPr lang="en-US" sz="1800">
              <a:solidFill>
                <a:schemeClr val="tx1">
                  <a:tint val="75000"/>
                </a:schemeClr>
              </a:solidFill>
              <a:latin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4"/>
          <p:cNvSpPr/>
          <p:nvPr/>
        </p:nvSpPr>
        <p:spPr>
          <a:xfrm>
            <a:off x="2874645" y="1509395"/>
            <a:ext cx="6071870" cy="2315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r>
              <a:rPr lang="en-US" altLang="zh-CN" sz="1465" dirty="0">
                <a:solidFill>
                  <a:srgbClr val="FFFFFF"/>
                </a:solidFill>
              </a:rPr>
              <a:t>  </a:t>
            </a:r>
            <a:r>
              <a:rPr lang="en-US" altLang="zh-CN" sz="6600" dirty="0">
                <a:solidFill>
                  <a:srgbClr val="FFFFFF"/>
                </a:solidFill>
              </a:rPr>
              <a:t>Thank you</a:t>
            </a:r>
            <a:endParaRPr lang="en-US" sz="6000" dirty="0">
              <a:solidFill>
                <a:srgbClr val="FFFFFF"/>
              </a:solidFill>
            </a:endParaRPr>
          </a:p>
        </p:txBody>
      </p:sp>
      <p:sp>
        <p:nvSpPr>
          <p:cNvPr id="9" name="矩形 7"/>
          <p:cNvSpPr/>
          <p:nvPr/>
        </p:nvSpPr>
        <p:spPr>
          <a:xfrm>
            <a:off x="8946515" y="1509395"/>
            <a:ext cx="3216275" cy="2315845"/>
          </a:xfrm>
          <a:prstGeom prst="rect">
            <a:avLst/>
          </a:prstGeom>
          <a:solidFill>
            <a:schemeClr val="accent1"/>
          </a:solidFill>
        </p:spPr>
        <p:txBody>
          <a:bodyPr anchor="ctr"/>
          <a:lstStyle/>
          <a:p>
            <a:pPr algn="ctr"/>
            <a:endParaRPr lang="en-US" altLang="zh-CN" sz="1600" dirty="0">
              <a:solidFill>
                <a:srgbClr val="FFFFFF"/>
              </a:solidFill>
            </a:endParaRPr>
          </a:p>
        </p:txBody>
      </p:sp>
      <p:sp>
        <p:nvSpPr>
          <p:cNvPr id="10" name="矩形 15"/>
          <p:cNvSpPr/>
          <p:nvPr/>
        </p:nvSpPr>
        <p:spPr>
          <a:xfrm>
            <a:off x="27940" y="1509395"/>
            <a:ext cx="2879725" cy="231521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>
              <a:solidFill>
                <a:srgbClr val="FFFFFF"/>
              </a:solidFill>
            </a:endParaRPr>
          </a:p>
        </p:txBody>
      </p:sp>
      <p:pic>
        <p:nvPicPr>
          <p:cNvPr id="11" name="Picture 3" descr="e0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9815" y="4372610"/>
            <a:ext cx="876300" cy="2000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215" y="3843020"/>
            <a:ext cx="2880360" cy="289306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7.4,&quot;left&quot;:444,&quot;top&quot;:144,&quot;width&quot;:480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82.4,&quot;left&quot;:42.45,&quot;top&quot;:79,&quot;width&quot;:870.2030270537776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1,&quot;left&quot;:377.85,&quot;top&quot;:233.35,&quot;width&quot;:347.3}"/>
</p:tagLst>
</file>

<file path=ppt/theme/theme1.xml><?xml version="1.0" encoding="utf-8"?>
<a:theme xmlns:a="http://schemas.openxmlformats.org/drawingml/2006/main" name="1_第一PPT，www.1ppt.com">
  <a:themeElements>
    <a:clrScheme name="自定义 222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A500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charset="-122"/>
            <a:ea typeface="微软雅黑" panose="020B050302020402020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4527</Words>
  <Application>Microsoft Office PowerPoint</Application>
  <PresentationFormat>宽屏</PresentationFormat>
  <Paragraphs>507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MiSans</vt:lpstr>
      <vt:lpstr>楷体</vt:lpstr>
      <vt:lpstr>宋体</vt:lpstr>
      <vt:lpstr>微软雅黑</vt:lpstr>
      <vt:lpstr>Arial</vt:lpstr>
      <vt:lpstr>Arial Black</vt:lpstr>
      <vt:lpstr>Calibri</vt:lpstr>
      <vt:lpstr>Helvetica</vt:lpstr>
      <vt:lpstr>Times New Roman</vt:lpstr>
      <vt:lpstr>Wingdings</vt:lpstr>
      <vt:lpstr>1_第一PPT，www.1ppt.com</vt:lpstr>
      <vt:lpstr>PowerPoint 演示文稿</vt:lpstr>
      <vt:lpstr>AI4Science前沿：9月以来新进展</vt:lpstr>
      <vt:lpstr>AI4Engineering前沿：从求解科学问题走向设计物理实验</vt:lpstr>
      <vt:lpstr>AI在数学界掀起浪潮：费马大定理证明的完整形式化</vt:lpstr>
      <vt:lpstr>AI能力的边界：从强大求解能力到开放世界中的理解与决策</vt:lpstr>
      <vt:lpstr>复杂艺术表现认知面临的三重根本挑战</vt:lpstr>
      <vt:lpstr>PowerPoint 演示文稿</vt:lpstr>
      <vt:lpstr>PowerPoint 演示文稿</vt:lpstr>
      <vt:lpstr>HongWU的核心哲学：已知世界的精准求解与未知问题的开放认知</vt:lpstr>
      <vt:lpstr>Hierarchical：从多源运动观测到艺术表现分层认知</vt:lpstr>
      <vt:lpstr>Hierarchical：从显性动作到隐性艺术表现的分层</vt:lpstr>
      <vt:lpstr>Artistic Utility：艺术表现智能体广场与多模型协同编排</vt:lpstr>
      <vt:lpstr>ON-demand：面向实时艺术表现的按需感知与建模</vt:lpstr>
      <vt:lpstr>ON-demand：多角色按需介入与表演方案协同调整</vt:lpstr>
      <vt:lpstr>CoGnitive：从一次评分走向个体化艺术认知演化</vt:lpstr>
      <vt:lpstr>CoGnitive：面对未知临场表现的持续认知应变</vt:lpstr>
      <vt:lpstr>HongWU思想源头：从认知计算到智能系统的自我演化</vt:lpstr>
      <vt:lpstr>CoGnitive：按艺术任务复杂度调用不同认知能力</vt:lpstr>
      <vt:lpstr>PowerPoint 演示文稿</vt:lpstr>
      <vt:lpstr>内省演化：从模型反馈到艺术认知的持续校准</vt:lpstr>
      <vt:lpstr>从固定评分走向开放演化：艺术认知的核心转向</vt:lpstr>
      <vt:lpstr>艺术表现认知：多维能力与实时计算代价的权衡</vt:lpstr>
      <vt:lpstr>Artistic World Utility：智能艺术空间与艺术效用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Han, Daisy</cp:lastModifiedBy>
  <cp:revision>34</cp:revision>
  <dcterms:created xsi:type="dcterms:W3CDTF">2026-10-14T15:56:00Z</dcterms:created>
  <dcterms:modified xsi:type="dcterms:W3CDTF">2026-10-30T08:38:03Z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2052-12.1.0.29161</vt:lpwstr>
  </property>
  <property fmtid="{D5CDD505-2E9C-101B-9397-08002B2CF9AE}" pid="3" name="ICV">
    <vt:lpwstr>D3E01080B8874520922C3B011046B8AD_13</vt:lpwstr>
  </property>
  <property fmtid="{D5CDD505-2E9C-101B-9397-08002B2CF9AE}" pid="4" name="e04242b7-d752-4081-b5b7-9aad2bb55b7e">
    <vt:lpwstr>{"isAdvancePlay":0,"isLoopPlay":0,"time":3000,"userId":""}</vt:lpwstr>
  </property>
</Properties>
</file>